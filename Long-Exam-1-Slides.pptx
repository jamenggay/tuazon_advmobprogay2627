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1"/>
  </p:notesMasterIdLst>
  <p:sldIdLst>
    <p:sldId id="257" r:id="rId5"/>
    <p:sldId id="258" r:id="rId6"/>
    <p:sldId id="261"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10"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0" r:id="rId107"/>
    <p:sldId id="371" r:id="rId108"/>
    <p:sldId id="372" r:id="rId109"/>
    <p:sldId id="373"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4" autoAdjust="0"/>
    <p:restoredTop sz="75676" autoAdjust="0"/>
  </p:normalViewPr>
  <p:slideViewPr>
    <p:cSldViewPr snapToGrid="0">
      <p:cViewPr varScale="1">
        <p:scale>
          <a:sx n="81" d="100"/>
          <a:sy n="81" d="100"/>
        </p:scale>
        <p:origin x="14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presProps" Target="pres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AD1EBB-E0C9-4D31-8787-A98D5CFBC31F}"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79F4-8DD7-4751-A6E4-6B531833C2F0}" type="slidenum">
              <a:rPr lang="en-US" smtClean="0"/>
              <a:t>‹#›</a:t>
            </a:fld>
            <a:endParaRPr lang="en-US"/>
          </a:p>
        </p:txBody>
      </p:sp>
    </p:spTree>
    <p:extLst>
      <p:ext uri="{BB962C8B-B14F-4D97-AF65-F5344CB8AC3E}">
        <p14:creationId xmlns:p14="http://schemas.microsoft.com/office/powerpoint/2010/main" val="3093648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flutter.dev/data-and-backend/state-mgmt/ephemeral-vs-app#:~:text=Ephemeral%20state%20(sometimes%20called%20UI,contain%20in%20a%20single%20widget."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docs.flutter.dev/data-and-backend/state-mgmt/ephemeral-vs-app#:~:text=State%20that%20is%20not%20ephemeral,articles%20in%20a%20news%20app"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ocs.flutter.dev/data-and-backend/state-mgmt/declarative"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docs.flutter.dev/data-and-backend/state-mgmt/options" TargetMode="External"/><Relationship Id="rId4" Type="http://schemas.openxmlformats.org/officeDocument/2006/relationships/hyperlink" Target="https://docs.flutter.dev/data-and-backend/state-mgmt/ephemeral-vs-app"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3" Type="http://schemas.openxmlformats.org/officeDocument/2006/relationships/hyperlink" Target="https://dart.dev/libraries/async/async-await#:~:text=await%3A%20You%20can%20use%20the,works%20within%20an%20async%20function." TargetMode="External"/><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9F1979F4-8DD7-4751-A6E4-6B531833C2F0}" type="slidenum">
              <a:rPr lang="en-US" smtClean="0"/>
              <a:t>1</a:t>
            </a:fld>
            <a:endParaRPr lang="en-US"/>
          </a:p>
        </p:txBody>
      </p:sp>
    </p:spTree>
    <p:extLst>
      <p:ext uri="{BB962C8B-B14F-4D97-AF65-F5344CB8AC3E}">
        <p14:creationId xmlns:p14="http://schemas.microsoft.com/office/powerpoint/2010/main" val="1344069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each and every one of us has the identity when it comes on how we code. </a:t>
            </a:r>
          </a:p>
          <a:p>
            <a:endParaRPr lang="en-US" dirty="0"/>
          </a:p>
          <a:p>
            <a:r>
              <a:rPr lang="en-US" dirty="0"/>
              <a:t>Call a student.</a:t>
            </a:r>
          </a:p>
          <a:p>
            <a:endParaRPr lang="en-US" dirty="0"/>
          </a:p>
          <a:p>
            <a:r>
              <a:rPr lang="en-US" dirty="0"/>
              <a:t>Name of the student, you --- you have an identity on how you code. It is the distinction or personality in technical term we can call it "LOGIC"</a:t>
            </a:r>
          </a:p>
          <a:p>
            <a:endParaRPr lang="en-US" dirty="0"/>
          </a:p>
          <a:p>
            <a:r>
              <a:rPr lang="en-US" dirty="0"/>
              <a:t>Here in our session for today we will learn how we code faster. "Not typing faster"</a:t>
            </a:r>
          </a:p>
          <a:p>
            <a:endParaRPr lang="en-US" dirty="0"/>
          </a:p>
          <a:p>
            <a:r>
              <a:rPr lang="en-US" dirty="0"/>
              <a:t>THE POWER OF TEMPLATING</a:t>
            </a:r>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2</a:t>
            </a:fld>
            <a:endParaRPr lang="en-US"/>
          </a:p>
        </p:txBody>
      </p:sp>
    </p:spTree>
    <p:extLst>
      <p:ext uri="{BB962C8B-B14F-4D97-AF65-F5344CB8AC3E}">
        <p14:creationId xmlns:p14="http://schemas.microsoft.com/office/powerpoint/2010/main" val="4278972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usable formats of the frameworks especially the [Mobile and Web development.]</a:t>
            </a:r>
          </a:p>
          <a:p>
            <a:endParaRPr lang="en-US" dirty="0"/>
          </a:p>
          <a:p>
            <a:r>
              <a:rPr lang="en-US" dirty="0"/>
              <a:t>It was Trygve </a:t>
            </a:r>
            <a:r>
              <a:rPr lang="en-US" dirty="0" err="1"/>
              <a:t>Reenskaug</a:t>
            </a:r>
            <a:r>
              <a:rPr lang="en-US" dirty="0"/>
              <a:t> who developed MVC. This design pattern was primarily intended to address the issue of users managing a sizable and intricate data collection by segmenting a huge program into discrete parts, each serving a distinct function.</a:t>
            </a:r>
          </a:p>
          <a:p>
            <a:endParaRPr lang="en-US" dirty="0"/>
          </a:p>
          <a:p>
            <a:r>
              <a:rPr lang="en-US" dirty="0"/>
              <a:t>An architectural/design pattern known as the Model-View-Controller (MVC) framework divides an application into three primary logical components: the controller, view, and model. Every architectural element is designed to manage particular application development facets. It separates the presentation layer from the business logic. Historically, desktop graphical user interfaces (GUIs) have been utilized with it. In order to produce scalable and flexible applications, MVC is currently one of the most widely utilized industry-standard web development frameworks. Mobile app design is another usage for it.</a:t>
            </a:r>
          </a:p>
          <a:p>
            <a:br>
              <a:rPr lang="en-US" dirty="0"/>
            </a:br>
            <a:endParaRPr lang="en-US" dirty="0"/>
          </a:p>
        </p:txBody>
      </p:sp>
      <p:sp>
        <p:nvSpPr>
          <p:cNvPr id="4" name="Slide Number Placeholder 3"/>
          <p:cNvSpPr>
            <a:spLocks noGrp="1"/>
          </p:cNvSpPr>
          <p:nvPr>
            <p:ph type="sldNum" sz="quarter" idx="5"/>
          </p:nvPr>
        </p:nvSpPr>
        <p:spPr/>
        <p:txBody>
          <a:bodyPr/>
          <a:lstStyle/>
          <a:p>
            <a:fld id="{9F1979F4-8DD7-4751-A6E4-6B531833C2F0}" type="slidenum">
              <a:rPr lang="en-US" smtClean="0"/>
              <a:t>3</a:t>
            </a:fld>
            <a:endParaRPr lang="en-US"/>
          </a:p>
        </p:txBody>
      </p:sp>
    </p:spTree>
    <p:extLst>
      <p:ext uri="{BB962C8B-B14F-4D97-AF65-F5344CB8AC3E}">
        <p14:creationId xmlns:p14="http://schemas.microsoft.com/office/powerpoint/2010/main" val="1475651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hear of different frameworks based on a programming language whenever you deal with one. Any framework can be used when working on software to improve the overall quality of the program. Frameworks save developers time and effort during the development process and offer a number of benefits. They make it possible for developers to build clear, intelligible code.</a:t>
            </a:r>
          </a:p>
          <a:p>
            <a:endParaRPr lang="en-US" dirty="0"/>
          </a:p>
          <a:p>
            <a:endParaRPr lang="en-US" dirty="0"/>
          </a:p>
          <a:p>
            <a:r>
              <a:rPr lang="en-US" dirty="0"/>
              <a:t>A framework is similar to a structure that serves as the foundation for the process of developing an application. You don't have to write everything from scratch if you have a framework. A collection of components and technologies known as frameworks facilitates the rapid development process. It serves as a kind of template that may be used and even altered to fit the needs of the project.</a:t>
            </a:r>
          </a:p>
          <a:p>
            <a:endParaRPr lang="en-US" dirty="0"/>
          </a:p>
          <a:p>
            <a:endParaRPr lang="en-US" dirty="0"/>
          </a:p>
          <a:p>
            <a:r>
              <a:rPr lang="en-US" dirty="0"/>
              <a:t>Writing the code from scratch is a laborious process fraught with dangers and mistakes. The code must be clear, well-tested, error-free, and free of defects. It will be challenging for other developers to work with and comprehend the code. Working with the frameworks that satisfy your needs is therefore preferable. They facilitate easier development processes with fewer mistakes. It is an all-purpose template that may be used and altered to suit the needs. Others that are experienced with frameworks will find it easy to understand your code.</a:t>
            </a:r>
          </a:p>
          <a:p>
            <a:endParaRPr lang="en-US" dirty="0"/>
          </a:p>
          <a:p>
            <a:endParaRPr lang="en-US" dirty="0"/>
          </a:p>
          <a:p>
            <a:r>
              <a:rPr lang="en-US" dirty="0"/>
              <a:t>In the industry they want to lessen the from the scratch development because they want a faster production. </a:t>
            </a:r>
          </a:p>
          <a:p>
            <a:endParaRPr lang="en-US" dirty="0"/>
          </a:p>
          <a:p>
            <a:r>
              <a:rPr lang="en-US" dirty="0"/>
              <a:t>Share my industry friends.</a:t>
            </a:r>
          </a:p>
          <a:p>
            <a:endParaRPr lang="en-US" dirty="0"/>
          </a:p>
          <a:p>
            <a:r>
              <a:rPr lang="en-US" dirty="0"/>
              <a:t>Using a framework will give a head start on the developers.</a:t>
            </a:r>
          </a:p>
          <a:p>
            <a:endParaRPr lang="en-US" dirty="0"/>
          </a:p>
          <a:p>
            <a:r>
              <a:rPr lang="en-US" dirty="0"/>
              <a:t>Common types of frameworks:</a:t>
            </a:r>
          </a:p>
          <a:p>
            <a:r>
              <a:rPr lang="en-US" dirty="0"/>
              <a:t>&gt;&gt; Web development frameworks: Django, Ruby on Rails, Express.js, Angular, React</a:t>
            </a:r>
          </a:p>
          <a:p>
            <a:r>
              <a:rPr lang="en-US" dirty="0"/>
              <a:t>&gt;&gt; Mobile development frameworks: React Native, Flutter, Xamarin</a:t>
            </a:r>
          </a:p>
          <a:p>
            <a:r>
              <a:rPr lang="en-US" dirty="0"/>
              <a:t>&gt;&gt; Game development frameworks: Unity, Unreal Engine</a:t>
            </a:r>
          </a:p>
          <a:p>
            <a:r>
              <a:rPr lang="en-US" dirty="0"/>
              <a:t>&gt;&gt; Machine learning frameworks: TensorFlow, </a:t>
            </a:r>
            <a:r>
              <a:rPr lang="en-US" dirty="0" err="1"/>
              <a:t>PyTorch</a:t>
            </a:r>
            <a:endParaRPr lang="en-US" dirty="0"/>
          </a:p>
          <a:p>
            <a:r>
              <a:rPr lang="en-US" dirty="0"/>
              <a:t>&gt;&gt; Testing frameworks: JUnit, Selenium</a:t>
            </a:r>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5</a:t>
            </a:fld>
            <a:endParaRPr lang="en-US"/>
          </a:p>
        </p:txBody>
      </p:sp>
    </p:spTree>
    <p:extLst>
      <p:ext uri="{BB962C8B-B14F-4D97-AF65-F5344CB8AC3E}">
        <p14:creationId xmlns:p14="http://schemas.microsoft.com/office/powerpoint/2010/main" val="4228810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7</a:t>
            </a:fld>
            <a:endParaRPr lang="en-US"/>
          </a:p>
        </p:txBody>
      </p:sp>
    </p:spTree>
    <p:extLst>
      <p:ext uri="{BB962C8B-B14F-4D97-AF65-F5344CB8AC3E}">
        <p14:creationId xmlns:p14="http://schemas.microsoft.com/office/powerpoint/2010/main" val="685597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8</a:t>
            </a:fld>
            <a:endParaRPr lang="en-US"/>
          </a:p>
        </p:txBody>
      </p:sp>
    </p:spTree>
    <p:extLst>
      <p:ext uri="{BB962C8B-B14F-4D97-AF65-F5344CB8AC3E}">
        <p14:creationId xmlns:p14="http://schemas.microsoft.com/office/powerpoint/2010/main" val="2350460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9</a:t>
            </a:fld>
            <a:endParaRPr lang="en-US"/>
          </a:p>
        </p:txBody>
      </p:sp>
    </p:spTree>
    <p:extLst>
      <p:ext uri="{BB962C8B-B14F-4D97-AF65-F5344CB8AC3E}">
        <p14:creationId xmlns:p14="http://schemas.microsoft.com/office/powerpoint/2010/main" val="1746820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10</a:t>
            </a:fld>
            <a:endParaRPr lang="en-US"/>
          </a:p>
        </p:txBody>
      </p:sp>
    </p:spTree>
    <p:extLst>
      <p:ext uri="{BB962C8B-B14F-4D97-AF65-F5344CB8AC3E}">
        <p14:creationId xmlns:p14="http://schemas.microsoft.com/office/powerpoint/2010/main" val="1638162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12</a:t>
            </a:fld>
            <a:endParaRPr lang="en-US"/>
          </a:p>
        </p:txBody>
      </p:sp>
    </p:spTree>
    <p:extLst>
      <p:ext uri="{BB962C8B-B14F-4D97-AF65-F5344CB8AC3E}">
        <p14:creationId xmlns:p14="http://schemas.microsoft.com/office/powerpoint/2010/main" val="1102264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13</a:t>
            </a:fld>
            <a:endParaRPr lang="en-US"/>
          </a:p>
        </p:txBody>
      </p:sp>
    </p:spTree>
    <p:extLst>
      <p:ext uri="{BB962C8B-B14F-4D97-AF65-F5344CB8AC3E}">
        <p14:creationId xmlns:p14="http://schemas.microsoft.com/office/powerpoint/2010/main" val="2371751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14</a:t>
            </a:fld>
            <a:endParaRPr lang="en-US"/>
          </a:p>
        </p:txBody>
      </p:sp>
    </p:spTree>
    <p:extLst>
      <p:ext uri="{BB962C8B-B14F-4D97-AF65-F5344CB8AC3E}">
        <p14:creationId xmlns:p14="http://schemas.microsoft.com/office/powerpoint/2010/main" val="819454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16</a:t>
            </a:fld>
            <a:endParaRPr lang="en-US"/>
          </a:p>
        </p:txBody>
      </p:sp>
    </p:spTree>
    <p:extLst>
      <p:ext uri="{BB962C8B-B14F-4D97-AF65-F5344CB8AC3E}">
        <p14:creationId xmlns:p14="http://schemas.microsoft.com/office/powerpoint/2010/main" val="93314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17</a:t>
            </a:fld>
            <a:endParaRPr lang="en-US"/>
          </a:p>
        </p:txBody>
      </p:sp>
    </p:spTree>
    <p:extLst>
      <p:ext uri="{BB962C8B-B14F-4D97-AF65-F5344CB8AC3E}">
        <p14:creationId xmlns:p14="http://schemas.microsoft.com/office/powerpoint/2010/main" val="3007195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18</a:t>
            </a:fld>
            <a:endParaRPr lang="en-US"/>
          </a:p>
        </p:txBody>
      </p:sp>
    </p:spTree>
    <p:extLst>
      <p:ext uri="{BB962C8B-B14F-4D97-AF65-F5344CB8AC3E}">
        <p14:creationId xmlns:p14="http://schemas.microsoft.com/office/powerpoint/2010/main" val="3560229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19</a:t>
            </a:fld>
            <a:endParaRPr lang="en-US"/>
          </a:p>
        </p:txBody>
      </p:sp>
    </p:spTree>
    <p:extLst>
      <p:ext uri="{BB962C8B-B14F-4D97-AF65-F5344CB8AC3E}">
        <p14:creationId xmlns:p14="http://schemas.microsoft.com/office/powerpoint/2010/main" val="1787166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1979F4-8DD7-4751-A6E4-6B531833C2F0}" type="slidenum">
              <a:rPr lang="en-US" smtClean="0"/>
              <a:t>20</a:t>
            </a:fld>
            <a:endParaRPr lang="en-US"/>
          </a:p>
        </p:txBody>
      </p:sp>
    </p:spTree>
    <p:extLst>
      <p:ext uri="{BB962C8B-B14F-4D97-AF65-F5344CB8AC3E}">
        <p14:creationId xmlns:p14="http://schemas.microsoft.com/office/powerpoint/2010/main" val="3442513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21</a:t>
            </a:fld>
            <a:endParaRPr lang="en-US"/>
          </a:p>
        </p:txBody>
      </p:sp>
    </p:spTree>
    <p:extLst>
      <p:ext uri="{BB962C8B-B14F-4D97-AF65-F5344CB8AC3E}">
        <p14:creationId xmlns:p14="http://schemas.microsoft.com/office/powerpoint/2010/main" val="3843249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C976209C-F82F-8948-8964-C389942C0FEE}" type="slidenum">
              <a:rPr lang="en-US" smtClean="0"/>
              <a:t>22</a:t>
            </a:fld>
            <a:endParaRPr lang="en-US"/>
          </a:p>
        </p:txBody>
      </p:sp>
    </p:spTree>
    <p:extLst>
      <p:ext uri="{BB962C8B-B14F-4D97-AF65-F5344CB8AC3E}">
        <p14:creationId xmlns:p14="http://schemas.microsoft.com/office/powerpoint/2010/main" val="4111606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23</a:t>
            </a:fld>
            <a:endParaRPr lang="en-US"/>
          </a:p>
        </p:txBody>
      </p:sp>
    </p:spTree>
    <p:extLst>
      <p:ext uri="{BB962C8B-B14F-4D97-AF65-F5344CB8AC3E}">
        <p14:creationId xmlns:p14="http://schemas.microsoft.com/office/powerpoint/2010/main" val="508664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24</a:t>
            </a:fld>
            <a:endParaRPr lang="en-US"/>
          </a:p>
        </p:txBody>
      </p:sp>
    </p:spTree>
    <p:extLst>
      <p:ext uri="{BB962C8B-B14F-4D97-AF65-F5344CB8AC3E}">
        <p14:creationId xmlns:p14="http://schemas.microsoft.com/office/powerpoint/2010/main" val="447104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25</a:t>
            </a:fld>
            <a:endParaRPr lang="en-US"/>
          </a:p>
        </p:txBody>
      </p:sp>
    </p:spTree>
    <p:extLst>
      <p:ext uri="{BB962C8B-B14F-4D97-AF65-F5344CB8AC3E}">
        <p14:creationId xmlns:p14="http://schemas.microsoft.com/office/powerpoint/2010/main" val="548208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Additional Mid</a:t>
            </a:r>
            <a:r>
              <a:rPr lang="en-US" sz="1200" dirty="0"/>
              <a:t>: When the user selects the app again, bringing it back to the foreground, the OS relaunches it. But, unless you've set up a way to save the state of the app before it was killed, you've lost the state and the app starts from scratch. The user has lost the continuity they expect, which is clearly not ideal. (Imagine filling out a lengthy form and being interrupted by a phone call before clicking Submit.)</a:t>
            </a:r>
          </a:p>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26</a:t>
            </a:fld>
            <a:endParaRPr lang="en-US"/>
          </a:p>
        </p:txBody>
      </p:sp>
    </p:spTree>
    <p:extLst>
      <p:ext uri="{BB962C8B-B14F-4D97-AF65-F5344CB8AC3E}">
        <p14:creationId xmlns:p14="http://schemas.microsoft.com/office/powerpoint/2010/main" val="989127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27</a:t>
            </a:fld>
            <a:endParaRPr lang="en-US"/>
          </a:p>
        </p:txBody>
      </p:sp>
    </p:spTree>
    <p:extLst>
      <p:ext uri="{BB962C8B-B14F-4D97-AF65-F5344CB8AC3E}">
        <p14:creationId xmlns:p14="http://schemas.microsoft.com/office/powerpoint/2010/main" val="588223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28</a:t>
            </a:fld>
            <a:endParaRPr lang="en-US"/>
          </a:p>
        </p:txBody>
      </p:sp>
    </p:spTree>
    <p:extLst>
      <p:ext uri="{BB962C8B-B14F-4D97-AF65-F5344CB8AC3E}">
        <p14:creationId xmlns:p14="http://schemas.microsoft.com/office/powerpoint/2010/main" val="402672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12121"/>
                </a:solidFill>
                <a:effectLst/>
                <a:highlight>
                  <a:srgbClr val="FFFFFF"/>
                </a:highlight>
                <a:latin typeface="Google Sans Text"/>
              </a:rPr>
              <a:t>Conclusion</a:t>
            </a:r>
            <a:r>
              <a:rPr lang="en-US" b="0" i="0" dirty="0">
                <a:solidFill>
                  <a:srgbClr val="212121"/>
                </a:solidFill>
                <a:effectLst/>
                <a:highlight>
                  <a:srgbClr val="FFFFFF"/>
                </a:highlight>
                <a:latin typeface="Google Sans Text"/>
              </a:rPr>
              <a:t>: When the state of your app changes (for example, the user flips a switch in the settings screen), you change the state, and that triggers a redraw of the user interface. There is no imperative changing of the UI itself (like </a:t>
            </a:r>
            <a:r>
              <a:rPr lang="en-US" dirty="0" err="1"/>
              <a:t>widget.setText</a:t>
            </a:r>
            <a:r>
              <a:rPr lang="en-US" b="0" i="0" dirty="0">
                <a:solidFill>
                  <a:srgbClr val="212121"/>
                </a:solidFill>
                <a:effectLst/>
                <a:highlight>
                  <a:srgbClr val="FFFFFF"/>
                </a:highlight>
                <a:latin typeface="Google Sans Text"/>
              </a:rPr>
              <a:t>)—you change the state, and the UI rebuilds from scratch.</a:t>
            </a:r>
          </a:p>
          <a:p>
            <a:pPr algn="l"/>
            <a:endParaRPr lang="en-US" b="0" i="0" dirty="0">
              <a:solidFill>
                <a:srgbClr val="212121"/>
              </a:solidFill>
              <a:effectLst/>
              <a:highlight>
                <a:srgbClr val="FFFFFF"/>
              </a:highlight>
              <a:latin typeface="Google Sans Text"/>
            </a:endParaRPr>
          </a:p>
          <a:p>
            <a:pPr algn="l"/>
            <a:r>
              <a:rPr lang="en-US" b="0" i="0" dirty="0">
                <a:solidFill>
                  <a:srgbClr val="212121"/>
                </a:solidFill>
                <a:effectLst/>
                <a:highlight>
                  <a:srgbClr val="FFFFFF"/>
                </a:highlight>
                <a:latin typeface="Google Sans Text"/>
              </a:rPr>
              <a:t>The declarative style of UI programming has many benefits. Remarkably, there is only one code path for any state of the UI. You describe what the UI should look like for any given state, once—and that is it.</a:t>
            </a:r>
          </a:p>
          <a:p>
            <a:pPr algn="l"/>
            <a:r>
              <a:rPr lang="en-US" b="0" i="0" dirty="0">
                <a:solidFill>
                  <a:srgbClr val="212121"/>
                </a:solidFill>
                <a:effectLst/>
                <a:highlight>
                  <a:srgbClr val="FFFFFF"/>
                </a:highlight>
                <a:latin typeface="Google Sans Text"/>
              </a:rPr>
              <a:t>At first, this style of programming might not seem as intuitive as the imperative style.</a:t>
            </a:r>
          </a:p>
          <a:p>
            <a:pPr algn="l"/>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29</a:t>
            </a:fld>
            <a:endParaRPr lang="en-US"/>
          </a:p>
        </p:txBody>
      </p:sp>
    </p:spTree>
    <p:extLst>
      <p:ext uri="{BB962C8B-B14F-4D97-AF65-F5344CB8AC3E}">
        <p14:creationId xmlns:p14="http://schemas.microsoft.com/office/powerpoint/2010/main" val="2896051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b="1" dirty="0"/>
              <a:t>Ephemeral State</a:t>
            </a:r>
          </a:p>
          <a:p>
            <a:pPr marL="171450" indent="-171450">
              <a:buFont typeface="Arial" panose="020B0604020202020204" pitchFamily="34" charset="0"/>
              <a:buChar char="•"/>
            </a:pPr>
            <a:r>
              <a:rPr lang="en-PH" b="1" dirty="0"/>
              <a:t>Ideal for:</a:t>
            </a:r>
            <a:r>
              <a:rPr lang="en-PH" dirty="0"/>
              <a:t> </a:t>
            </a:r>
          </a:p>
          <a:p>
            <a:pPr marL="742950" lvl="1" indent="-285750">
              <a:buFont typeface="Arial" panose="020B0604020202020204" pitchFamily="34" charset="0"/>
              <a:buChar char="•"/>
            </a:pPr>
            <a:r>
              <a:rPr lang="en-PH" dirty="0"/>
              <a:t>UI-specific data that doesn't need to be shared across multiple widgets.   </a:t>
            </a:r>
            <a:r>
              <a:rPr lang="en-PH" dirty="0">
                <a:hlinkClick r:id="rId3"/>
              </a:rPr>
              <a:t>1. Differentiate between ephemeral state and app state - Flutter Documentation </a:t>
            </a:r>
          </a:p>
          <a:p>
            <a:pPr marL="742950" lvl="1" indent="-285750">
              <a:buFont typeface="Arial" panose="020B0604020202020204" pitchFamily="34" charset="0"/>
              <a:buChar char="•"/>
            </a:pPr>
            <a:r>
              <a:rPr lang="en-PH" dirty="0" err="1">
                <a:hlinkClick r:id="rId3"/>
              </a:rPr>
              <a:t>docs.flutter.dev</a:t>
            </a:r>
            <a:endParaRPr lang="en-PH" dirty="0">
              <a:hlinkClick r:id="rId3"/>
            </a:endParaRPr>
          </a:p>
          <a:p>
            <a:pPr marL="742950" lvl="1" indent="-285750">
              <a:buFont typeface="Arial" panose="020B0604020202020204" pitchFamily="34" charset="0"/>
              <a:buChar char="•"/>
            </a:pPr>
            <a:r>
              <a:rPr lang="en-PH" dirty="0"/>
              <a:t>Temporary values that don't persist beyond the widget's lifetime.</a:t>
            </a:r>
          </a:p>
          <a:p>
            <a:pPr marL="742950" lvl="1" indent="-285750">
              <a:buFont typeface="Arial" panose="020B0604020202020204" pitchFamily="34" charset="0"/>
              <a:buChar char="•"/>
            </a:pPr>
            <a:r>
              <a:rPr lang="en-PH" dirty="0"/>
              <a:t>Simple state management within a single widget.   </a:t>
            </a:r>
            <a:r>
              <a:rPr lang="en-PH" dirty="0">
                <a:hlinkClick r:id="rId3"/>
              </a:rPr>
              <a:t>1. Differentiate between ephemeral state and app state - Flutter Documentation </a:t>
            </a:r>
          </a:p>
          <a:p>
            <a:pPr marL="742950" lvl="1" indent="-285750">
              <a:buFont typeface="Arial" panose="020B0604020202020204" pitchFamily="34" charset="0"/>
              <a:buChar char="•"/>
            </a:pPr>
            <a:r>
              <a:rPr lang="en-PH" dirty="0" err="1">
                <a:hlinkClick r:id="rId3"/>
              </a:rPr>
              <a:t>docs.flutter.dev</a:t>
            </a:r>
            <a:endParaRPr lang="en-PH" dirty="0">
              <a:hlinkClick r:id="rId3"/>
            </a:endParaRPr>
          </a:p>
          <a:p>
            <a:pPr marL="171450" indent="-171450">
              <a:buFont typeface="Arial" panose="020B0604020202020204" pitchFamily="34" charset="0"/>
              <a:buChar char="•"/>
            </a:pPr>
            <a:r>
              <a:rPr lang="en-PH" b="1" dirty="0"/>
              <a:t>Examples:</a:t>
            </a:r>
            <a:r>
              <a:rPr lang="en-PH" dirty="0"/>
              <a:t> </a:t>
            </a:r>
          </a:p>
          <a:p>
            <a:pPr marL="742950" lvl="1" indent="-285750">
              <a:buFont typeface="Arial" panose="020B0604020202020204" pitchFamily="34" charset="0"/>
              <a:buChar char="•"/>
            </a:pPr>
            <a:r>
              <a:rPr lang="en-PH" dirty="0"/>
              <a:t>Text input values</a:t>
            </a:r>
          </a:p>
          <a:p>
            <a:pPr marL="742950" lvl="1" indent="-285750">
              <a:buFont typeface="Arial" panose="020B0604020202020204" pitchFamily="34" charset="0"/>
              <a:buChar char="•"/>
            </a:pPr>
            <a:r>
              <a:rPr lang="en-PH" dirty="0"/>
              <a:t>Checkbox states</a:t>
            </a:r>
          </a:p>
          <a:p>
            <a:pPr marL="742950" lvl="1" indent="-285750">
              <a:buFont typeface="Arial" panose="020B0604020202020204" pitchFamily="34" charset="0"/>
              <a:buChar char="•"/>
            </a:pPr>
            <a:r>
              <a:rPr lang="en-PH" dirty="0"/>
              <a:t>Dropdown menu selections</a:t>
            </a:r>
          </a:p>
          <a:p>
            <a:pPr marL="742950" lvl="1" indent="-285750">
              <a:buFont typeface="Arial" panose="020B0604020202020204" pitchFamily="34" charset="0"/>
              <a:buChar char="•"/>
            </a:pPr>
            <a:r>
              <a:rPr lang="en-PH" dirty="0"/>
              <a:t>Animation states</a:t>
            </a:r>
          </a:p>
          <a:p>
            <a:pPr marL="742950" lvl="1" indent="-285750">
              <a:buFont typeface="Arial" panose="020B0604020202020204" pitchFamily="34" charset="0"/>
              <a:buChar char="•"/>
            </a:pPr>
            <a:r>
              <a:rPr lang="en-PH" dirty="0"/>
              <a:t>Tab selection</a:t>
            </a:r>
          </a:p>
          <a:p>
            <a:pPr marL="742950" lvl="1" indent="-285750">
              <a:buFont typeface="Arial" panose="020B0604020202020204" pitchFamily="34" charset="0"/>
              <a:buChar char="•"/>
            </a:pPr>
            <a:endParaRPr lang="en-PH" dirty="0"/>
          </a:p>
          <a:p>
            <a:r>
              <a:rPr lang="en-PH" b="1" dirty="0"/>
              <a:t>App State</a:t>
            </a:r>
          </a:p>
          <a:p>
            <a:pPr marL="171450" indent="-171450">
              <a:buFont typeface="Arial" panose="020B0604020202020204" pitchFamily="34" charset="0"/>
              <a:buChar char="•"/>
            </a:pPr>
            <a:r>
              <a:rPr lang="en-PH" b="1" dirty="0"/>
              <a:t>Ideal for:</a:t>
            </a:r>
            <a:r>
              <a:rPr lang="en-PH" dirty="0"/>
              <a:t> </a:t>
            </a:r>
          </a:p>
          <a:p>
            <a:pPr marL="742950" lvl="1" indent="-285750">
              <a:buFont typeface="Arial" panose="020B0604020202020204" pitchFamily="34" charset="0"/>
              <a:buChar char="•"/>
            </a:pPr>
            <a:r>
              <a:rPr lang="en-PH" dirty="0"/>
              <a:t>Data that needs to be shared across multiple widgets or screens.   </a:t>
            </a:r>
            <a:r>
              <a:rPr lang="en-PH" dirty="0">
                <a:hlinkClick r:id="rId4"/>
              </a:rPr>
              <a:t>1. Differentiate between ephemeral state and app state - Flutter Documentation </a:t>
            </a:r>
          </a:p>
          <a:p>
            <a:pPr marL="742950" lvl="1" indent="-285750">
              <a:buFont typeface="Arial" panose="020B0604020202020204" pitchFamily="34" charset="0"/>
              <a:buChar char="•"/>
            </a:pPr>
            <a:r>
              <a:rPr lang="en-PH" dirty="0" err="1">
                <a:hlinkClick r:id="rId4"/>
              </a:rPr>
              <a:t>docs.flutter.dev</a:t>
            </a:r>
            <a:endParaRPr lang="en-PH" dirty="0">
              <a:hlinkClick r:id="rId4"/>
            </a:endParaRPr>
          </a:p>
          <a:p>
            <a:pPr marL="742950" lvl="1" indent="-285750">
              <a:buFont typeface="Arial" panose="020B0604020202020204" pitchFamily="34" charset="0"/>
              <a:buChar char="•"/>
            </a:pPr>
            <a:r>
              <a:rPr lang="en-PH" dirty="0"/>
              <a:t>Persistent data that needs to survive navigation or app restarts.</a:t>
            </a:r>
          </a:p>
          <a:p>
            <a:pPr marL="742950" lvl="1" indent="-285750">
              <a:buFont typeface="Arial" panose="020B0604020202020204" pitchFamily="34" charset="0"/>
              <a:buChar char="•"/>
            </a:pPr>
            <a:r>
              <a:rPr lang="en-PH" dirty="0"/>
              <a:t>Complex state management scenarios with multiple interrelated data points.</a:t>
            </a:r>
          </a:p>
          <a:p>
            <a:pPr marL="171450" indent="-171450">
              <a:buFont typeface="Arial" panose="020B0604020202020204" pitchFamily="34" charset="0"/>
              <a:buChar char="•"/>
            </a:pPr>
            <a:r>
              <a:rPr lang="en-PH" b="1" dirty="0"/>
              <a:t>Examples:</a:t>
            </a:r>
            <a:r>
              <a:rPr lang="en-PH" dirty="0"/>
              <a:t> </a:t>
            </a:r>
          </a:p>
          <a:p>
            <a:pPr marL="742950" lvl="1" indent="-285750">
              <a:buFont typeface="Arial" panose="020B0604020202020204" pitchFamily="34" charset="0"/>
              <a:buChar char="•"/>
            </a:pPr>
            <a:r>
              <a:rPr lang="en-PH" dirty="0"/>
              <a:t>User authentication status</a:t>
            </a:r>
          </a:p>
          <a:p>
            <a:pPr marL="742950" lvl="1" indent="-285750">
              <a:buFont typeface="Arial" panose="020B0604020202020204" pitchFamily="34" charset="0"/>
              <a:buChar char="•"/>
            </a:pPr>
            <a:r>
              <a:rPr lang="en-PH" dirty="0"/>
              <a:t>Shopping cart items</a:t>
            </a:r>
          </a:p>
          <a:p>
            <a:pPr marL="742950" lvl="1" indent="-285750">
              <a:buFont typeface="Arial" panose="020B0604020202020204" pitchFamily="34" charset="0"/>
              <a:buChar char="•"/>
            </a:pPr>
            <a:r>
              <a:rPr lang="en-PH" dirty="0"/>
              <a:t>User preferences (theme, language)</a:t>
            </a:r>
          </a:p>
          <a:p>
            <a:pPr marL="742950" lvl="1" indent="-285750">
              <a:buFont typeface="Arial" panose="020B0604020202020204" pitchFamily="34" charset="0"/>
              <a:buChar char="•"/>
            </a:pPr>
            <a:r>
              <a:rPr lang="en-PH" dirty="0"/>
              <a:t>Application settings</a:t>
            </a:r>
          </a:p>
          <a:p>
            <a:pPr marL="742950" lvl="1" indent="-285750">
              <a:buFont typeface="Arial" panose="020B0604020202020204" pitchFamily="34" charset="0"/>
              <a:buChar char="•"/>
            </a:pPr>
            <a:r>
              <a:rPr lang="en-PH" dirty="0"/>
              <a:t>Real-time data (e.g., chat messages)</a:t>
            </a:r>
          </a:p>
        </p:txBody>
      </p:sp>
      <p:sp>
        <p:nvSpPr>
          <p:cNvPr id="4" name="Slide Number Placeholder 3"/>
          <p:cNvSpPr>
            <a:spLocks noGrp="1"/>
          </p:cNvSpPr>
          <p:nvPr>
            <p:ph type="sldNum" sz="quarter" idx="5"/>
          </p:nvPr>
        </p:nvSpPr>
        <p:spPr/>
        <p:txBody>
          <a:bodyPr/>
          <a:lstStyle/>
          <a:p>
            <a:fld id="{C976209C-F82F-8948-8964-C389942C0FEE}" type="slidenum">
              <a:rPr lang="en-US" smtClean="0"/>
              <a:t>30</a:t>
            </a:fld>
            <a:endParaRPr lang="en-US"/>
          </a:p>
        </p:txBody>
      </p:sp>
    </p:spTree>
    <p:extLst>
      <p:ext uri="{BB962C8B-B14F-4D97-AF65-F5344CB8AC3E}">
        <p14:creationId xmlns:p14="http://schemas.microsoft.com/office/powerpoint/2010/main" val="2052239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Ephemeral State</a:t>
            </a:r>
            <a:br>
              <a:rPr lang="en-US" b="1" dirty="0"/>
            </a:br>
            <a:r>
              <a:rPr lang="en-US" dirty="0"/>
              <a:t>In this example, _count is an ephemeral state. It's local to the </a:t>
            </a:r>
            <a:r>
              <a:rPr lang="en-US" dirty="0" err="1"/>
              <a:t>CounterWidget</a:t>
            </a:r>
            <a:r>
              <a:rPr lang="en-US" dirty="0"/>
              <a:t> and doesn't persist beyond its lifecycle. The </a:t>
            </a:r>
            <a:r>
              <a:rPr lang="en-US" dirty="0" err="1"/>
              <a:t>setState</a:t>
            </a:r>
            <a:r>
              <a:rPr lang="en-US" dirty="0"/>
              <a:t> method is used to trigger a rebuild of the widget whenever the _count value changes.</a:t>
            </a:r>
          </a:p>
          <a:p>
            <a:endParaRPr lang="en-US" b="1" dirty="0"/>
          </a:p>
          <a:p>
            <a:endParaRPr lang="en-US" b="1" dirty="0"/>
          </a:p>
          <a:p>
            <a:r>
              <a:rPr lang="en-US" b="1" dirty="0"/>
              <a:t>App State</a:t>
            </a:r>
          </a:p>
          <a:p>
            <a:r>
              <a:rPr lang="en-US" dirty="0"/>
              <a:t>In this example, </a:t>
            </a:r>
            <a:r>
              <a:rPr lang="en-US" dirty="0" err="1"/>
              <a:t>CartModel</a:t>
            </a:r>
            <a:r>
              <a:rPr lang="en-US" dirty="0"/>
              <a:t> represents the app state, containing a list of items in the cart. It uses </a:t>
            </a:r>
            <a:r>
              <a:rPr lang="en-US" dirty="0" err="1"/>
              <a:t>ChangeNotifier</a:t>
            </a:r>
            <a:r>
              <a:rPr lang="en-US" dirty="0"/>
              <a:t> to notify listeners (widgets) when the cart changes. The </a:t>
            </a:r>
            <a:r>
              <a:rPr lang="en-US" dirty="0" err="1"/>
              <a:t>CartPage</a:t>
            </a:r>
            <a:r>
              <a:rPr lang="en-US" dirty="0"/>
              <a:t> accesses the cart state using </a:t>
            </a:r>
            <a:r>
              <a:rPr lang="en-US" dirty="0" err="1"/>
              <a:t>context.watch</a:t>
            </a:r>
            <a:r>
              <a:rPr lang="en-US" dirty="0"/>
              <a:t> and rebuilds whenever the cart is updated.</a:t>
            </a:r>
          </a:p>
        </p:txBody>
      </p:sp>
      <p:sp>
        <p:nvSpPr>
          <p:cNvPr id="4" name="Slide Number Placeholder 3"/>
          <p:cNvSpPr>
            <a:spLocks noGrp="1"/>
          </p:cNvSpPr>
          <p:nvPr>
            <p:ph type="sldNum" sz="quarter" idx="5"/>
          </p:nvPr>
        </p:nvSpPr>
        <p:spPr/>
        <p:txBody>
          <a:bodyPr/>
          <a:lstStyle/>
          <a:p>
            <a:fld id="{C976209C-F82F-8948-8964-C389942C0FEE}" type="slidenum">
              <a:rPr lang="en-US" smtClean="0"/>
              <a:t>31</a:t>
            </a:fld>
            <a:endParaRPr lang="en-US"/>
          </a:p>
        </p:txBody>
      </p:sp>
    </p:spTree>
    <p:extLst>
      <p:ext uri="{BB962C8B-B14F-4D97-AF65-F5344CB8AC3E}">
        <p14:creationId xmlns:p14="http://schemas.microsoft.com/office/powerpoint/2010/main" val="2380310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t>Intro</a:t>
            </a:r>
            <a:r>
              <a:rPr lang="en-US" sz="1200" dirty="0"/>
              <a:t>: To be clear, you can use State and </a:t>
            </a:r>
            <a:r>
              <a:rPr lang="en-US" sz="1200" dirty="0" err="1"/>
              <a:t>setState</a:t>
            </a:r>
            <a:r>
              <a:rPr lang="en-US" sz="1200" dirty="0"/>
              <a:t>() to manage all of the state in your app. In fact, the Flutter team does this in many simple app samples (including the starter app that you get with every flutter create).</a:t>
            </a:r>
          </a:p>
          <a:p>
            <a:pPr marL="0" indent="0">
              <a:buNone/>
            </a:pPr>
            <a:r>
              <a:rPr lang="en-US" sz="1200" dirty="0"/>
              <a:t>It goes the other way, too. For example, you might decide that—in the context of your particular app—the selected tab in a bottom navigation bar is not ephemeral state. You might need to change it from outside the class, keep it between sessions, and so on. In that case, the _index variable is app state.</a:t>
            </a:r>
          </a:p>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32</a:t>
            </a:fld>
            <a:endParaRPr lang="en-US"/>
          </a:p>
        </p:txBody>
      </p:sp>
    </p:spTree>
    <p:extLst>
      <p:ext uri="{BB962C8B-B14F-4D97-AF65-F5344CB8AC3E}">
        <p14:creationId xmlns:p14="http://schemas.microsoft.com/office/powerpoint/2010/main" val="3860423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12121"/>
                </a:solidFill>
                <a:effectLst/>
                <a:highlight>
                  <a:srgbClr val="FFFFFF"/>
                </a:highlight>
                <a:latin typeface="Google Sans Text"/>
              </a:rPr>
              <a:t>Now that you know about </a:t>
            </a:r>
            <a:r>
              <a:rPr lang="en-US" b="0" i="0" u="none" strike="noStrike" dirty="0">
                <a:solidFill>
                  <a:srgbClr val="0468D7"/>
                </a:solidFill>
                <a:effectLst/>
                <a:highlight>
                  <a:srgbClr val="FFFFFF"/>
                </a:highlight>
                <a:latin typeface="Google Sans Text"/>
                <a:hlinkClick r:id="rId3"/>
              </a:rPr>
              <a:t>declarative UI programming</a:t>
            </a:r>
            <a:r>
              <a:rPr lang="en-US" b="0" i="0" dirty="0">
                <a:solidFill>
                  <a:srgbClr val="212121"/>
                </a:solidFill>
                <a:effectLst/>
                <a:highlight>
                  <a:srgbClr val="FFFFFF"/>
                </a:highlight>
                <a:latin typeface="Google Sans Text"/>
              </a:rPr>
              <a:t> and the difference between </a:t>
            </a:r>
            <a:r>
              <a:rPr lang="en-US" b="0" i="0" u="none" strike="noStrike" dirty="0">
                <a:solidFill>
                  <a:srgbClr val="0468D7"/>
                </a:solidFill>
                <a:effectLst/>
                <a:highlight>
                  <a:srgbClr val="FFFFFF"/>
                </a:highlight>
                <a:latin typeface="Google Sans Text"/>
                <a:hlinkClick r:id="rId4"/>
              </a:rPr>
              <a:t>ephemeral and app state</a:t>
            </a:r>
            <a:r>
              <a:rPr lang="en-US" b="0" i="0" dirty="0">
                <a:solidFill>
                  <a:srgbClr val="212121"/>
                </a:solidFill>
                <a:effectLst/>
                <a:highlight>
                  <a:srgbClr val="FFFFFF"/>
                </a:highlight>
                <a:latin typeface="Google Sans Text"/>
              </a:rPr>
              <a:t>, you are ready to learn about simple app state management.</a:t>
            </a:r>
          </a:p>
          <a:p>
            <a:pPr algn="l"/>
            <a:endParaRPr lang="en-US" b="0" i="0" dirty="0">
              <a:solidFill>
                <a:srgbClr val="212121"/>
              </a:solidFill>
              <a:effectLst/>
              <a:highlight>
                <a:srgbClr val="FFFFFF"/>
              </a:highlight>
              <a:latin typeface="Google Sans Text"/>
            </a:endParaRPr>
          </a:p>
          <a:p>
            <a:pPr algn="l"/>
            <a:r>
              <a:rPr lang="en-US" b="0" i="0" dirty="0">
                <a:solidFill>
                  <a:srgbClr val="212121"/>
                </a:solidFill>
                <a:effectLst/>
                <a:highlight>
                  <a:srgbClr val="FFFFFF"/>
                </a:highlight>
                <a:latin typeface="Google Sans Text"/>
              </a:rPr>
              <a:t>On this page, we are going to be using the provider package. If you are new to Flutter and you don't have a strong reason to choose another approach (Redux, Rx, hooks, etc.), this is probably the approach you should start with. The provider package is easy to understand and it doesn't use much code. It also uses concepts that are applicable in every other approach.</a:t>
            </a:r>
          </a:p>
          <a:p>
            <a:pPr algn="l"/>
            <a:endParaRPr lang="en-US" b="0" i="0" dirty="0">
              <a:solidFill>
                <a:srgbClr val="212121"/>
              </a:solidFill>
              <a:effectLst/>
              <a:highlight>
                <a:srgbClr val="FFFFFF"/>
              </a:highlight>
              <a:latin typeface="Google Sans Text"/>
            </a:endParaRPr>
          </a:p>
          <a:p>
            <a:pPr algn="l"/>
            <a:r>
              <a:rPr lang="en-US" b="0" i="0" dirty="0">
                <a:solidFill>
                  <a:srgbClr val="212121"/>
                </a:solidFill>
                <a:effectLst/>
                <a:highlight>
                  <a:srgbClr val="FFFFFF"/>
                </a:highlight>
                <a:latin typeface="Google Sans Text"/>
              </a:rPr>
              <a:t>That said, if you have a strong background in state management from other reactive frameworks, you can find packages and tutorials listed on the </a:t>
            </a:r>
            <a:r>
              <a:rPr lang="en-US" b="0" i="0" u="none" strike="noStrike" dirty="0">
                <a:solidFill>
                  <a:srgbClr val="0468D7"/>
                </a:solidFill>
                <a:effectLst/>
                <a:highlight>
                  <a:srgbClr val="FFFFFF"/>
                </a:highlight>
                <a:latin typeface="Google Sans Text"/>
                <a:hlinkClick r:id="rId5"/>
              </a:rPr>
              <a:t>options page</a:t>
            </a:r>
            <a:r>
              <a:rPr lang="en-US" b="0" i="0" dirty="0">
                <a:solidFill>
                  <a:srgbClr val="212121"/>
                </a:solidFill>
                <a:effectLst/>
                <a:highlight>
                  <a:srgbClr val="FFFFFF"/>
                </a:highlight>
                <a:latin typeface="Google Sans Text"/>
              </a:rPr>
              <a:t>.</a:t>
            </a:r>
          </a:p>
          <a:p>
            <a:pPr algn="l"/>
            <a:endParaRPr lang="en-US" b="0" i="0" dirty="0">
              <a:solidFill>
                <a:srgbClr val="212121"/>
              </a:solidFill>
              <a:effectLst/>
              <a:highlight>
                <a:srgbClr val="FFFFFF"/>
              </a:highlight>
              <a:latin typeface="Google Sans Text"/>
            </a:endParaRPr>
          </a:p>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33</a:t>
            </a:fld>
            <a:endParaRPr lang="en-US"/>
          </a:p>
        </p:txBody>
      </p:sp>
    </p:spTree>
    <p:extLst>
      <p:ext uri="{BB962C8B-B14F-4D97-AF65-F5344CB8AC3E}">
        <p14:creationId xmlns:p14="http://schemas.microsoft.com/office/powerpoint/2010/main" val="21476925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34</a:t>
            </a:fld>
            <a:endParaRPr lang="en-US"/>
          </a:p>
        </p:txBody>
      </p:sp>
    </p:spTree>
    <p:extLst>
      <p:ext uri="{BB962C8B-B14F-4D97-AF65-F5344CB8AC3E}">
        <p14:creationId xmlns:p14="http://schemas.microsoft.com/office/powerpoint/2010/main" val="2486230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35</a:t>
            </a:fld>
            <a:endParaRPr lang="en-US"/>
          </a:p>
        </p:txBody>
      </p:sp>
    </p:spTree>
    <p:extLst>
      <p:ext uri="{BB962C8B-B14F-4D97-AF65-F5344CB8AC3E}">
        <p14:creationId xmlns:p14="http://schemas.microsoft.com/office/powerpoint/2010/main" val="23558507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36</a:t>
            </a:fld>
            <a:endParaRPr lang="en-US"/>
          </a:p>
        </p:txBody>
      </p:sp>
    </p:spTree>
    <p:extLst>
      <p:ext uri="{BB962C8B-B14F-4D97-AF65-F5344CB8AC3E}">
        <p14:creationId xmlns:p14="http://schemas.microsoft.com/office/powerpoint/2010/main" val="33171324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37</a:t>
            </a:fld>
            <a:endParaRPr lang="en-US"/>
          </a:p>
        </p:txBody>
      </p:sp>
    </p:spTree>
    <p:extLst>
      <p:ext uri="{BB962C8B-B14F-4D97-AF65-F5344CB8AC3E}">
        <p14:creationId xmlns:p14="http://schemas.microsoft.com/office/powerpoint/2010/main" val="7478826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38</a:t>
            </a:fld>
            <a:endParaRPr lang="en-US"/>
          </a:p>
        </p:txBody>
      </p:sp>
    </p:spTree>
    <p:extLst>
      <p:ext uri="{BB962C8B-B14F-4D97-AF65-F5344CB8AC3E}">
        <p14:creationId xmlns:p14="http://schemas.microsoft.com/office/powerpoint/2010/main" val="38791533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39</a:t>
            </a:fld>
            <a:endParaRPr lang="en-US"/>
          </a:p>
        </p:txBody>
      </p:sp>
    </p:spTree>
    <p:extLst>
      <p:ext uri="{BB962C8B-B14F-4D97-AF65-F5344CB8AC3E}">
        <p14:creationId xmlns:p14="http://schemas.microsoft.com/office/powerpoint/2010/main" val="1355869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40</a:t>
            </a:fld>
            <a:endParaRPr lang="en-US"/>
          </a:p>
        </p:txBody>
      </p:sp>
    </p:spTree>
    <p:extLst>
      <p:ext uri="{BB962C8B-B14F-4D97-AF65-F5344CB8AC3E}">
        <p14:creationId xmlns:p14="http://schemas.microsoft.com/office/powerpoint/2010/main" val="405014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41</a:t>
            </a:fld>
            <a:endParaRPr lang="en-US"/>
          </a:p>
        </p:txBody>
      </p:sp>
    </p:spTree>
    <p:extLst>
      <p:ext uri="{BB962C8B-B14F-4D97-AF65-F5344CB8AC3E}">
        <p14:creationId xmlns:p14="http://schemas.microsoft.com/office/powerpoint/2010/main" val="3720264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42</a:t>
            </a:fld>
            <a:endParaRPr lang="en-US"/>
          </a:p>
        </p:txBody>
      </p:sp>
    </p:spTree>
    <p:extLst>
      <p:ext uri="{BB962C8B-B14F-4D97-AF65-F5344CB8AC3E}">
        <p14:creationId xmlns:p14="http://schemas.microsoft.com/office/powerpoint/2010/main" val="6610925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43</a:t>
            </a:fld>
            <a:endParaRPr lang="en-US"/>
          </a:p>
        </p:txBody>
      </p:sp>
    </p:spTree>
    <p:extLst>
      <p:ext uri="{BB962C8B-B14F-4D97-AF65-F5344CB8AC3E}">
        <p14:creationId xmlns:p14="http://schemas.microsoft.com/office/powerpoint/2010/main" val="40934179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44</a:t>
            </a:fld>
            <a:endParaRPr lang="en-US"/>
          </a:p>
        </p:txBody>
      </p:sp>
    </p:spTree>
    <p:extLst>
      <p:ext uri="{BB962C8B-B14F-4D97-AF65-F5344CB8AC3E}">
        <p14:creationId xmlns:p14="http://schemas.microsoft.com/office/powerpoint/2010/main" val="1705896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45</a:t>
            </a:fld>
            <a:endParaRPr lang="en-US"/>
          </a:p>
        </p:txBody>
      </p:sp>
    </p:spTree>
    <p:extLst>
      <p:ext uri="{BB962C8B-B14F-4D97-AF65-F5344CB8AC3E}">
        <p14:creationId xmlns:p14="http://schemas.microsoft.com/office/powerpoint/2010/main" val="41466285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46</a:t>
            </a:fld>
            <a:endParaRPr lang="en-US"/>
          </a:p>
        </p:txBody>
      </p:sp>
    </p:spTree>
    <p:extLst>
      <p:ext uri="{BB962C8B-B14F-4D97-AF65-F5344CB8AC3E}">
        <p14:creationId xmlns:p14="http://schemas.microsoft.com/office/powerpoint/2010/main" val="9784066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47</a:t>
            </a:fld>
            <a:endParaRPr lang="en-US"/>
          </a:p>
        </p:txBody>
      </p:sp>
    </p:spTree>
    <p:extLst>
      <p:ext uri="{BB962C8B-B14F-4D97-AF65-F5344CB8AC3E}">
        <p14:creationId xmlns:p14="http://schemas.microsoft.com/office/powerpoint/2010/main" val="17955628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212121"/>
              </a:solidFill>
              <a:effectLst/>
              <a:highlight>
                <a:srgbClr val="FFFFFF"/>
              </a:highlight>
              <a:latin typeface="Google Sans Text"/>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48</a:t>
            </a:fld>
            <a:endParaRPr lang="en-US"/>
          </a:p>
        </p:txBody>
      </p:sp>
    </p:spTree>
    <p:extLst>
      <p:ext uri="{BB962C8B-B14F-4D97-AF65-F5344CB8AC3E}">
        <p14:creationId xmlns:p14="http://schemas.microsoft.com/office/powerpoint/2010/main" val="14489047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49</a:t>
            </a:fld>
            <a:endParaRPr lang="en-US"/>
          </a:p>
        </p:txBody>
      </p:sp>
    </p:spTree>
    <p:extLst>
      <p:ext uri="{BB962C8B-B14F-4D97-AF65-F5344CB8AC3E}">
        <p14:creationId xmlns:p14="http://schemas.microsoft.com/office/powerpoint/2010/main" val="2341179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C976209C-F82F-8948-8964-C389942C0FEE}" type="slidenum">
              <a:rPr lang="en-US" smtClean="0"/>
              <a:t>50</a:t>
            </a:fld>
            <a:endParaRPr lang="en-US"/>
          </a:p>
        </p:txBody>
      </p:sp>
    </p:spTree>
    <p:extLst>
      <p:ext uri="{BB962C8B-B14F-4D97-AF65-F5344CB8AC3E}">
        <p14:creationId xmlns:p14="http://schemas.microsoft.com/office/powerpoint/2010/main" val="10525816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51</a:t>
            </a:fld>
            <a:endParaRPr lang="en-US"/>
          </a:p>
        </p:txBody>
      </p:sp>
    </p:spTree>
    <p:extLst>
      <p:ext uri="{BB962C8B-B14F-4D97-AF65-F5344CB8AC3E}">
        <p14:creationId xmlns:p14="http://schemas.microsoft.com/office/powerpoint/2010/main" val="41324068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52</a:t>
            </a:fld>
            <a:endParaRPr lang="en-US"/>
          </a:p>
        </p:txBody>
      </p:sp>
    </p:spTree>
    <p:extLst>
      <p:ext uri="{BB962C8B-B14F-4D97-AF65-F5344CB8AC3E}">
        <p14:creationId xmlns:p14="http://schemas.microsoft.com/office/powerpoint/2010/main" val="1759605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53</a:t>
            </a:fld>
            <a:endParaRPr lang="en-US"/>
          </a:p>
        </p:txBody>
      </p:sp>
    </p:spTree>
    <p:extLst>
      <p:ext uri="{BB962C8B-B14F-4D97-AF65-F5344CB8AC3E}">
        <p14:creationId xmlns:p14="http://schemas.microsoft.com/office/powerpoint/2010/main" val="17509142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a:t>
            </a:r>
            <a:endParaRPr lang="en-US" dirty="0"/>
          </a:p>
          <a:p>
            <a:r>
              <a:rPr lang="en-US" dirty="0"/>
              <a:t>Imagine downloading a large file. In synchronous programming, the program would be blocked until the download finishes, making the application unresponsive. With asynchronous programming, the download can start in the background, and the application can continue to perform other tasks while the download progresses.</a:t>
            </a:r>
          </a:p>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54</a:t>
            </a:fld>
            <a:endParaRPr lang="en-US"/>
          </a:p>
        </p:txBody>
      </p:sp>
    </p:spTree>
    <p:extLst>
      <p:ext uri="{BB962C8B-B14F-4D97-AF65-F5344CB8AC3E}">
        <p14:creationId xmlns:p14="http://schemas.microsoft.com/office/powerpoint/2010/main" val="13909874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55</a:t>
            </a:fld>
            <a:endParaRPr lang="en-US"/>
          </a:p>
        </p:txBody>
      </p:sp>
    </p:spTree>
    <p:extLst>
      <p:ext uri="{BB962C8B-B14F-4D97-AF65-F5344CB8AC3E}">
        <p14:creationId xmlns:p14="http://schemas.microsoft.com/office/powerpoint/2010/main" val="25663914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56</a:t>
            </a:fld>
            <a:endParaRPr lang="en-US"/>
          </a:p>
        </p:txBody>
      </p:sp>
    </p:spTree>
    <p:extLst>
      <p:ext uri="{BB962C8B-B14F-4D97-AF65-F5344CB8AC3E}">
        <p14:creationId xmlns:p14="http://schemas.microsoft.com/office/powerpoint/2010/main" val="2170724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57</a:t>
            </a:fld>
            <a:endParaRPr lang="en-US"/>
          </a:p>
        </p:txBody>
      </p:sp>
    </p:spTree>
    <p:extLst>
      <p:ext uri="{BB962C8B-B14F-4D97-AF65-F5344CB8AC3E}">
        <p14:creationId xmlns:p14="http://schemas.microsoft.com/office/powerpoint/2010/main" val="30128969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58</a:t>
            </a:fld>
            <a:endParaRPr lang="en-US"/>
          </a:p>
        </p:txBody>
      </p:sp>
    </p:spTree>
    <p:extLst>
      <p:ext uri="{BB962C8B-B14F-4D97-AF65-F5344CB8AC3E}">
        <p14:creationId xmlns:p14="http://schemas.microsoft.com/office/powerpoint/2010/main" val="14672388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59</a:t>
            </a:fld>
            <a:endParaRPr lang="en-US"/>
          </a:p>
        </p:txBody>
      </p:sp>
    </p:spTree>
    <p:extLst>
      <p:ext uri="{BB962C8B-B14F-4D97-AF65-F5344CB8AC3E}">
        <p14:creationId xmlns:p14="http://schemas.microsoft.com/office/powerpoint/2010/main" val="33331503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60</a:t>
            </a:fld>
            <a:endParaRPr lang="en-US"/>
          </a:p>
        </p:txBody>
      </p:sp>
    </p:spTree>
    <p:extLst>
      <p:ext uri="{BB962C8B-B14F-4D97-AF65-F5344CB8AC3E}">
        <p14:creationId xmlns:p14="http://schemas.microsoft.com/office/powerpoint/2010/main" val="37836250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61</a:t>
            </a:fld>
            <a:endParaRPr lang="en-US"/>
          </a:p>
        </p:txBody>
      </p:sp>
    </p:spTree>
    <p:extLst>
      <p:ext uri="{BB962C8B-B14F-4D97-AF65-F5344CB8AC3E}">
        <p14:creationId xmlns:p14="http://schemas.microsoft.com/office/powerpoint/2010/main" val="8800629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62</a:t>
            </a:fld>
            <a:endParaRPr lang="en-US"/>
          </a:p>
        </p:txBody>
      </p:sp>
    </p:spTree>
    <p:extLst>
      <p:ext uri="{BB962C8B-B14F-4D97-AF65-F5344CB8AC3E}">
        <p14:creationId xmlns:p14="http://schemas.microsoft.com/office/powerpoint/2010/main" val="39043226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63</a:t>
            </a:fld>
            <a:endParaRPr lang="en-US"/>
          </a:p>
        </p:txBody>
      </p:sp>
    </p:spTree>
    <p:extLst>
      <p:ext uri="{BB962C8B-B14F-4D97-AF65-F5344CB8AC3E}">
        <p14:creationId xmlns:p14="http://schemas.microsoft.com/office/powerpoint/2010/main" val="29430580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64</a:t>
            </a:fld>
            <a:endParaRPr lang="en-US"/>
          </a:p>
        </p:txBody>
      </p:sp>
    </p:spTree>
    <p:extLst>
      <p:ext uri="{BB962C8B-B14F-4D97-AF65-F5344CB8AC3E}">
        <p14:creationId xmlns:p14="http://schemas.microsoft.com/office/powerpoint/2010/main" val="160615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65</a:t>
            </a:fld>
            <a:endParaRPr lang="en-US"/>
          </a:p>
        </p:txBody>
      </p:sp>
    </p:spTree>
    <p:extLst>
      <p:ext uri="{BB962C8B-B14F-4D97-AF65-F5344CB8AC3E}">
        <p14:creationId xmlns:p14="http://schemas.microsoft.com/office/powerpoint/2010/main" val="6335107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66</a:t>
            </a:fld>
            <a:endParaRPr lang="en-US"/>
          </a:p>
        </p:txBody>
      </p:sp>
    </p:spTree>
    <p:extLst>
      <p:ext uri="{BB962C8B-B14F-4D97-AF65-F5344CB8AC3E}">
        <p14:creationId xmlns:p14="http://schemas.microsoft.com/office/powerpoint/2010/main" val="5962595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67</a:t>
            </a:fld>
            <a:endParaRPr lang="en-US"/>
          </a:p>
        </p:txBody>
      </p:sp>
    </p:spTree>
    <p:extLst>
      <p:ext uri="{BB962C8B-B14F-4D97-AF65-F5344CB8AC3E}">
        <p14:creationId xmlns:p14="http://schemas.microsoft.com/office/powerpoint/2010/main" val="6546167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68</a:t>
            </a:fld>
            <a:endParaRPr lang="en-US"/>
          </a:p>
        </p:txBody>
      </p:sp>
    </p:spTree>
    <p:extLst>
      <p:ext uri="{BB962C8B-B14F-4D97-AF65-F5344CB8AC3E}">
        <p14:creationId xmlns:p14="http://schemas.microsoft.com/office/powerpoint/2010/main" val="5899440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69</a:t>
            </a:fld>
            <a:endParaRPr lang="en-US"/>
          </a:p>
        </p:txBody>
      </p:sp>
    </p:spTree>
    <p:extLst>
      <p:ext uri="{BB962C8B-B14F-4D97-AF65-F5344CB8AC3E}">
        <p14:creationId xmlns:p14="http://schemas.microsoft.com/office/powerpoint/2010/main" val="168855691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70</a:t>
            </a:fld>
            <a:endParaRPr lang="en-US"/>
          </a:p>
        </p:txBody>
      </p:sp>
    </p:spTree>
    <p:extLst>
      <p:ext uri="{BB962C8B-B14F-4D97-AF65-F5344CB8AC3E}">
        <p14:creationId xmlns:p14="http://schemas.microsoft.com/office/powerpoint/2010/main" val="29956146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71</a:t>
            </a:fld>
            <a:endParaRPr lang="en-US"/>
          </a:p>
        </p:txBody>
      </p:sp>
    </p:spTree>
    <p:extLst>
      <p:ext uri="{BB962C8B-B14F-4D97-AF65-F5344CB8AC3E}">
        <p14:creationId xmlns:p14="http://schemas.microsoft.com/office/powerpoint/2010/main" val="36500163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72</a:t>
            </a:fld>
            <a:endParaRPr lang="en-US"/>
          </a:p>
        </p:txBody>
      </p:sp>
    </p:spTree>
    <p:extLst>
      <p:ext uri="{BB962C8B-B14F-4D97-AF65-F5344CB8AC3E}">
        <p14:creationId xmlns:p14="http://schemas.microsoft.com/office/powerpoint/2010/main" val="14550650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73</a:t>
            </a:fld>
            <a:endParaRPr lang="en-US"/>
          </a:p>
        </p:txBody>
      </p:sp>
    </p:spTree>
    <p:extLst>
      <p:ext uri="{BB962C8B-B14F-4D97-AF65-F5344CB8AC3E}">
        <p14:creationId xmlns:p14="http://schemas.microsoft.com/office/powerpoint/2010/main" val="6804134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74</a:t>
            </a:fld>
            <a:endParaRPr lang="en-US"/>
          </a:p>
        </p:txBody>
      </p:sp>
    </p:spTree>
    <p:extLst>
      <p:ext uri="{BB962C8B-B14F-4D97-AF65-F5344CB8AC3E}">
        <p14:creationId xmlns:p14="http://schemas.microsoft.com/office/powerpoint/2010/main" val="26450648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75</a:t>
            </a:fld>
            <a:endParaRPr lang="en-US"/>
          </a:p>
        </p:txBody>
      </p:sp>
    </p:spTree>
    <p:extLst>
      <p:ext uri="{BB962C8B-B14F-4D97-AF65-F5344CB8AC3E}">
        <p14:creationId xmlns:p14="http://schemas.microsoft.com/office/powerpoint/2010/main" val="2233897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76</a:t>
            </a:fld>
            <a:endParaRPr lang="en-US"/>
          </a:p>
        </p:txBody>
      </p:sp>
    </p:spTree>
    <p:extLst>
      <p:ext uri="{BB962C8B-B14F-4D97-AF65-F5344CB8AC3E}">
        <p14:creationId xmlns:p14="http://schemas.microsoft.com/office/powerpoint/2010/main" val="11917739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77</a:t>
            </a:fld>
            <a:endParaRPr lang="en-US"/>
          </a:p>
        </p:txBody>
      </p:sp>
    </p:spTree>
    <p:extLst>
      <p:ext uri="{BB962C8B-B14F-4D97-AF65-F5344CB8AC3E}">
        <p14:creationId xmlns:p14="http://schemas.microsoft.com/office/powerpoint/2010/main" val="144392869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78</a:t>
            </a:fld>
            <a:endParaRPr lang="en-US"/>
          </a:p>
        </p:txBody>
      </p:sp>
    </p:spTree>
    <p:extLst>
      <p:ext uri="{BB962C8B-B14F-4D97-AF65-F5344CB8AC3E}">
        <p14:creationId xmlns:p14="http://schemas.microsoft.com/office/powerpoint/2010/main" val="1033545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79</a:t>
            </a:fld>
            <a:endParaRPr lang="en-US"/>
          </a:p>
        </p:txBody>
      </p:sp>
    </p:spTree>
    <p:extLst>
      <p:ext uri="{BB962C8B-B14F-4D97-AF65-F5344CB8AC3E}">
        <p14:creationId xmlns:p14="http://schemas.microsoft.com/office/powerpoint/2010/main" val="26277002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80</a:t>
            </a:fld>
            <a:endParaRPr lang="en-US"/>
          </a:p>
        </p:txBody>
      </p:sp>
    </p:spTree>
    <p:extLst>
      <p:ext uri="{BB962C8B-B14F-4D97-AF65-F5344CB8AC3E}">
        <p14:creationId xmlns:p14="http://schemas.microsoft.com/office/powerpoint/2010/main" val="40750238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81</a:t>
            </a:fld>
            <a:endParaRPr lang="en-US"/>
          </a:p>
        </p:txBody>
      </p:sp>
    </p:spTree>
    <p:extLst>
      <p:ext uri="{BB962C8B-B14F-4D97-AF65-F5344CB8AC3E}">
        <p14:creationId xmlns:p14="http://schemas.microsoft.com/office/powerpoint/2010/main" val="25461670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82</a:t>
            </a:fld>
            <a:endParaRPr lang="en-US"/>
          </a:p>
        </p:txBody>
      </p:sp>
    </p:spTree>
    <p:extLst>
      <p:ext uri="{BB962C8B-B14F-4D97-AF65-F5344CB8AC3E}">
        <p14:creationId xmlns:p14="http://schemas.microsoft.com/office/powerpoint/2010/main" val="21447989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83</a:t>
            </a:fld>
            <a:endParaRPr lang="en-US"/>
          </a:p>
        </p:txBody>
      </p:sp>
    </p:spTree>
    <p:extLst>
      <p:ext uri="{BB962C8B-B14F-4D97-AF65-F5344CB8AC3E}">
        <p14:creationId xmlns:p14="http://schemas.microsoft.com/office/powerpoint/2010/main" val="316985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84</a:t>
            </a:fld>
            <a:endParaRPr lang="en-US"/>
          </a:p>
        </p:txBody>
      </p:sp>
    </p:spTree>
    <p:extLst>
      <p:ext uri="{BB962C8B-B14F-4D97-AF65-F5344CB8AC3E}">
        <p14:creationId xmlns:p14="http://schemas.microsoft.com/office/powerpoint/2010/main" val="4224358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85</a:t>
            </a:fld>
            <a:endParaRPr lang="en-US"/>
          </a:p>
        </p:txBody>
      </p:sp>
    </p:spTree>
    <p:extLst>
      <p:ext uri="{BB962C8B-B14F-4D97-AF65-F5344CB8AC3E}">
        <p14:creationId xmlns:p14="http://schemas.microsoft.com/office/powerpoint/2010/main" val="10382688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86</a:t>
            </a:fld>
            <a:endParaRPr lang="en-US"/>
          </a:p>
        </p:txBody>
      </p:sp>
    </p:spTree>
    <p:extLst>
      <p:ext uri="{BB962C8B-B14F-4D97-AF65-F5344CB8AC3E}">
        <p14:creationId xmlns:p14="http://schemas.microsoft.com/office/powerpoint/2010/main" val="290163746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87</a:t>
            </a:fld>
            <a:endParaRPr lang="en-US"/>
          </a:p>
        </p:txBody>
      </p:sp>
    </p:spTree>
    <p:extLst>
      <p:ext uri="{BB962C8B-B14F-4D97-AF65-F5344CB8AC3E}">
        <p14:creationId xmlns:p14="http://schemas.microsoft.com/office/powerpoint/2010/main" val="27931451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88</a:t>
            </a:fld>
            <a:endParaRPr lang="en-US"/>
          </a:p>
        </p:txBody>
      </p:sp>
    </p:spTree>
    <p:extLst>
      <p:ext uri="{BB962C8B-B14F-4D97-AF65-F5344CB8AC3E}">
        <p14:creationId xmlns:p14="http://schemas.microsoft.com/office/powerpoint/2010/main" val="63797559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89</a:t>
            </a:fld>
            <a:endParaRPr lang="en-US"/>
          </a:p>
        </p:txBody>
      </p:sp>
    </p:spTree>
    <p:extLst>
      <p:ext uri="{BB962C8B-B14F-4D97-AF65-F5344CB8AC3E}">
        <p14:creationId xmlns:p14="http://schemas.microsoft.com/office/powerpoint/2010/main" val="13536201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90</a:t>
            </a:fld>
            <a:endParaRPr lang="en-US"/>
          </a:p>
        </p:txBody>
      </p:sp>
    </p:spTree>
    <p:extLst>
      <p:ext uri="{BB962C8B-B14F-4D97-AF65-F5344CB8AC3E}">
        <p14:creationId xmlns:p14="http://schemas.microsoft.com/office/powerpoint/2010/main" val="41093159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91</a:t>
            </a:fld>
            <a:endParaRPr lang="en-US"/>
          </a:p>
        </p:txBody>
      </p:sp>
    </p:spTree>
    <p:extLst>
      <p:ext uri="{BB962C8B-B14F-4D97-AF65-F5344CB8AC3E}">
        <p14:creationId xmlns:p14="http://schemas.microsoft.com/office/powerpoint/2010/main" val="91509505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92</a:t>
            </a:fld>
            <a:endParaRPr lang="en-US"/>
          </a:p>
        </p:txBody>
      </p:sp>
    </p:spTree>
    <p:extLst>
      <p:ext uri="{BB962C8B-B14F-4D97-AF65-F5344CB8AC3E}">
        <p14:creationId xmlns:p14="http://schemas.microsoft.com/office/powerpoint/2010/main" val="2494009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93</a:t>
            </a:fld>
            <a:endParaRPr lang="en-US"/>
          </a:p>
        </p:txBody>
      </p:sp>
    </p:spTree>
    <p:extLst>
      <p:ext uri="{BB962C8B-B14F-4D97-AF65-F5344CB8AC3E}">
        <p14:creationId xmlns:p14="http://schemas.microsoft.com/office/powerpoint/2010/main" val="36288096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94</a:t>
            </a:fld>
            <a:endParaRPr lang="en-US"/>
          </a:p>
        </p:txBody>
      </p:sp>
    </p:spTree>
    <p:extLst>
      <p:ext uri="{BB962C8B-B14F-4D97-AF65-F5344CB8AC3E}">
        <p14:creationId xmlns:p14="http://schemas.microsoft.com/office/powerpoint/2010/main" val="10167655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95</a:t>
            </a:fld>
            <a:endParaRPr lang="en-US"/>
          </a:p>
        </p:txBody>
      </p:sp>
    </p:spTree>
    <p:extLst>
      <p:ext uri="{BB962C8B-B14F-4D97-AF65-F5344CB8AC3E}">
        <p14:creationId xmlns:p14="http://schemas.microsoft.com/office/powerpoint/2010/main" val="413599310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96</a:t>
            </a:fld>
            <a:endParaRPr lang="en-US"/>
          </a:p>
        </p:txBody>
      </p:sp>
    </p:spTree>
    <p:extLst>
      <p:ext uri="{BB962C8B-B14F-4D97-AF65-F5344CB8AC3E}">
        <p14:creationId xmlns:p14="http://schemas.microsoft.com/office/powerpoint/2010/main" val="123608057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97</a:t>
            </a:fld>
            <a:endParaRPr lang="en-US"/>
          </a:p>
        </p:txBody>
      </p:sp>
    </p:spTree>
    <p:extLst>
      <p:ext uri="{BB962C8B-B14F-4D97-AF65-F5344CB8AC3E}">
        <p14:creationId xmlns:p14="http://schemas.microsoft.com/office/powerpoint/2010/main" val="213330780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98</a:t>
            </a:fld>
            <a:endParaRPr lang="en-US"/>
          </a:p>
        </p:txBody>
      </p:sp>
    </p:spTree>
    <p:extLst>
      <p:ext uri="{BB962C8B-B14F-4D97-AF65-F5344CB8AC3E}">
        <p14:creationId xmlns:p14="http://schemas.microsoft.com/office/powerpoint/2010/main" val="345707276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976209C-F82F-8948-8964-C389942C0FEE}" type="slidenum">
              <a:rPr lang="en-US" smtClean="0"/>
              <a:t>99</a:t>
            </a:fld>
            <a:endParaRPr lang="en-US"/>
          </a:p>
        </p:txBody>
      </p:sp>
    </p:spTree>
    <p:extLst>
      <p:ext uri="{BB962C8B-B14F-4D97-AF65-F5344CB8AC3E}">
        <p14:creationId xmlns:p14="http://schemas.microsoft.com/office/powerpoint/2010/main" val="17015943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100</a:t>
            </a:fld>
            <a:endParaRPr lang="en-US"/>
          </a:p>
        </p:txBody>
      </p:sp>
    </p:spTree>
    <p:extLst>
      <p:ext uri="{BB962C8B-B14F-4D97-AF65-F5344CB8AC3E}">
        <p14:creationId xmlns:p14="http://schemas.microsoft.com/office/powerpoint/2010/main" val="206954400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101</a:t>
            </a:fld>
            <a:endParaRPr lang="en-US"/>
          </a:p>
        </p:txBody>
      </p:sp>
    </p:spTree>
    <p:extLst>
      <p:ext uri="{BB962C8B-B14F-4D97-AF65-F5344CB8AC3E}">
        <p14:creationId xmlns:p14="http://schemas.microsoft.com/office/powerpoint/2010/main" val="295534246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102</a:t>
            </a:fld>
            <a:endParaRPr lang="en-US"/>
          </a:p>
        </p:txBody>
      </p:sp>
    </p:spTree>
    <p:extLst>
      <p:ext uri="{BB962C8B-B14F-4D97-AF65-F5344CB8AC3E}">
        <p14:creationId xmlns:p14="http://schemas.microsoft.com/office/powerpoint/2010/main" val="170318682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103</a:t>
            </a:fld>
            <a:endParaRPr lang="en-US"/>
          </a:p>
        </p:txBody>
      </p:sp>
    </p:spTree>
    <p:extLst>
      <p:ext uri="{BB962C8B-B14F-4D97-AF65-F5344CB8AC3E}">
        <p14:creationId xmlns:p14="http://schemas.microsoft.com/office/powerpoint/2010/main" val="267116629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104</a:t>
            </a:fld>
            <a:endParaRPr lang="en-US"/>
          </a:p>
        </p:txBody>
      </p:sp>
    </p:spTree>
    <p:extLst>
      <p:ext uri="{BB962C8B-B14F-4D97-AF65-F5344CB8AC3E}">
        <p14:creationId xmlns:p14="http://schemas.microsoft.com/office/powerpoint/2010/main" val="267746707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105</a:t>
            </a:fld>
            <a:endParaRPr lang="en-US"/>
          </a:p>
        </p:txBody>
      </p:sp>
    </p:spTree>
    <p:extLst>
      <p:ext uri="{BB962C8B-B14F-4D97-AF65-F5344CB8AC3E}">
        <p14:creationId xmlns:p14="http://schemas.microsoft.com/office/powerpoint/2010/main" val="184797368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hlinkClick r:id="rId3"/>
            </a:endParaRPr>
          </a:p>
        </p:txBody>
      </p:sp>
      <p:sp>
        <p:nvSpPr>
          <p:cNvPr id="4" name="Slide Number Placeholder 3"/>
          <p:cNvSpPr>
            <a:spLocks noGrp="1"/>
          </p:cNvSpPr>
          <p:nvPr>
            <p:ph type="sldNum" sz="quarter" idx="5"/>
          </p:nvPr>
        </p:nvSpPr>
        <p:spPr/>
        <p:txBody>
          <a:bodyPr/>
          <a:lstStyle/>
          <a:p>
            <a:fld id="{C976209C-F82F-8948-8964-C389942C0FEE}" type="slidenum">
              <a:rPr lang="en-US" smtClean="0"/>
              <a:t>106</a:t>
            </a:fld>
            <a:endParaRPr lang="en-US"/>
          </a:p>
        </p:txBody>
      </p:sp>
    </p:spTree>
    <p:extLst>
      <p:ext uri="{BB962C8B-B14F-4D97-AF65-F5344CB8AC3E}">
        <p14:creationId xmlns:p14="http://schemas.microsoft.com/office/powerpoint/2010/main" val="2008374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rgbClr val="FFD4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rgbClr val="354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Desk">
            <a:extLst>
              <a:ext uri="{FF2B5EF4-FFF2-40B4-BE49-F238E27FC236}">
                <a16:creationId xmlns:a16="http://schemas.microsoft.com/office/drawing/2014/main" id="{E27D44A2-A855-473C-B54D-D4A64176E95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25737" y="4722720"/>
            <a:ext cx="2280699" cy="2280699"/>
          </a:xfrm>
          <a:prstGeom prst="rect">
            <a:avLst/>
          </a:prstGeom>
        </p:spPr>
      </p:pic>
      <p:sp>
        <p:nvSpPr>
          <p:cNvPr id="11" name="TextBox 10">
            <a:extLst>
              <a:ext uri="{FF2B5EF4-FFF2-40B4-BE49-F238E27FC236}">
                <a16:creationId xmlns:a16="http://schemas.microsoft.com/office/drawing/2014/main" id="{685D626D-0FAA-4C09-83B9-8A2C5628EA53}"/>
              </a:ext>
            </a:extLst>
          </p:cNvPr>
          <p:cNvSpPr txBox="1"/>
          <p:nvPr userDrawn="1"/>
        </p:nvSpPr>
        <p:spPr>
          <a:xfrm>
            <a:off x="180305" y="2092444"/>
            <a:ext cx="2243809" cy="346249"/>
          </a:xfrm>
          <a:prstGeom prst="rect">
            <a:avLst/>
          </a:prstGeom>
          <a:noFill/>
          <a:ln>
            <a:noFill/>
          </a:ln>
        </p:spPr>
        <p:txBody>
          <a:bodyPr wrap="square" rtlCol="0">
            <a:spAutoFit/>
          </a:bodyPr>
          <a:lstStyle>
            <a:defPPr>
              <a:defRPr lang="en-US"/>
            </a:defPPr>
            <a:lvl1pPr>
              <a:defRPr sz="1650" b="0">
                <a:ln>
                  <a:solidFill>
                    <a:schemeClr val="bg1">
                      <a:lumMod val="75000"/>
                    </a:schemeClr>
                  </a:solidFill>
                </a:ln>
                <a:solidFill>
                  <a:srgbClr val="35408E"/>
                </a:solidFill>
                <a:latin typeface="Eras Bold ITC" panose="020B0907030504020204" pitchFamily="34" charset="0"/>
              </a:defRPr>
            </a:lvl1pPr>
          </a:lstStyle>
          <a:p>
            <a:pPr lvl="0" algn="ctr"/>
            <a:r>
              <a:rPr lang="en-US" dirty="0">
                <a:latin typeface="Eras Demi ITC" panose="020B0805030504020804" pitchFamily="34" charset="0"/>
              </a:rPr>
              <a:t>MODULE  G    ALS</a:t>
            </a:r>
          </a:p>
        </p:txBody>
      </p:sp>
      <p:sp>
        <p:nvSpPr>
          <p:cNvPr id="12" name="Text Placeholder 7">
            <a:extLst>
              <a:ext uri="{FF2B5EF4-FFF2-40B4-BE49-F238E27FC236}">
                <a16:creationId xmlns:a16="http://schemas.microsoft.com/office/drawing/2014/main" id="{0B18BDC0-7AC5-48B0-926A-E7D1434DA89D}"/>
              </a:ext>
            </a:extLst>
          </p:cNvPr>
          <p:cNvSpPr>
            <a:spLocks noGrp="1"/>
          </p:cNvSpPr>
          <p:nvPr>
            <p:ph type="body" sz="quarter" idx="13"/>
          </p:nvPr>
        </p:nvSpPr>
        <p:spPr>
          <a:xfrm>
            <a:off x="334774" y="2405337"/>
            <a:ext cx="2105920" cy="2254250"/>
          </a:xfrm>
        </p:spPr>
        <p:txBody>
          <a:bodyPr>
            <a:noAutofit/>
          </a:bodyPr>
          <a:lstStyle>
            <a:lvl1pPr marL="142306" indent="-142306">
              <a:buFontTx/>
              <a:buBlip>
                <a:blip>
                  <a:extLst>
                    <a:ext uri="{96DAC541-7B7A-43D3-8B79-37D633B846F1}">
                      <asvg:svgBlip xmlns:asvg="http://schemas.microsoft.com/office/drawing/2016/SVG/main" r:embed="rId3"/>
                    </a:ext>
                  </a:extLst>
                </a:blip>
              </a:buBlip>
              <a:defRPr sz="1300">
                <a:solidFill>
                  <a:srgbClr val="35408E"/>
                </a:solidFill>
              </a:defRPr>
            </a:lvl1pPr>
            <a:lvl2pPr marL="426917" indent="-142306">
              <a:buFontTx/>
              <a:buBlip>
                <a:blip>
                  <a:extLst>
                    <a:ext uri="{96DAC541-7B7A-43D3-8B79-37D633B846F1}">
                      <asvg:svgBlip xmlns:asvg="http://schemas.microsoft.com/office/drawing/2016/SVG/main" r:embed="rId3"/>
                    </a:ext>
                  </a:extLst>
                </a:blip>
              </a:buBlip>
              <a:defRPr sz="1300">
                <a:solidFill>
                  <a:srgbClr val="35408E"/>
                </a:solidFill>
              </a:defRPr>
            </a:lvl2pPr>
            <a:lvl3pPr marL="711528" indent="-142306">
              <a:buFontTx/>
              <a:buBlip>
                <a:blip>
                  <a:extLst>
                    <a:ext uri="{96DAC541-7B7A-43D3-8B79-37D633B846F1}">
                      <asvg:svgBlip xmlns:asvg="http://schemas.microsoft.com/office/drawing/2016/SVG/main" r:embed="rId3"/>
                    </a:ext>
                  </a:extLst>
                </a:blip>
              </a:buBlip>
              <a:defRPr sz="1300">
                <a:solidFill>
                  <a:srgbClr val="35408E"/>
                </a:solidFill>
              </a:defRPr>
            </a:lvl3pPr>
            <a:lvl4pPr marL="996140" indent="-142306">
              <a:buFontTx/>
              <a:buBlip>
                <a:blip>
                  <a:extLst>
                    <a:ext uri="{96DAC541-7B7A-43D3-8B79-37D633B846F1}">
                      <asvg:svgBlip xmlns:asvg="http://schemas.microsoft.com/office/drawing/2016/SVG/main" r:embed="rId3"/>
                    </a:ext>
                  </a:extLst>
                </a:blip>
              </a:buBlip>
              <a:defRPr sz="1300">
                <a:solidFill>
                  <a:srgbClr val="35408E"/>
                </a:solidFill>
              </a:defRPr>
            </a:lvl4pPr>
            <a:lvl5pPr marL="1280750" indent="-142306">
              <a:buFontTx/>
              <a:buBlip>
                <a:blip>
                  <a:extLst>
                    <a:ext uri="{96DAC541-7B7A-43D3-8B79-37D633B846F1}">
                      <asvg:svgBlip xmlns:asvg="http://schemas.microsoft.com/office/drawing/2016/SVG/main" r:embed="rId3"/>
                    </a:ext>
                  </a:extLst>
                </a:blip>
              </a:buBlip>
              <a:defRPr sz="1300">
                <a:solidFill>
                  <a:srgbClr val="35408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Graphic 12" descr="Target">
            <a:extLst>
              <a:ext uri="{FF2B5EF4-FFF2-40B4-BE49-F238E27FC236}">
                <a16:creationId xmlns:a16="http://schemas.microsoft.com/office/drawing/2014/main" id="{55D6439B-5271-491B-9B76-299133CF2E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77465" y="2147153"/>
            <a:ext cx="258185" cy="258185"/>
          </a:xfrm>
          <a:prstGeom prst="rect">
            <a:avLst/>
          </a:prstGeom>
        </p:spPr>
      </p:pic>
      <p:sp>
        <p:nvSpPr>
          <p:cNvPr id="14" name="TextBox 13">
            <a:extLst>
              <a:ext uri="{FF2B5EF4-FFF2-40B4-BE49-F238E27FC236}">
                <a16:creationId xmlns:a16="http://schemas.microsoft.com/office/drawing/2014/main" id="{2AF9EE84-7BE5-4FA0-935F-72C5D3BF4589}"/>
              </a:ext>
            </a:extLst>
          </p:cNvPr>
          <p:cNvSpPr txBox="1"/>
          <p:nvPr userDrawn="1"/>
        </p:nvSpPr>
        <p:spPr>
          <a:xfrm>
            <a:off x="295974" y="202652"/>
            <a:ext cx="2182369" cy="346249"/>
          </a:xfrm>
          <a:prstGeom prst="rect">
            <a:avLst/>
          </a:prstGeom>
          <a:noFill/>
          <a:ln>
            <a:noFill/>
          </a:ln>
        </p:spPr>
        <p:txBody>
          <a:bodyPr wrap="square" rtlCol="0">
            <a:spAutoFit/>
          </a:bodyPr>
          <a:lstStyle/>
          <a:p>
            <a:pPr algn="l"/>
            <a:r>
              <a:rPr lang="en-US" sz="1650" b="0" dirty="0">
                <a:ln>
                  <a:solidFill>
                    <a:schemeClr val="bg1">
                      <a:lumMod val="75000"/>
                    </a:schemeClr>
                  </a:solidFill>
                </a:ln>
                <a:solidFill>
                  <a:srgbClr val="35408E"/>
                </a:solidFill>
                <a:latin typeface="Eras Bold ITC" panose="020B0907030504020204" pitchFamily="34" charset="0"/>
              </a:rPr>
              <a:t>MODULE</a:t>
            </a:r>
          </a:p>
        </p:txBody>
      </p:sp>
      <p:sp>
        <p:nvSpPr>
          <p:cNvPr id="15" name="Text Placeholder 29">
            <a:extLst>
              <a:ext uri="{FF2B5EF4-FFF2-40B4-BE49-F238E27FC236}">
                <a16:creationId xmlns:a16="http://schemas.microsoft.com/office/drawing/2014/main" id="{8727F8C8-33E6-4AD9-ACE6-1F5A95002912}"/>
              </a:ext>
            </a:extLst>
          </p:cNvPr>
          <p:cNvSpPr>
            <a:spLocks noGrp="1"/>
          </p:cNvSpPr>
          <p:nvPr>
            <p:ph type="body" sz="quarter" idx="16" hasCustomPrompt="1"/>
          </p:nvPr>
        </p:nvSpPr>
        <p:spPr>
          <a:xfrm>
            <a:off x="450851" y="571501"/>
            <a:ext cx="1738313" cy="1362075"/>
          </a:xfrm>
        </p:spPr>
        <p:txBody>
          <a:bodyPr anchor="ctr">
            <a:noAutofit/>
          </a:bodyPr>
          <a:lstStyle>
            <a:lvl1pPr marL="142306" indent="-142306" algn="ctr">
              <a:buFont typeface="Eras Bold ITC" panose="020B0907030504020204" pitchFamily="34" charset="0"/>
              <a:buChar char="#"/>
              <a:defRPr sz="3600" b="1">
                <a:solidFill>
                  <a:srgbClr val="35408E"/>
                </a:solidFill>
                <a:latin typeface="Eras Bold ITC" panose="020B0907030504020204" pitchFamily="34" charset="0"/>
              </a:defRPr>
            </a:lvl1pPr>
            <a:lvl2pPr marL="426917" indent="-142306" algn="ctr">
              <a:buFont typeface="Eras Bold ITC" panose="020B0907030504020204" pitchFamily="34" charset="0"/>
              <a:buChar char="#"/>
              <a:defRPr sz="3600" b="1">
                <a:solidFill>
                  <a:srgbClr val="35408E"/>
                </a:solidFill>
                <a:latin typeface="Eras Bold ITC" panose="020B0907030504020204" pitchFamily="34" charset="0"/>
              </a:defRPr>
            </a:lvl2pPr>
            <a:lvl3pPr marL="1140722" indent="-571500" algn="ctr">
              <a:buFont typeface="Eras Bold ITC" panose="020B0907030504020204" pitchFamily="34" charset="0"/>
              <a:buChar char="#"/>
              <a:defRPr sz="3600" b="1">
                <a:solidFill>
                  <a:srgbClr val="35408E"/>
                </a:solidFill>
                <a:latin typeface="Eras Bold ITC" panose="020B0907030504020204" pitchFamily="34" charset="0"/>
              </a:defRPr>
            </a:lvl3pPr>
            <a:lvl4pPr marL="996140" indent="-142306" algn="ctr">
              <a:buFont typeface="Eras Bold ITC" panose="020B0907030504020204" pitchFamily="34" charset="0"/>
              <a:buChar char="#"/>
              <a:defRPr sz="3600" b="1">
                <a:solidFill>
                  <a:srgbClr val="35408E"/>
                </a:solidFill>
                <a:latin typeface="Eras Bold ITC" panose="020B0907030504020204" pitchFamily="34" charset="0"/>
              </a:defRPr>
            </a:lvl4pPr>
            <a:lvl5pPr marL="1280750" indent="-142306" algn="ctr">
              <a:buFont typeface="Eras Bold ITC" panose="020B0907030504020204" pitchFamily="34" charset="0"/>
              <a:buChar char="#"/>
              <a:defRPr sz="3600" b="1">
                <a:solidFill>
                  <a:srgbClr val="35408E"/>
                </a:solidFill>
                <a:latin typeface="Eras Bold ITC" panose="020B0907030504020204" pitchFamily="34" charset="0"/>
              </a:defRPr>
            </a:lvl5pPr>
          </a:lstStyle>
          <a:p>
            <a:pPr lvl="0"/>
            <a:r>
              <a:rPr lang="en-US" dirty="0"/>
              <a:t>#</a:t>
            </a:r>
          </a:p>
        </p:txBody>
      </p:sp>
    </p:spTree>
    <p:extLst>
      <p:ext uri="{BB962C8B-B14F-4D97-AF65-F5344CB8AC3E}">
        <p14:creationId xmlns:p14="http://schemas.microsoft.com/office/powerpoint/2010/main" val="91850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rgbClr val="FFD4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rgbClr val="354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Desk">
            <a:extLst>
              <a:ext uri="{FF2B5EF4-FFF2-40B4-BE49-F238E27FC236}">
                <a16:creationId xmlns:a16="http://schemas.microsoft.com/office/drawing/2014/main" id="{E27D44A2-A855-473C-B54D-D4A64176E95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25737" y="4722720"/>
            <a:ext cx="2280699" cy="2280699"/>
          </a:xfrm>
          <a:prstGeom prst="rect">
            <a:avLst/>
          </a:prstGeom>
        </p:spPr>
      </p:pic>
    </p:spTree>
    <p:extLst>
      <p:ext uri="{BB962C8B-B14F-4D97-AF65-F5344CB8AC3E}">
        <p14:creationId xmlns:p14="http://schemas.microsoft.com/office/powerpoint/2010/main" val="340825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1" name="Graphic 10" descr="Classroom">
            <a:extLst>
              <a:ext uri="{FF2B5EF4-FFF2-40B4-BE49-F238E27FC236}">
                <a16:creationId xmlns:a16="http://schemas.microsoft.com/office/drawing/2014/main" id="{194FA857-A1EE-466B-BDFF-82DD0329BC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7564" y="5140939"/>
            <a:ext cx="1717061" cy="1717061"/>
          </a:xfrm>
          <a:prstGeom prst="rect">
            <a:avLst/>
          </a:prstGeom>
        </p:spPr>
      </p:pic>
      <p:sp>
        <p:nvSpPr>
          <p:cNvPr id="15" name="TextBox 14">
            <a:extLst>
              <a:ext uri="{FF2B5EF4-FFF2-40B4-BE49-F238E27FC236}">
                <a16:creationId xmlns:a16="http://schemas.microsoft.com/office/drawing/2014/main" id="{FFEC02A5-0150-4082-9226-B27D56CD26B1}"/>
              </a:ext>
            </a:extLst>
          </p:cNvPr>
          <p:cNvSpPr txBox="1"/>
          <p:nvPr userDrawn="1"/>
        </p:nvSpPr>
        <p:spPr>
          <a:xfrm>
            <a:off x="-128840" y="1761364"/>
            <a:ext cx="2243809" cy="600164"/>
          </a:xfrm>
          <a:prstGeom prst="rect">
            <a:avLst/>
          </a:prstGeom>
          <a:noFill/>
          <a:ln>
            <a:noFill/>
          </a:ln>
        </p:spPr>
        <p:txBody>
          <a:bodyPr wrap="square" rtlCol="0">
            <a:spAutoFit/>
          </a:bodyPr>
          <a:lstStyle/>
          <a:p>
            <a:pPr algn="ctr"/>
            <a:r>
              <a:rPr lang="en-US" sz="1650" b="0" dirty="0">
                <a:ln>
                  <a:solidFill>
                    <a:schemeClr val="bg1">
                      <a:lumMod val="75000"/>
                    </a:schemeClr>
                  </a:solidFill>
                </a:ln>
                <a:solidFill>
                  <a:srgbClr val="002060"/>
                </a:solidFill>
                <a:latin typeface="Eras Demi ITC" panose="020B0805030504020804" pitchFamily="34" charset="0"/>
              </a:rPr>
              <a:t>LEARNING</a:t>
            </a:r>
          </a:p>
          <a:p>
            <a:pPr algn="ctr"/>
            <a:r>
              <a:rPr lang="en-US" sz="1650" b="0" dirty="0">
                <a:ln>
                  <a:solidFill>
                    <a:schemeClr val="bg1">
                      <a:lumMod val="75000"/>
                    </a:schemeClr>
                  </a:solidFill>
                </a:ln>
                <a:solidFill>
                  <a:srgbClr val="002060"/>
                </a:solidFill>
                <a:latin typeface="Eras Demi ITC" panose="020B0805030504020804" pitchFamily="34" charset="0"/>
              </a:rPr>
              <a:t>            OUTC    MES</a:t>
            </a:r>
          </a:p>
        </p:txBody>
      </p:sp>
      <p:sp>
        <p:nvSpPr>
          <p:cNvPr id="16" name="Text Placeholder 7">
            <a:extLst>
              <a:ext uri="{FF2B5EF4-FFF2-40B4-BE49-F238E27FC236}">
                <a16:creationId xmlns:a16="http://schemas.microsoft.com/office/drawing/2014/main" id="{8C3D1D5D-FAF6-4D14-8D45-90250B0CAC33}"/>
              </a:ext>
            </a:extLst>
          </p:cNvPr>
          <p:cNvSpPr>
            <a:spLocks noGrp="1"/>
          </p:cNvSpPr>
          <p:nvPr>
            <p:ph type="body" sz="quarter" idx="13"/>
          </p:nvPr>
        </p:nvSpPr>
        <p:spPr>
          <a:xfrm>
            <a:off x="334774" y="2431095"/>
            <a:ext cx="2105920" cy="2254250"/>
          </a:xfrm>
        </p:spPr>
        <p:txBody>
          <a:bodyPr>
            <a:noAutofit/>
          </a:bodyPr>
          <a:lstStyle>
            <a:lvl1pPr marL="142306" indent="-142306">
              <a:buFontTx/>
              <a:buBlip>
                <a:blip>
                  <a:extLst>
                    <a:ext uri="{96DAC541-7B7A-43D3-8B79-37D633B846F1}">
                      <asvg:svgBlip xmlns:asvg="http://schemas.microsoft.com/office/drawing/2016/SVG/main" r:embed="rId3"/>
                    </a:ext>
                  </a:extLst>
                </a:blip>
              </a:buBlip>
              <a:defRPr sz="1300"/>
            </a:lvl1pPr>
            <a:lvl2pPr marL="426917" indent="-142306">
              <a:buFontTx/>
              <a:buBlip>
                <a:blip>
                  <a:extLst>
                    <a:ext uri="{96DAC541-7B7A-43D3-8B79-37D633B846F1}">
                      <asvg:svgBlip xmlns:asvg="http://schemas.microsoft.com/office/drawing/2016/SVG/main" r:embed="rId3"/>
                    </a:ext>
                  </a:extLst>
                </a:blip>
              </a:buBlip>
              <a:defRPr sz="1300"/>
            </a:lvl2pPr>
            <a:lvl3pPr marL="711528" indent="-142306">
              <a:buFontTx/>
              <a:buBlip>
                <a:blip>
                  <a:extLst>
                    <a:ext uri="{96DAC541-7B7A-43D3-8B79-37D633B846F1}">
                      <asvg:svgBlip xmlns:asvg="http://schemas.microsoft.com/office/drawing/2016/SVG/main" r:embed="rId3"/>
                    </a:ext>
                  </a:extLst>
                </a:blip>
              </a:buBlip>
              <a:defRPr sz="1300"/>
            </a:lvl3pPr>
            <a:lvl4pPr marL="996140" indent="-142306">
              <a:buFontTx/>
              <a:buBlip>
                <a:blip>
                  <a:extLst>
                    <a:ext uri="{96DAC541-7B7A-43D3-8B79-37D633B846F1}">
                      <asvg:svgBlip xmlns:asvg="http://schemas.microsoft.com/office/drawing/2016/SVG/main" r:embed="rId3"/>
                    </a:ext>
                  </a:extLst>
                </a:blip>
              </a:buBlip>
              <a:defRPr sz="1300"/>
            </a:lvl4pPr>
            <a:lvl5pPr marL="1280750" indent="-142306">
              <a:buFontTx/>
              <a:buBlip>
                <a:blip>
                  <a:extLst>
                    <a:ext uri="{96DAC541-7B7A-43D3-8B79-37D633B846F1}">
                      <asvg:svgBlip xmlns:asvg="http://schemas.microsoft.com/office/drawing/2016/SVG/main" r:embed="rId3"/>
                    </a:ext>
                  </a:extLst>
                </a:blip>
              </a:buBlip>
              <a:defRPr sz="1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descr="Target">
            <a:extLst>
              <a:ext uri="{FF2B5EF4-FFF2-40B4-BE49-F238E27FC236}">
                <a16:creationId xmlns:a16="http://schemas.microsoft.com/office/drawing/2014/main" id="{C2CA0B7A-830F-4E8C-916E-D11713E87FB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5572" y="2060272"/>
            <a:ext cx="258185" cy="258185"/>
          </a:xfrm>
          <a:prstGeom prst="rect">
            <a:avLst/>
          </a:prstGeom>
        </p:spPr>
      </p:pic>
      <p:sp>
        <p:nvSpPr>
          <p:cNvPr id="18" name="TextBox 17">
            <a:extLst>
              <a:ext uri="{FF2B5EF4-FFF2-40B4-BE49-F238E27FC236}">
                <a16:creationId xmlns:a16="http://schemas.microsoft.com/office/drawing/2014/main" id="{26250F91-C30A-4F66-A99E-AEAE02552150}"/>
              </a:ext>
            </a:extLst>
          </p:cNvPr>
          <p:cNvSpPr txBox="1"/>
          <p:nvPr userDrawn="1"/>
        </p:nvSpPr>
        <p:spPr>
          <a:xfrm>
            <a:off x="284890" y="202652"/>
            <a:ext cx="2182369" cy="346249"/>
          </a:xfrm>
          <a:prstGeom prst="rect">
            <a:avLst/>
          </a:prstGeom>
          <a:noFill/>
          <a:ln>
            <a:noFill/>
          </a:ln>
        </p:spPr>
        <p:txBody>
          <a:bodyPr wrap="square" rtlCol="0">
            <a:spAutoFit/>
          </a:bodyPr>
          <a:lstStyle/>
          <a:p>
            <a:pPr algn="l"/>
            <a:r>
              <a:rPr lang="en-US" sz="1650" b="0" dirty="0">
                <a:ln>
                  <a:solidFill>
                    <a:schemeClr val="bg1">
                      <a:lumMod val="75000"/>
                    </a:schemeClr>
                  </a:solidFill>
                </a:ln>
                <a:solidFill>
                  <a:srgbClr val="002060"/>
                </a:solidFill>
                <a:latin typeface="Eras Bold ITC" panose="020B0907030504020204" pitchFamily="34" charset="0"/>
              </a:rPr>
              <a:t>LESSON</a:t>
            </a:r>
          </a:p>
        </p:txBody>
      </p:sp>
      <p:sp>
        <p:nvSpPr>
          <p:cNvPr id="19" name="Text Placeholder 29">
            <a:extLst>
              <a:ext uri="{FF2B5EF4-FFF2-40B4-BE49-F238E27FC236}">
                <a16:creationId xmlns:a16="http://schemas.microsoft.com/office/drawing/2014/main" id="{7D8108EE-B9C1-49A9-982F-FD8C20C1CDB1}"/>
              </a:ext>
            </a:extLst>
          </p:cNvPr>
          <p:cNvSpPr>
            <a:spLocks noGrp="1"/>
          </p:cNvSpPr>
          <p:nvPr>
            <p:ph type="body" sz="quarter" idx="16" hasCustomPrompt="1"/>
          </p:nvPr>
        </p:nvSpPr>
        <p:spPr>
          <a:xfrm>
            <a:off x="514908" y="595385"/>
            <a:ext cx="1600062" cy="1142578"/>
          </a:xfrm>
        </p:spPr>
        <p:txBody>
          <a:bodyPr anchor="ctr">
            <a:noAutofit/>
          </a:bodyPr>
          <a:lstStyle>
            <a:lvl1pPr marL="142306" indent="-142306" algn="ctr">
              <a:buFont typeface="Eras Bold ITC" panose="020B0907030504020204" pitchFamily="34" charset="0"/>
              <a:buChar char="#"/>
              <a:defRPr sz="3201" b="1">
                <a:solidFill>
                  <a:srgbClr val="002060"/>
                </a:solidFill>
                <a:latin typeface="Eras Bold ITC" panose="020B0907030504020204" pitchFamily="34" charset="0"/>
              </a:defRPr>
            </a:lvl1pPr>
            <a:lvl2pPr marL="426917" indent="-142306" algn="ctr">
              <a:buFont typeface="Eras Bold ITC" panose="020B0907030504020204" pitchFamily="34" charset="0"/>
              <a:buChar char="#"/>
              <a:defRPr sz="3201" b="1">
                <a:solidFill>
                  <a:srgbClr val="002060"/>
                </a:solidFill>
                <a:latin typeface="Eras Bold ITC" panose="020B0907030504020204" pitchFamily="34" charset="0"/>
              </a:defRPr>
            </a:lvl2pPr>
            <a:lvl3pPr marL="1026422" indent="-457200" algn="ctr">
              <a:buFont typeface="Eras Bold ITC" panose="020B0907030504020204" pitchFamily="34" charset="0"/>
              <a:buChar char="#"/>
              <a:defRPr sz="3201" b="1">
                <a:solidFill>
                  <a:srgbClr val="002060"/>
                </a:solidFill>
                <a:latin typeface="Eras Bold ITC" panose="020B0907030504020204" pitchFamily="34" charset="0"/>
              </a:defRPr>
            </a:lvl3pPr>
            <a:lvl4pPr marL="996140" indent="-142306" algn="ctr">
              <a:buFont typeface="Eras Bold ITC" panose="020B0907030504020204" pitchFamily="34" charset="0"/>
              <a:buChar char="#"/>
              <a:defRPr sz="3201" b="1">
                <a:solidFill>
                  <a:srgbClr val="002060"/>
                </a:solidFill>
                <a:latin typeface="Eras Bold ITC" panose="020B0907030504020204" pitchFamily="34" charset="0"/>
              </a:defRPr>
            </a:lvl4pPr>
            <a:lvl5pPr marL="1280750" indent="-142306" algn="ctr">
              <a:buFont typeface="Eras Bold ITC" panose="020B0907030504020204" pitchFamily="34" charset="0"/>
              <a:buChar char="#"/>
              <a:defRPr sz="3201" b="1">
                <a:solidFill>
                  <a:srgbClr val="002060"/>
                </a:solidFill>
                <a:latin typeface="Eras Bold ITC" panose="020B0907030504020204" pitchFamily="34" charset="0"/>
              </a:defRPr>
            </a:lvl5pPr>
          </a:lstStyle>
          <a:p>
            <a:pPr lvl="0"/>
            <a:r>
              <a:rPr lang="en-US" dirty="0"/>
              <a:t>#</a:t>
            </a:r>
          </a:p>
        </p:txBody>
      </p:sp>
    </p:spTree>
    <p:extLst>
      <p:ext uri="{BB962C8B-B14F-4D97-AF65-F5344CB8AC3E}">
        <p14:creationId xmlns:p14="http://schemas.microsoft.com/office/powerpoint/2010/main" val="389707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1" name="Graphic 10" descr="Classroom">
            <a:extLst>
              <a:ext uri="{FF2B5EF4-FFF2-40B4-BE49-F238E27FC236}">
                <a16:creationId xmlns:a16="http://schemas.microsoft.com/office/drawing/2014/main" id="{194FA857-A1EE-466B-BDFF-82DD0329BCC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7564" y="5140939"/>
            <a:ext cx="1717061" cy="1717061"/>
          </a:xfrm>
          <a:prstGeom prst="rect">
            <a:avLst/>
          </a:prstGeom>
        </p:spPr>
      </p:pic>
    </p:spTree>
    <p:extLst>
      <p:ext uri="{BB962C8B-B14F-4D97-AF65-F5344CB8AC3E}">
        <p14:creationId xmlns:p14="http://schemas.microsoft.com/office/powerpoint/2010/main" val="402569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72E1DB-094E-40F5-B6CA-6AC96B50030F}"/>
              </a:ext>
            </a:extLst>
          </p:cNvPr>
          <p:cNvSpPr/>
          <p:nvPr userDrawn="1"/>
        </p:nvSpPr>
        <p:spPr>
          <a:xfrm>
            <a:off x="0" y="-5344"/>
            <a:ext cx="12192000" cy="47049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7" name="Rectangle 6">
            <a:extLst>
              <a:ext uri="{FF2B5EF4-FFF2-40B4-BE49-F238E27FC236}">
                <a16:creationId xmlns:a16="http://schemas.microsoft.com/office/drawing/2014/main" id="{FA2C8B7D-46CD-43C2-B5C9-9E5F496D69EA}"/>
              </a:ext>
            </a:extLst>
          </p:cNvPr>
          <p:cNvSpPr/>
          <p:nvPr userDrawn="1"/>
        </p:nvSpPr>
        <p:spPr>
          <a:xfrm>
            <a:off x="0" y="5809797"/>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8" name="Rectangle 7">
            <a:extLst>
              <a:ext uri="{FF2B5EF4-FFF2-40B4-BE49-F238E27FC236}">
                <a16:creationId xmlns:a16="http://schemas.microsoft.com/office/drawing/2014/main" id="{529D9EF8-9DAB-4A0A-A801-F9772A387793}"/>
              </a:ext>
            </a:extLst>
          </p:cNvPr>
          <p:cNvSpPr/>
          <p:nvPr userDrawn="1"/>
        </p:nvSpPr>
        <p:spPr>
          <a:xfrm>
            <a:off x="0" y="6750793"/>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38200" y="494472"/>
            <a:ext cx="10515600" cy="711373"/>
          </a:xfrm>
        </p:spPr>
        <p:txBody>
          <a:bodyPr/>
          <a:lstStyle>
            <a:lvl1pPr>
              <a:defRPr>
                <a:latin typeface="Clan-Medium" panose="02000503040000020004"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390840"/>
            <a:ext cx="10515600" cy="4061503"/>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8808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21AAE5-7C22-4B44-B831-57FCBC60927F}"/>
              </a:ext>
            </a:extLst>
          </p:cNvPr>
          <p:cNvGrpSpPr/>
          <p:nvPr userDrawn="1"/>
        </p:nvGrpSpPr>
        <p:grpSpPr>
          <a:xfrm flipV="1">
            <a:off x="0" y="0"/>
            <a:ext cx="12213594" cy="1056703"/>
            <a:chOff x="0" y="5809797"/>
            <a:chExt cx="12213594" cy="1056703"/>
          </a:xfrm>
        </p:grpSpPr>
        <p:sp>
          <p:nvSpPr>
            <p:cNvPr id="7" name="Rectangle 6">
              <a:extLst>
                <a:ext uri="{FF2B5EF4-FFF2-40B4-BE49-F238E27FC236}">
                  <a16:creationId xmlns:a16="http://schemas.microsoft.com/office/drawing/2014/main" id="{FA2C8B7D-46CD-43C2-B5C9-9E5F496D69EA}"/>
                </a:ext>
              </a:extLst>
            </p:cNvPr>
            <p:cNvSpPr/>
            <p:nvPr userDrawn="1"/>
          </p:nvSpPr>
          <p:spPr>
            <a:xfrm>
              <a:off x="0" y="5809797"/>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8" name="Rectangle 7">
              <a:extLst>
                <a:ext uri="{FF2B5EF4-FFF2-40B4-BE49-F238E27FC236}">
                  <a16:creationId xmlns:a16="http://schemas.microsoft.com/office/drawing/2014/main" id="{529D9EF8-9DAB-4A0A-A801-F9772A387793}"/>
                </a:ext>
              </a:extLst>
            </p:cNvPr>
            <p:cNvSpPr/>
            <p:nvPr userDrawn="1"/>
          </p:nvSpPr>
          <p:spPr>
            <a:xfrm>
              <a:off x="0" y="6750793"/>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48997" y="230518"/>
            <a:ext cx="10515600" cy="711373"/>
          </a:xfrm>
        </p:spPr>
        <p:txBody>
          <a:bodyPr/>
          <a:lstStyle>
            <a:lvl1pPr>
              <a:defRPr>
                <a:latin typeface="Clan-Medium" panose="02000503040000020004"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171514"/>
            <a:ext cx="10515600"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280189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1477287" y="230518"/>
            <a:ext cx="9887309" cy="711373"/>
          </a:xfrm>
        </p:spPr>
        <p:txBody>
          <a:bodyPr/>
          <a:lstStyle>
            <a:lvl1pPr>
              <a:defRPr>
                <a:latin typeface="Clan-Medium" panose="02000503040000020004"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1466490" y="1171514"/>
            <a:ext cx="9887309"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grpSp>
        <p:nvGrpSpPr>
          <p:cNvPr id="10" name="Group 9">
            <a:extLst>
              <a:ext uri="{FF2B5EF4-FFF2-40B4-BE49-F238E27FC236}">
                <a16:creationId xmlns:a16="http://schemas.microsoft.com/office/drawing/2014/main" id="{F1D7DAFE-16D9-4055-88FF-76567836F6F0}"/>
              </a:ext>
            </a:extLst>
          </p:cNvPr>
          <p:cNvGrpSpPr/>
          <p:nvPr userDrawn="1"/>
        </p:nvGrpSpPr>
        <p:grpSpPr>
          <a:xfrm rot="5400000" flipH="1">
            <a:off x="-2743201" y="2900647"/>
            <a:ext cx="6858000" cy="1056703"/>
            <a:chOff x="-416944" y="4961533"/>
            <a:chExt cx="12213594" cy="1056703"/>
          </a:xfrm>
        </p:grpSpPr>
        <p:sp>
          <p:nvSpPr>
            <p:cNvPr id="11" name="Rectangle 10">
              <a:extLst>
                <a:ext uri="{FF2B5EF4-FFF2-40B4-BE49-F238E27FC236}">
                  <a16:creationId xmlns:a16="http://schemas.microsoft.com/office/drawing/2014/main" id="{D8465EDF-454F-4668-A063-CEA8D37E0FFA}"/>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2" name="Rectangle 11">
              <a:extLst>
                <a:ext uri="{FF2B5EF4-FFF2-40B4-BE49-F238E27FC236}">
                  <a16:creationId xmlns:a16="http://schemas.microsoft.com/office/drawing/2014/main" id="{9F20E84F-46D2-480E-AB59-BD5178400EFF}"/>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Tree>
    <p:extLst>
      <p:ext uri="{BB962C8B-B14F-4D97-AF65-F5344CB8AC3E}">
        <p14:creationId xmlns:p14="http://schemas.microsoft.com/office/powerpoint/2010/main" val="1721698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4762500" y="0"/>
            <a:ext cx="7429500" cy="6858000"/>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a:off x="196505"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500119" y="368605"/>
            <a:ext cx="4113445" cy="2615664"/>
          </a:xfrm>
        </p:spPr>
        <p:txBody>
          <a:bodyPr anchor="b"/>
          <a:lstStyle>
            <a:lvl1pPr>
              <a:defRPr sz="6000">
                <a:latin typeface="Clan-Medium" panose="02000503040000020004"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500119" y="3082829"/>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Building Brick Wall">
            <a:extLst>
              <a:ext uri="{FF2B5EF4-FFF2-40B4-BE49-F238E27FC236}">
                <a16:creationId xmlns:a16="http://schemas.microsoft.com/office/drawing/2014/main" id="{01157D1D-AE29-477D-BAB3-EC3B2B88012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2282" y="5929073"/>
            <a:ext cx="1001074" cy="1001074"/>
          </a:xfrm>
          <a:prstGeom prst="rect">
            <a:avLst/>
          </a:prstGeom>
        </p:spPr>
      </p:pic>
    </p:spTree>
    <p:extLst>
      <p:ext uri="{BB962C8B-B14F-4D97-AF65-F5344CB8AC3E}">
        <p14:creationId xmlns:p14="http://schemas.microsoft.com/office/powerpoint/2010/main" val="3177367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E84532-7A49-4931-A28E-66E833AB0B42}"/>
              </a:ext>
            </a:extLst>
          </p:cNvPr>
          <p:cNvSpPr/>
          <p:nvPr userDrawn="1"/>
        </p:nvSpPr>
        <p:spPr>
          <a:xfrm>
            <a:off x="196504" y="5904683"/>
            <a:ext cx="11995495"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4762500" y="0"/>
            <a:ext cx="7429500" cy="5904683"/>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a:off x="196505"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500119" y="368605"/>
            <a:ext cx="4113445" cy="2615664"/>
          </a:xfrm>
        </p:spPr>
        <p:txBody>
          <a:bodyPr anchor="b"/>
          <a:lstStyle>
            <a:lvl1pPr>
              <a:defRPr sz="6000">
                <a:latin typeface="Clan-Medium" panose="02000503040000020004"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500119" y="3082829"/>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857226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0" y="0"/>
            <a:ext cx="7429500" cy="6858000"/>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flipH="1">
            <a:off x="7425439"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7600946" y="659357"/>
            <a:ext cx="4113445" cy="2615664"/>
          </a:xfrm>
        </p:spPr>
        <p:txBody>
          <a:bodyPr anchor="b"/>
          <a:lstStyle>
            <a:lvl1pPr>
              <a:defRPr sz="6000">
                <a:latin typeface="Clan-Medium" panose="02000503040000020004"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7600946" y="3373581"/>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25880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2C9A9BA-B0E6-4614-B392-E5EEC4D63C0C}"/>
              </a:ext>
            </a:extLst>
          </p:cNvPr>
          <p:cNvGrpSpPr/>
          <p:nvPr userDrawn="1"/>
        </p:nvGrpSpPr>
        <p:grpSpPr>
          <a:xfrm rot="5400000" flipH="1">
            <a:off x="-2743201" y="2900647"/>
            <a:ext cx="6858000" cy="1056703"/>
            <a:chOff x="-416944" y="4961533"/>
            <a:chExt cx="12213594" cy="1056703"/>
          </a:xfrm>
        </p:grpSpPr>
        <p:sp>
          <p:nvSpPr>
            <p:cNvPr id="8" name="Rectangle 7">
              <a:extLst>
                <a:ext uri="{FF2B5EF4-FFF2-40B4-BE49-F238E27FC236}">
                  <a16:creationId xmlns:a16="http://schemas.microsoft.com/office/drawing/2014/main" id="{D250628C-FCB5-4822-ABDD-4D949AB0AC27}"/>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9" name="Rectangle 8">
              <a:extLst>
                <a:ext uri="{FF2B5EF4-FFF2-40B4-BE49-F238E27FC236}">
                  <a16:creationId xmlns:a16="http://schemas.microsoft.com/office/drawing/2014/main" id="{BAC12EFF-EC78-4DFB-9F52-7946F250007B}"/>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BD6407C6-7F0D-456D-8F80-AAAC5172719D}"/>
              </a:ext>
            </a:extLst>
          </p:cNvPr>
          <p:cNvSpPr>
            <a:spLocks noGrp="1"/>
          </p:cNvSpPr>
          <p:nvPr>
            <p:ph type="title"/>
          </p:nvPr>
        </p:nvSpPr>
        <p:spPr>
          <a:xfrm>
            <a:off x="1403246" y="278861"/>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D0FE5-1CE4-4F98-A437-C40E71517974}"/>
              </a:ext>
            </a:extLst>
          </p:cNvPr>
          <p:cNvSpPr>
            <a:spLocks noGrp="1"/>
          </p:cNvSpPr>
          <p:nvPr>
            <p:ph sz="half" idx="1"/>
          </p:nvPr>
        </p:nvSpPr>
        <p:spPr>
          <a:xfrm>
            <a:off x="1403246" y="1739361"/>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92083D-4951-4236-91AD-ED3F895B94A2}"/>
              </a:ext>
            </a:extLst>
          </p:cNvPr>
          <p:cNvSpPr>
            <a:spLocks noGrp="1"/>
          </p:cNvSpPr>
          <p:nvPr>
            <p:ph sz="half" idx="2"/>
          </p:nvPr>
        </p:nvSpPr>
        <p:spPr>
          <a:xfrm>
            <a:off x="6737246" y="1739361"/>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203FE5-4876-44FF-B29F-3C68A95D0172}"/>
              </a:ext>
            </a:extLst>
          </p:cNvPr>
          <p:cNvSpPr>
            <a:spLocks noGrp="1"/>
          </p:cNvSpPr>
          <p:nvPr>
            <p:ph type="dt" sz="half" idx="10"/>
          </p:nvPr>
        </p:nvSpPr>
        <p:spPr>
          <a:xfrm>
            <a:off x="1403246" y="6270086"/>
            <a:ext cx="2743200" cy="365125"/>
          </a:xfrm>
        </p:spPr>
        <p:txBody>
          <a:bodyPr/>
          <a:lstStyle/>
          <a:p>
            <a:fld id="{22B23EF2-2872-4378-9FDE-AFEA983DA76B}" type="datetimeFigureOut">
              <a:rPr lang="en-US" smtClean="0"/>
              <a:t>8/27/2026</a:t>
            </a:fld>
            <a:endParaRPr lang="en-US"/>
          </a:p>
        </p:txBody>
      </p:sp>
      <p:sp>
        <p:nvSpPr>
          <p:cNvPr id="6" name="Footer Placeholder 5">
            <a:extLst>
              <a:ext uri="{FF2B5EF4-FFF2-40B4-BE49-F238E27FC236}">
                <a16:creationId xmlns:a16="http://schemas.microsoft.com/office/drawing/2014/main" id="{6DD62184-DC4B-4046-AD8F-1166E247A6DD}"/>
              </a:ext>
            </a:extLst>
          </p:cNvPr>
          <p:cNvSpPr>
            <a:spLocks noGrp="1"/>
          </p:cNvSpPr>
          <p:nvPr>
            <p:ph type="ftr" sz="quarter" idx="11"/>
          </p:nvPr>
        </p:nvSpPr>
        <p:spPr>
          <a:xfrm>
            <a:off x="4603646" y="6270086"/>
            <a:ext cx="4114800" cy="365125"/>
          </a:xfrm>
        </p:spPr>
        <p:txBody>
          <a:bodyPr/>
          <a:lstStyle/>
          <a:p>
            <a:endParaRPr lang="en-US"/>
          </a:p>
        </p:txBody>
      </p:sp>
      <p:sp>
        <p:nvSpPr>
          <p:cNvPr id="7" name="Slide Number Placeholder 6">
            <a:extLst>
              <a:ext uri="{FF2B5EF4-FFF2-40B4-BE49-F238E27FC236}">
                <a16:creationId xmlns:a16="http://schemas.microsoft.com/office/drawing/2014/main" id="{F7101EA4-7002-4562-AD86-4B1F98E04754}"/>
              </a:ext>
            </a:extLst>
          </p:cNvPr>
          <p:cNvSpPr>
            <a:spLocks noGrp="1"/>
          </p:cNvSpPr>
          <p:nvPr>
            <p:ph type="sldNum" sz="quarter" idx="12"/>
          </p:nvPr>
        </p:nvSpPr>
        <p:spPr>
          <a:xfrm>
            <a:off x="9175646" y="6270086"/>
            <a:ext cx="2743200" cy="365125"/>
          </a:xfrm>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122517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3CDE00C-539C-4D4B-A581-DA6FACC4CF95}"/>
              </a:ext>
            </a:extLst>
          </p:cNvPr>
          <p:cNvGrpSpPr/>
          <p:nvPr userDrawn="1"/>
        </p:nvGrpSpPr>
        <p:grpSpPr>
          <a:xfrm rot="5400000" flipH="1">
            <a:off x="-2743201" y="2900647"/>
            <a:ext cx="6858000" cy="1056703"/>
            <a:chOff x="-416944" y="4961533"/>
            <a:chExt cx="12213594" cy="1056703"/>
          </a:xfrm>
        </p:grpSpPr>
        <p:sp>
          <p:nvSpPr>
            <p:cNvPr id="14" name="Rectangle 13">
              <a:extLst>
                <a:ext uri="{FF2B5EF4-FFF2-40B4-BE49-F238E27FC236}">
                  <a16:creationId xmlns:a16="http://schemas.microsoft.com/office/drawing/2014/main" id="{B8132462-F569-4682-80CD-5DBD194747C7}"/>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5" name="Rectangle 14">
              <a:extLst>
                <a:ext uri="{FF2B5EF4-FFF2-40B4-BE49-F238E27FC236}">
                  <a16:creationId xmlns:a16="http://schemas.microsoft.com/office/drawing/2014/main" id="{8526CD24-B052-45F9-8A98-E4A43F3F520F}"/>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AAF210EF-CFAE-47E8-8AC3-AC41A18E39C8}"/>
              </a:ext>
            </a:extLst>
          </p:cNvPr>
          <p:cNvSpPr>
            <a:spLocks noGrp="1"/>
          </p:cNvSpPr>
          <p:nvPr>
            <p:ph type="title"/>
          </p:nvPr>
        </p:nvSpPr>
        <p:spPr>
          <a:xfrm>
            <a:off x="1340120" y="287488"/>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525EB43-E4B4-478A-B272-2961D5D62394}"/>
              </a:ext>
            </a:extLst>
          </p:cNvPr>
          <p:cNvSpPr>
            <a:spLocks noGrp="1"/>
          </p:cNvSpPr>
          <p:nvPr>
            <p:ph type="body" idx="1"/>
          </p:nvPr>
        </p:nvSpPr>
        <p:spPr>
          <a:xfrm>
            <a:off x="1340120" y="160352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5023A-B876-4C93-9EF2-2E5C72399CB0}"/>
              </a:ext>
            </a:extLst>
          </p:cNvPr>
          <p:cNvSpPr>
            <a:spLocks noGrp="1"/>
          </p:cNvSpPr>
          <p:nvPr>
            <p:ph sz="half" idx="2"/>
          </p:nvPr>
        </p:nvSpPr>
        <p:spPr>
          <a:xfrm>
            <a:off x="1340120" y="2427438"/>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B19069-AA90-4EF0-95CF-B42D2D3DA6F0}"/>
              </a:ext>
            </a:extLst>
          </p:cNvPr>
          <p:cNvSpPr>
            <a:spLocks noGrp="1"/>
          </p:cNvSpPr>
          <p:nvPr>
            <p:ph type="body" sz="quarter" idx="3"/>
          </p:nvPr>
        </p:nvSpPr>
        <p:spPr>
          <a:xfrm>
            <a:off x="6672532" y="160352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808BFD-0C70-46F9-A6B7-212D8969C6E2}"/>
              </a:ext>
            </a:extLst>
          </p:cNvPr>
          <p:cNvSpPr>
            <a:spLocks noGrp="1"/>
          </p:cNvSpPr>
          <p:nvPr>
            <p:ph sz="quarter" idx="4"/>
          </p:nvPr>
        </p:nvSpPr>
        <p:spPr>
          <a:xfrm>
            <a:off x="6672532" y="2427438"/>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50F3E-ED90-40CF-B1BF-7315FE170CC7}"/>
              </a:ext>
            </a:extLst>
          </p:cNvPr>
          <p:cNvSpPr>
            <a:spLocks noGrp="1"/>
          </p:cNvSpPr>
          <p:nvPr>
            <p:ph type="dt" sz="half" idx="10"/>
          </p:nvPr>
        </p:nvSpPr>
        <p:spPr>
          <a:xfrm>
            <a:off x="1338532" y="6278713"/>
            <a:ext cx="2743200" cy="365125"/>
          </a:xfrm>
        </p:spPr>
        <p:txBody>
          <a:bodyPr/>
          <a:lstStyle/>
          <a:p>
            <a:fld id="{22B23EF2-2872-4378-9FDE-AFEA983DA76B}" type="datetimeFigureOut">
              <a:rPr lang="en-US" smtClean="0"/>
              <a:t>8/27/2026</a:t>
            </a:fld>
            <a:endParaRPr lang="en-US"/>
          </a:p>
        </p:txBody>
      </p:sp>
      <p:sp>
        <p:nvSpPr>
          <p:cNvPr id="8" name="Footer Placeholder 7">
            <a:extLst>
              <a:ext uri="{FF2B5EF4-FFF2-40B4-BE49-F238E27FC236}">
                <a16:creationId xmlns:a16="http://schemas.microsoft.com/office/drawing/2014/main" id="{D59C4036-5B8E-4C70-8EAB-BB4BA5EE80F4}"/>
              </a:ext>
            </a:extLst>
          </p:cNvPr>
          <p:cNvSpPr>
            <a:spLocks noGrp="1"/>
          </p:cNvSpPr>
          <p:nvPr>
            <p:ph type="ftr" sz="quarter" idx="11"/>
          </p:nvPr>
        </p:nvSpPr>
        <p:spPr>
          <a:xfrm>
            <a:off x="4538932" y="6278713"/>
            <a:ext cx="4114800" cy="365125"/>
          </a:xfrm>
        </p:spPr>
        <p:txBody>
          <a:bodyPr/>
          <a:lstStyle/>
          <a:p>
            <a:endParaRPr lang="en-US"/>
          </a:p>
        </p:txBody>
      </p:sp>
      <p:sp>
        <p:nvSpPr>
          <p:cNvPr id="9" name="Slide Number Placeholder 8">
            <a:extLst>
              <a:ext uri="{FF2B5EF4-FFF2-40B4-BE49-F238E27FC236}">
                <a16:creationId xmlns:a16="http://schemas.microsoft.com/office/drawing/2014/main" id="{93F20EF3-8C2B-4872-AFF8-2DF4D6D8CF6D}"/>
              </a:ext>
            </a:extLst>
          </p:cNvPr>
          <p:cNvSpPr>
            <a:spLocks noGrp="1"/>
          </p:cNvSpPr>
          <p:nvPr>
            <p:ph type="sldNum" sz="quarter" idx="12"/>
          </p:nvPr>
        </p:nvSpPr>
        <p:spPr>
          <a:xfrm>
            <a:off x="9110932" y="6278713"/>
            <a:ext cx="2743200" cy="365125"/>
          </a:xfrm>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329101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A04E1-917E-6B28-611C-A4C4EAB93BA7}"/>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2A58048-2155-685D-D7DB-28D3FD91C736}"/>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4" name="Footer Placeholder 3">
            <a:extLst>
              <a:ext uri="{FF2B5EF4-FFF2-40B4-BE49-F238E27FC236}">
                <a16:creationId xmlns:a16="http://schemas.microsoft.com/office/drawing/2014/main" id="{2696BAA2-864A-F4C7-35F1-E26BFAD76E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193C68-1F91-8802-1F80-D01327E5D944}"/>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954333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Blank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48997" y="230518"/>
            <a:ext cx="10515600" cy="711373"/>
          </a:xfrm>
        </p:spPr>
        <p:txBody>
          <a:bodyPr/>
          <a:lstStyle>
            <a:lvl1pPr>
              <a:defRPr>
                <a:latin typeface="Clan-Medium" panose="02000503040000020004"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171514"/>
            <a:ext cx="10515600"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876600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0C836A-601C-4673-97BA-270F598A25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BD68BB-20A8-4BD8-AE3E-157D76055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6A811-963A-4BEC-BA10-1E75132FDE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23EF2-2872-4378-9FDE-AFEA983DA76B}" type="datetimeFigureOut">
              <a:rPr lang="en-US" smtClean="0"/>
              <a:t>8/27/2026</a:t>
            </a:fld>
            <a:endParaRPr lang="en-US"/>
          </a:p>
        </p:txBody>
      </p:sp>
      <p:sp>
        <p:nvSpPr>
          <p:cNvPr id="5" name="Footer Placeholder 4">
            <a:extLst>
              <a:ext uri="{FF2B5EF4-FFF2-40B4-BE49-F238E27FC236}">
                <a16:creationId xmlns:a16="http://schemas.microsoft.com/office/drawing/2014/main" id="{1C17B18F-1ADE-42D1-AD17-50885BFA8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185544-9957-4D60-8C9C-51F8E9927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1EAF4A-F4FA-443C-A561-206E6DC988A3}" type="slidenum">
              <a:rPr lang="en-US" smtClean="0"/>
              <a:t>‹#›</a:t>
            </a:fld>
            <a:endParaRPr lang="en-US"/>
          </a:p>
        </p:txBody>
      </p:sp>
    </p:spTree>
    <p:extLst>
      <p:ext uri="{BB962C8B-B14F-4D97-AF65-F5344CB8AC3E}">
        <p14:creationId xmlns:p14="http://schemas.microsoft.com/office/powerpoint/2010/main" val="619669831"/>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1" r:id="rId3"/>
    <p:sldLayoutId id="2147483666" r:id="rId4"/>
    <p:sldLayoutId id="2147483650" r:id="rId5"/>
    <p:sldLayoutId id="2147483660" r:id="rId6"/>
    <p:sldLayoutId id="2147483663" r:id="rId7"/>
    <p:sldLayoutId id="2147483651" r:id="rId8"/>
    <p:sldLayoutId id="2147483664" r:id="rId9"/>
    <p:sldLayoutId id="2147483662" r:id="rId10"/>
    <p:sldLayoutId id="2147483652" r:id="rId11"/>
    <p:sldLayoutId id="2147483653" r:id="rId12"/>
    <p:sldLayoutId id="2147483667" r:id="rId13"/>
    <p:sldLayoutId id="214748366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cs.flutter.dev/data-and-backend/state-mgmt/options"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5.xml"/><Relationship Id="rId4" Type="http://schemas.openxmlformats.org/officeDocument/2006/relationships/image" Target="../media/image47.png"/></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5.xml"/><Relationship Id="rId6" Type="http://schemas.openxmlformats.org/officeDocument/2006/relationships/image" Target="../media/image51.png"/><Relationship Id="rId5" Type="http://schemas.openxmlformats.org/officeDocument/2006/relationships/image" Target="../media/image47.png"/><Relationship Id="rId4" Type="http://schemas.openxmlformats.org/officeDocument/2006/relationships/image" Target="../media/image50.png"/></Relationships>
</file>

<file path=ppt/slides/_rels/slide8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9.xml"/><Relationship Id="rId1" Type="http://schemas.openxmlformats.org/officeDocument/2006/relationships/slideLayout" Target="../slideLayouts/slideLayout5.xml"/><Relationship Id="rId5" Type="http://schemas.openxmlformats.org/officeDocument/2006/relationships/image" Target="../media/image54.png"/><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0.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55.png"/></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1.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57.png"/></Relationships>
</file>

<file path=ppt/slides/_rels/slide8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2.xml"/><Relationship Id="rId1" Type="http://schemas.openxmlformats.org/officeDocument/2006/relationships/slideLayout" Target="../slideLayouts/slideLayout5.xml"/><Relationship Id="rId5" Type="http://schemas.openxmlformats.org/officeDocument/2006/relationships/image" Target="../media/image59.png"/><Relationship Id="rId4" Type="http://schemas.openxmlformats.org/officeDocument/2006/relationships/image" Target="../media/image58.png"/></Relationships>
</file>

<file path=ppt/slides/_rels/slide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3.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60.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9.xml"/><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0.xml"/><Relationship Id="rId1" Type="http://schemas.openxmlformats.org/officeDocument/2006/relationships/slideLayout" Target="../slideLayouts/slideLayout5.xml"/><Relationship Id="rId4" Type="http://schemas.openxmlformats.org/officeDocument/2006/relationships/image" Target="../media/image64.png"/></Relationships>
</file>

<file path=ppt/slides/_rels/slide9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1.xml"/><Relationship Id="rId1" Type="http://schemas.openxmlformats.org/officeDocument/2006/relationships/slideLayout" Target="../slideLayouts/slideLayout5.xml"/><Relationship Id="rId4" Type="http://schemas.openxmlformats.org/officeDocument/2006/relationships/image" Target="../media/image65.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43E2-E75F-0836-47CC-54246F100FF1}"/>
              </a:ext>
            </a:extLst>
          </p:cNvPr>
          <p:cNvSpPr>
            <a:spLocks noGrp="1"/>
          </p:cNvSpPr>
          <p:nvPr>
            <p:ph type="ctrTitle"/>
          </p:nvPr>
        </p:nvSpPr>
        <p:spPr/>
        <p:txBody>
          <a:bodyPr/>
          <a:lstStyle/>
          <a:p>
            <a:r>
              <a:rPr lang="en-US" b="1" dirty="0"/>
              <a:t>Flutter Recap</a:t>
            </a:r>
            <a:endParaRPr lang="en-PH" b="1" dirty="0"/>
          </a:p>
        </p:txBody>
      </p:sp>
      <p:sp>
        <p:nvSpPr>
          <p:cNvPr id="3" name="Subtitle 2">
            <a:extLst>
              <a:ext uri="{FF2B5EF4-FFF2-40B4-BE49-F238E27FC236}">
                <a16:creationId xmlns:a16="http://schemas.microsoft.com/office/drawing/2014/main" id="{C0D75E30-2B49-885C-7EB8-893C78E336F8}"/>
              </a:ext>
            </a:extLst>
          </p:cNvPr>
          <p:cNvSpPr>
            <a:spLocks noGrp="1"/>
          </p:cNvSpPr>
          <p:nvPr>
            <p:ph type="subTitle" idx="1"/>
          </p:nvPr>
        </p:nvSpPr>
        <p:spPr/>
        <p:txBody>
          <a:bodyPr/>
          <a:lstStyle/>
          <a:p>
            <a:r>
              <a:rPr lang="en-US" dirty="0"/>
              <a:t>A Flutter Recap</a:t>
            </a:r>
            <a:endParaRPr lang="en-PH" dirty="0"/>
          </a:p>
        </p:txBody>
      </p:sp>
    </p:spTree>
    <p:extLst>
      <p:ext uri="{BB962C8B-B14F-4D97-AF65-F5344CB8AC3E}">
        <p14:creationId xmlns:p14="http://schemas.microsoft.com/office/powerpoint/2010/main" val="1058161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What is Design Pattern?</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r>
              <a:rPr lang="en-US" dirty="0"/>
              <a:t>Design patterns are like reusable blueprints for solving common problems in software development. They are not complete code solutions, but rather proven approaches and structures that can be adapted to different situations. They help developers build flexible, maintainable, and efficient software.</a:t>
            </a:r>
            <a:endParaRPr lang="en-PH" dirty="0"/>
          </a:p>
        </p:txBody>
      </p:sp>
    </p:spTree>
    <p:extLst>
      <p:ext uri="{BB962C8B-B14F-4D97-AF65-F5344CB8AC3E}">
        <p14:creationId xmlns:p14="http://schemas.microsoft.com/office/powerpoint/2010/main" val="1750651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What is MVC?</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normAutofit fontScale="85000" lnSpcReduction="20000"/>
          </a:bodyPr>
          <a:lstStyle/>
          <a:p>
            <a:r>
              <a:rPr lang="en-US" dirty="0"/>
              <a:t>It was Trygve </a:t>
            </a:r>
            <a:r>
              <a:rPr lang="en-US" dirty="0" err="1"/>
              <a:t>Reenskaug</a:t>
            </a:r>
            <a:r>
              <a:rPr lang="en-US" dirty="0"/>
              <a:t> who developed MVC. This design pattern was primarily intended to address the issue of users managing a sizable and intricate data collection by segmenting a huge program into discrete parts, each serving a distinct function.</a:t>
            </a:r>
          </a:p>
          <a:p>
            <a:endParaRPr lang="en-US" dirty="0"/>
          </a:p>
          <a:p>
            <a:r>
              <a:rPr lang="en-US" dirty="0"/>
              <a:t>An architectural/design pattern known as the Model-View-Controller (MVC) framework divides an application into three primary logical components: the controller, view, and model. Every architectural element is designed to manage particular application development facets. It separates the presentation layer from the business logic. Historically, desktop graphical user interfaces (GUIs) have been utilized with it. In order to produce scalable and flexible applications, MVC is currently one of the most widely utilized industry-standard web development frameworks. Mobile app design is another usage for it.</a:t>
            </a:r>
          </a:p>
        </p:txBody>
      </p:sp>
    </p:spTree>
    <p:extLst>
      <p:ext uri="{BB962C8B-B14F-4D97-AF65-F5344CB8AC3E}">
        <p14:creationId xmlns:p14="http://schemas.microsoft.com/office/powerpoint/2010/main" val="2223820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What is Cross Platform</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r>
              <a:rPr lang="en-US" dirty="0"/>
              <a:t>Cross-platform development is a software development approach where you create software products that can run on multiple platforms or operating systems without having to rewrite the code for each one. This means, with one codebase, you can develop an app that works on different devices like Android phones, iPhones, Windows laptops, MacBook, etc.</a:t>
            </a:r>
            <a:endParaRPr lang="en-PH" dirty="0"/>
          </a:p>
        </p:txBody>
      </p:sp>
    </p:spTree>
    <p:extLst>
      <p:ext uri="{BB962C8B-B14F-4D97-AF65-F5344CB8AC3E}">
        <p14:creationId xmlns:p14="http://schemas.microsoft.com/office/powerpoint/2010/main" val="79422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What is a Framework?</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r>
              <a:rPr lang="en-US" dirty="0"/>
              <a:t>A framework is similar to a structure that serves as the foundation for the process of developing an application. You don't have to write everything from scratch if you have a framework. A collection of components and technologies known as frameworks facilitates the rapid development process. It serves as a kind of template that may be used and even altered to fit the needs of the project.</a:t>
            </a:r>
            <a:endParaRPr lang="en-PH" dirty="0"/>
          </a:p>
        </p:txBody>
      </p:sp>
    </p:spTree>
    <p:extLst>
      <p:ext uri="{BB962C8B-B14F-4D97-AF65-F5344CB8AC3E}">
        <p14:creationId xmlns:p14="http://schemas.microsoft.com/office/powerpoint/2010/main" val="364565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1DDCF-E9D6-E6C1-648D-C9DE035A6CC6}"/>
              </a:ext>
            </a:extLst>
          </p:cNvPr>
          <p:cNvSpPr>
            <a:spLocks noGrp="1"/>
          </p:cNvSpPr>
          <p:nvPr>
            <p:ph type="title"/>
          </p:nvPr>
        </p:nvSpPr>
        <p:spPr/>
        <p:txBody>
          <a:bodyPr/>
          <a:lstStyle/>
          <a:p>
            <a:r>
              <a:rPr lang="en-US" b="1" dirty="0"/>
              <a:t>SAMPLE MVC DIAGRAM</a:t>
            </a:r>
            <a:endParaRPr lang="en-PH" b="1" dirty="0"/>
          </a:p>
        </p:txBody>
      </p:sp>
      <p:pic>
        <p:nvPicPr>
          <p:cNvPr id="13" name="Picture 12" descr="A white background with black dots&#10;&#10;Description automatically generated">
            <a:extLst>
              <a:ext uri="{FF2B5EF4-FFF2-40B4-BE49-F238E27FC236}">
                <a16:creationId xmlns:a16="http://schemas.microsoft.com/office/drawing/2014/main" id="{5C6D3AD3-AFF9-11A9-80AD-581E4F490A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064" y="1156572"/>
            <a:ext cx="10135872" cy="5701428"/>
          </a:xfrm>
          <a:prstGeom prst="rect">
            <a:avLst/>
          </a:prstGeom>
        </p:spPr>
      </p:pic>
    </p:spTree>
    <p:extLst>
      <p:ext uri="{BB962C8B-B14F-4D97-AF65-F5344CB8AC3E}">
        <p14:creationId xmlns:p14="http://schemas.microsoft.com/office/powerpoint/2010/main" val="3646261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Dart</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r>
              <a:rPr lang="en-US" dirty="0"/>
              <a:t>Dart is a general-purpose, object-oriented programming language developed by Google. It's known for its clean syntax, strong typing, and ability to compile to multiple platforms, making it a versatile choice for various development projects.</a:t>
            </a:r>
            <a:endParaRPr lang="en-PH" dirty="0"/>
          </a:p>
        </p:txBody>
      </p:sp>
    </p:spTree>
    <p:extLst>
      <p:ext uri="{BB962C8B-B14F-4D97-AF65-F5344CB8AC3E}">
        <p14:creationId xmlns:p14="http://schemas.microsoft.com/office/powerpoint/2010/main" val="1792320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Flutter</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r>
              <a:rPr lang="en-US" dirty="0"/>
              <a:t>Flutter is an open-source UI framework created by Google for building beautiful, high-performance, and cross-platform applications. It allows you to develop apps for mobile, web, desktop, and embedded devices from a single codebase.</a:t>
            </a:r>
            <a:endParaRPr lang="en-PH" dirty="0"/>
          </a:p>
        </p:txBody>
      </p:sp>
    </p:spTree>
    <p:extLst>
      <p:ext uri="{BB962C8B-B14F-4D97-AF65-F5344CB8AC3E}">
        <p14:creationId xmlns:p14="http://schemas.microsoft.com/office/powerpoint/2010/main" val="3884342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0758-D6F8-B731-FA10-BAA5B7601E1F}"/>
              </a:ext>
            </a:extLst>
          </p:cNvPr>
          <p:cNvSpPr>
            <a:spLocks noGrp="1"/>
          </p:cNvSpPr>
          <p:nvPr>
            <p:ph type="ctrTitle"/>
          </p:nvPr>
        </p:nvSpPr>
        <p:spPr/>
        <p:txBody>
          <a:bodyPr/>
          <a:lstStyle/>
          <a:p>
            <a:r>
              <a:rPr lang="en-US" b="1" dirty="0"/>
              <a:t>Flutter</a:t>
            </a:r>
            <a:endParaRPr lang="en-PH" b="1" dirty="0"/>
          </a:p>
        </p:txBody>
      </p:sp>
      <p:sp>
        <p:nvSpPr>
          <p:cNvPr id="3" name="Subtitle 2">
            <a:extLst>
              <a:ext uri="{FF2B5EF4-FFF2-40B4-BE49-F238E27FC236}">
                <a16:creationId xmlns:a16="http://schemas.microsoft.com/office/drawing/2014/main" id="{281480C5-E97D-ABEA-5F5E-2087CE11EEEC}"/>
              </a:ext>
            </a:extLst>
          </p:cNvPr>
          <p:cNvSpPr>
            <a:spLocks noGrp="1"/>
          </p:cNvSpPr>
          <p:nvPr>
            <p:ph type="subTitle" idx="1"/>
          </p:nvPr>
        </p:nvSpPr>
        <p:spPr/>
        <p:txBody>
          <a:bodyPr/>
          <a:lstStyle/>
          <a:p>
            <a:r>
              <a:rPr lang="en-US" dirty="0"/>
              <a:t>Archive</a:t>
            </a:r>
            <a:endParaRPr lang="en-PH" dirty="0"/>
          </a:p>
        </p:txBody>
      </p:sp>
    </p:spTree>
    <p:extLst>
      <p:ext uri="{BB962C8B-B14F-4D97-AF65-F5344CB8AC3E}">
        <p14:creationId xmlns:p14="http://schemas.microsoft.com/office/powerpoint/2010/main" val="1289813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a:xfrm>
            <a:off x="990600" y="1040668"/>
            <a:ext cx="10515600" cy="711373"/>
          </a:xfrm>
        </p:spPr>
        <p:txBody>
          <a:bodyPr>
            <a:normAutofit/>
          </a:bodyPr>
          <a:lstStyle/>
          <a:p>
            <a:r>
              <a:rPr lang="en-US" sz="2800" dirty="0"/>
              <a:t>https://docs.flutter.dev/release/archive</a:t>
            </a:r>
            <a:endParaRPr lang="en-PH" sz="2800" dirty="0"/>
          </a:p>
        </p:txBody>
      </p:sp>
      <p:pic>
        <p:nvPicPr>
          <p:cNvPr id="5" name="Content Placeholder 4">
            <a:extLst>
              <a:ext uri="{FF2B5EF4-FFF2-40B4-BE49-F238E27FC236}">
                <a16:creationId xmlns:a16="http://schemas.microsoft.com/office/drawing/2014/main" id="{FF2FC32B-AC09-C2E5-E324-720942AA8578}"/>
              </a:ext>
            </a:extLst>
          </p:cNvPr>
          <p:cNvPicPr>
            <a:picLocks noGrp="1" noChangeAspect="1"/>
          </p:cNvPicPr>
          <p:nvPr>
            <p:ph idx="1"/>
          </p:nvPr>
        </p:nvPicPr>
        <p:blipFill>
          <a:blip r:embed="rId3"/>
          <a:stretch>
            <a:fillRect/>
          </a:stretch>
        </p:blipFill>
        <p:spPr>
          <a:xfrm>
            <a:off x="2267802" y="1642110"/>
            <a:ext cx="7656395" cy="4062413"/>
          </a:xfrm>
        </p:spPr>
      </p:pic>
      <p:sp>
        <p:nvSpPr>
          <p:cNvPr id="6" name="Title 1">
            <a:extLst>
              <a:ext uri="{FF2B5EF4-FFF2-40B4-BE49-F238E27FC236}">
                <a16:creationId xmlns:a16="http://schemas.microsoft.com/office/drawing/2014/main" id="{5C304C4B-8006-8B99-3D2D-D2B41778AC8A}"/>
              </a:ext>
            </a:extLst>
          </p:cNvPr>
          <p:cNvSpPr txBox="1">
            <a:spLocks/>
          </p:cNvSpPr>
          <p:nvPr/>
        </p:nvSpPr>
        <p:spPr>
          <a:xfrm>
            <a:off x="990600" y="646872"/>
            <a:ext cx="10515600" cy="7113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Clan-Medium" panose="02000503040000020004" pitchFamily="2" charset="0"/>
                <a:ea typeface="+mj-ea"/>
                <a:cs typeface="+mj-cs"/>
              </a:defRPr>
            </a:lvl1pPr>
          </a:lstStyle>
          <a:p>
            <a:r>
              <a:rPr lang="en-US" b="1"/>
              <a:t>Flutter Archive</a:t>
            </a:r>
            <a:endParaRPr lang="en-PH" b="1" dirty="0"/>
          </a:p>
        </p:txBody>
      </p:sp>
    </p:spTree>
    <p:extLst>
      <p:ext uri="{BB962C8B-B14F-4D97-AF65-F5344CB8AC3E}">
        <p14:creationId xmlns:p14="http://schemas.microsoft.com/office/powerpoint/2010/main" val="3755316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0758-D6F8-B731-FA10-BAA5B7601E1F}"/>
              </a:ext>
            </a:extLst>
          </p:cNvPr>
          <p:cNvSpPr>
            <a:spLocks noGrp="1"/>
          </p:cNvSpPr>
          <p:nvPr>
            <p:ph type="ctrTitle"/>
          </p:nvPr>
        </p:nvSpPr>
        <p:spPr/>
        <p:txBody>
          <a:bodyPr/>
          <a:lstStyle/>
          <a:p>
            <a:r>
              <a:rPr lang="en-US" b="1" dirty="0"/>
              <a:t>Flutter</a:t>
            </a:r>
            <a:endParaRPr lang="en-PH" b="1" dirty="0"/>
          </a:p>
        </p:txBody>
      </p:sp>
      <p:sp>
        <p:nvSpPr>
          <p:cNvPr id="3" name="Subtitle 2">
            <a:extLst>
              <a:ext uri="{FF2B5EF4-FFF2-40B4-BE49-F238E27FC236}">
                <a16:creationId xmlns:a16="http://schemas.microsoft.com/office/drawing/2014/main" id="{281480C5-E97D-ABEA-5F5E-2087CE11EEEC}"/>
              </a:ext>
            </a:extLst>
          </p:cNvPr>
          <p:cNvSpPr>
            <a:spLocks noGrp="1"/>
          </p:cNvSpPr>
          <p:nvPr>
            <p:ph type="subTitle" idx="1"/>
          </p:nvPr>
        </p:nvSpPr>
        <p:spPr/>
        <p:txBody>
          <a:bodyPr/>
          <a:lstStyle/>
          <a:p>
            <a:r>
              <a:rPr lang="en-US" dirty="0"/>
              <a:t>Front-End Development</a:t>
            </a:r>
            <a:endParaRPr lang="en-PH" dirty="0"/>
          </a:p>
        </p:txBody>
      </p:sp>
    </p:spTree>
    <p:extLst>
      <p:ext uri="{BB962C8B-B14F-4D97-AF65-F5344CB8AC3E}">
        <p14:creationId xmlns:p14="http://schemas.microsoft.com/office/powerpoint/2010/main" val="2877511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Widgets</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Types of Widgets:</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Basic Widgets</a:t>
            </a:r>
            <a:r>
              <a:rPr lang="en-US" b="0" i="0" dirty="0">
                <a:solidFill>
                  <a:srgbClr val="1A1A1A"/>
                </a:solidFill>
                <a:effectLst/>
              </a:rPr>
              <a:t>: These are the fundamental building blocks like Text, Container, Row, Column, Image, </a:t>
            </a:r>
            <a:r>
              <a:rPr lang="en-US" b="0" i="0" dirty="0" err="1">
                <a:solidFill>
                  <a:srgbClr val="1A1A1A"/>
                </a:solidFill>
                <a:effectLst/>
              </a:rPr>
              <a:t>IconButton</a:t>
            </a:r>
            <a:r>
              <a:rPr lang="en-US" b="0" i="0" dirty="0">
                <a:solidFill>
                  <a:srgbClr val="1A1A1A"/>
                </a:solidFill>
                <a:effectLst/>
              </a:rPr>
              <a:t>, etc. They provide the core elements for displaying text, images, buttons, and other UI components.</a:t>
            </a:r>
            <a:endParaRPr lang="en-US" dirty="0"/>
          </a:p>
          <a:p>
            <a:pPr>
              <a:buFont typeface="Arial" panose="020B0604020202020204" pitchFamily="34" charset="0"/>
              <a:buChar char="•"/>
            </a:pPr>
            <a:r>
              <a:rPr lang="en-US" b="1" i="0" dirty="0">
                <a:solidFill>
                  <a:srgbClr val="1A1A1A"/>
                </a:solidFill>
                <a:effectLst/>
              </a:rPr>
              <a:t>Layout Widgets</a:t>
            </a:r>
            <a:r>
              <a:rPr lang="en-US" b="0" i="0" dirty="0">
                <a:solidFill>
                  <a:srgbClr val="1A1A1A"/>
                </a:solidFill>
                <a:effectLst/>
              </a:rPr>
              <a:t>: These widgets help you arrange your basic widgets on the screen, like Row for horizontal arrangements, Column for vertical arrangements, Stack for overlapping widgets, etc.</a:t>
            </a:r>
            <a:endParaRPr lang="en-US" dirty="0"/>
          </a:p>
        </p:txBody>
      </p:sp>
    </p:spTree>
    <p:extLst>
      <p:ext uri="{BB962C8B-B14F-4D97-AF65-F5344CB8AC3E}">
        <p14:creationId xmlns:p14="http://schemas.microsoft.com/office/powerpoint/2010/main" val="28506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Widgets</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Types of Widgets:</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Stateful Widgets</a:t>
            </a:r>
            <a:r>
              <a:rPr lang="en-US" b="0" i="0" dirty="0">
                <a:solidFill>
                  <a:srgbClr val="1A1A1A"/>
                </a:solidFill>
                <a:effectLst/>
              </a:rPr>
              <a:t>: Unlike stateless widgets with fixed appearances, stateful widgets can change their appearance based on data or user interactions. They manage their own state using the </a:t>
            </a:r>
            <a:r>
              <a:rPr lang="en-US" b="0" i="0" dirty="0" err="1">
                <a:solidFill>
                  <a:srgbClr val="1A1A1A"/>
                </a:solidFill>
                <a:effectLst/>
              </a:rPr>
              <a:t>StatefulWidget</a:t>
            </a:r>
            <a:r>
              <a:rPr lang="en-US" b="0" i="0" dirty="0">
                <a:solidFill>
                  <a:srgbClr val="1A1A1A"/>
                </a:solidFill>
                <a:effectLst/>
              </a:rPr>
              <a:t> class.</a:t>
            </a:r>
            <a:endParaRPr lang="en-US" dirty="0"/>
          </a:p>
          <a:p>
            <a:pPr>
              <a:buFont typeface="Arial" panose="020B0604020202020204" pitchFamily="34" charset="0"/>
              <a:buChar char="•"/>
            </a:pPr>
            <a:r>
              <a:rPr lang="en-US" b="1" i="0" dirty="0">
                <a:solidFill>
                  <a:srgbClr val="1A1A1A"/>
                </a:solidFill>
                <a:effectLst/>
              </a:rPr>
              <a:t>Material Widgets</a:t>
            </a:r>
            <a:r>
              <a:rPr lang="en-US" b="0" i="0" dirty="0">
                <a:solidFill>
                  <a:srgbClr val="1A1A1A"/>
                </a:solidFill>
                <a:effectLst/>
              </a:rPr>
              <a:t>: If you're building Android-inspired apps, Flutter offers a rich set of Material Design widgets that follow Google's design guidelines, promoting consistent and beautiful UIs.</a:t>
            </a:r>
            <a:endParaRPr lang="en-US" dirty="0"/>
          </a:p>
        </p:txBody>
      </p:sp>
    </p:spTree>
    <p:extLst>
      <p:ext uri="{BB962C8B-B14F-4D97-AF65-F5344CB8AC3E}">
        <p14:creationId xmlns:p14="http://schemas.microsoft.com/office/powerpoint/2010/main" val="1664522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Widgets</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Types of Widgets:</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Cupertino Widgets:</a:t>
            </a:r>
            <a:r>
              <a:rPr lang="en-US" b="0" i="0" dirty="0">
                <a:solidFill>
                  <a:srgbClr val="1A1A1A"/>
                </a:solidFill>
                <a:effectLst/>
              </a:rPr>
              <a:t> Similarly, for iOS-inspired apps, there are Cupertino widgets that adhere to Apple's design language, ensuring a native look and feel on iPhones and iPads.</a:t>
            </a:r>
            <a:endParaRPr lang="en-US" dirty="0"/>
          </a:p>
          <a:p>
            <a:pPr>
              <a:buFont typeface="Arial" panose="020B0604020202020204" pitchFamily="34" charset="0"/>
              <a:buChar char="•"/>
            </a:pPr>
            <a:r>
              <a:rPr lang="en-US" b="1" i="0" dirty="0">
                <a:solidFill>
                  <a:srgbClr val="1A1A1A"/>
                </a:solidFill>
                <a:effectLst/>
              </a:rPr>
              <a:t>Custom Widgets</a:t>
            </a:r>
            <a:r>
              <a:rPr lang="en-US" b="0" i="0" dirty="0">
                <a:solidFill>
                  <a:srgbClr val="1A1A1A"/>
                </a:solidFill>
                <a:effectLst/>
              </a:rPr>
              <a:t>: Flutter empowers you to create your own custom widgets by extending the Widget class. This lets you build reusable and specialized UI components tailored to your specific needs.</a:t>
            </a:r>
            <a:endParaRPr lang="en-US" dirty="0"/>
          </a:p>
        </p:txBody>
      </p:sp>
    </p:spTree>
    <p:extLst>
      <p:ext uri="{BB962C8B-B14F-4D97-AF65-F5344CB8AC3E}">
        <p14:creationId xmlns:p14="http://schemas.microsoft.com/office/powerpoint/2010/main" val="3888086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0758-D6F8-B731-FA10-BAA5B7601E1F}"/>
              </a:ext>
            </a:extLst>
          </p:cNvPr>
          <p:cNvSpPr>
            <a:spLocks noGrp="1"/>
          </p:cNvSpPr>
          <p:nvPr>
            <p:ph type="ctrTitle"/>
          </p:nvPr>
        </p:nvSpPr>
        <p:spPr/>
        <p:txBody>
          <a:bodyPr/>
          <a:lstStyle/>
          <a:p>
            <a:r>
              <a:rPr lang="en-US" b="1" dirty="0"/>
              <a:t>Flutter</a:t>
            </a:r>
            <a:endParaRPr lang="en-PH" b="1" dirty="0"/>
          </a:p>
        </p:txBody>
      </p:sp>
      <p:sp>
        <p:nvSpPr>
          <p:cNvPr id="3" name="Subtitle 2">
            <a:extLst>
              <a:ext uri="{FF2B5EF4-FFF2-40B4-BE49-F238E27FC236}">
                <a16:creationId xmlns:a16="http://schemas.microsoft.com/office/drawing/2014/main" id="{281480C5-E97D-ABEA-5F5E-2087CE11EEEC}"/>
              </a:ext>
            </a:extLst>
          </p:cNvPr>
          <p:cNvSpPr>
            <a:spLocks noGrp="1"/>
          </p:cNvSpPr>
          <p:nvPr>
            <p:ph type="subTitle" idx="1"/>
          </p:nvPr>
        </p:nvSpPr>
        <p:spPr/>
        <p:txBody>
          <a:bodyPr/>
          <a:lstStyle/>
          <a:p>
            <a:r>
              <a:rPr lang="en-US" dirty="0"/>
              <a:t>Front-End Functionalities</a:t>
            </a:r>
            <a:endParaRPr lang="en-PH" dirty="0"/>
          </a:p>
        </p:txBody>
      </p:sp>
    </p:spTree>
    <p:extLst>
      <p:ext uri="{BB962C8B-B14F-4D97-AF65-F5344CB8AC3E}">
        <p14:creationId xmlns:p14="http://schemas.microsoft.com/office/powerpoint/2010/main" val="3215834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Navigation</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Types of Navigation:</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Stack Navigation</a:t>
            </a:r>
            <a:r>
              <a:rPr lang="en-US" b="0" i="0" dirty="0">
                <a:solidFill>
                  <a:srgbClr val="1A1A1A"/>
                </a:solidFill>
                <a:effectLst/>
              </a:rPr>
              <a:t>: The most common approach, where screens are pushed onto a stack and popped off to return. Ideal for linear flows and hierarchical structures.</a:t>
            </a:r>
            <a:endParaRPr lang="en-US" dirty="0"/>
          </a:p>
          <a:p>
            <a:pPr>
              <a:buFont typeface="Arial" panose="020B0604020202020204" pitchFamily="34" charset="0"/>
              <a:buChar char="•"/>
            </a:pPr>
            <a:r>
              <a:rPr lang="en-US" b="1" i="0" dirty="0">
                <a:solidFill>
                  <a:srgbClr val="1A1A1A"/>
                </a:solidFill>
                <a:effectLst/>
              </a:rPr>
              <a:t>Tab Navigation</a:t>
            </a:r>
            <a:r>
              <a:rPr lang="en-US" b="0" i="0" dirty="0">
                <a:solidFill>
                  <a:srgbClr val="1A1A1A"/>
                </a:solidFill>
                <a:effectLst/>
              </a:rPr>
              <a:t>: Used for switching between independent sections of your app, typically represented by tabs at the bottom of the screen.</a:t>
            </a:r>
            <a:endParaRPr lang="en-US" dirty="0"/>
          </a:p>
        </p:txBody>
      </p:sp>
    </p:spTree>
    <p:extLst>
      <p:ext uri="{BB962C8B-B14F-4D97-AF65-F5344CB8AC3E}">
        <p14:creationId xmlns:p14="http://schemas.microsoft.com/office/powerpoint/2010/main" val="875425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Navigation</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Types of Navigation:</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Bottom Navigation</a:t>
            </a:r>
            <a:r>
              <a:rPr lang="en-US" b="0" i="0" dirty="0">
                <a:solidFill>
                  <a:srgbClr val="1A1A1A"/>
                </a:solidFill>
                <a:effectLst/>
              </a:rPr>
              <a:t>: Similar to tab navigation, but often with a circular layout and animation for a more modern feel.</a:t>
            </a:r>
            <a:endParaRPr lang="en-US" dirty="0"/>
          </a:p>
          <a:p>
            <a:pPr>
              <a:buFont typeface="Arial" panose="020B0604020202020204" pitchFamily="34" charset="0"/>
              <a:buChar char="•"/>
            </a:pPr>
            <a:r>
              <a:rPr lang="en-US" b="1" i="0" dirty="0">
                <a:solidFill>
                  <a:srgbClr val="1A1A1A"/>
                </a:solidFill>
                <a:effectLst/>
              </a:rPr>
              <a:t>Drawer Navigation</a:t>
            </a:r>
            <a:r>
              <a:rPr lang="en-US" b="0" i="0" dirty="0">
                <a:solidFill>
                  <a:srgbClr val="1A1A1A"/>
                </a:solidFill>
                <a:effectLst/>
              </a:rPr>
              <a:t>: Provides a hidden menu that slides in from the side, usually containing less frequently accessed options.</a:t>
            </a:r>
            <a:endParaRPr lang="en-US" dirty="0"/>
          </a:p>
        </p:txBody>
      </p:sp>
    </p:spTree>
    <p:extLst>
      <p:ext uri="{BB962C8B-B14F-4D97-AF65-F5344CB8AC3E}">
        <p14:creationId xmlns:p14="http://schemas.microsoft.com/office/powerpoint/2010/main" val="3496759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Navigation</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Flutter Navigation Tools:</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Navigator</a:t>
            </a:r>
            <a:r>
              <a:rPr lang="en-US" b="0" i="0" dirty="0">
                <a:solidFill>
                  <a:srgbClr val="1A1A1A"/>
                </a:solidFill>
                <a:effectLst/>
              </a:rPr>
              <a:t>: The core widget for managing the navigation stack and transitions between screens.</a:t>
            </a:r>
            <a:endParaRPr lang="en-US" dirty="0"/>
          </a:p>
          <a:p>
            <a:pPr>
              <a:buFont typeface="Arial" panose="020B0604020202020204" pitchFamily="34" charset="0"/>
              <a:buChar char="•"/>
            </a:pPr>
            <a:r>
              <a:rPr lang="en-US" b="1" i="0" dirty="0" err="1">
                <a:solidFill>
                  <a:srgbClr val="1A1A1A"/>
                </a:solidFill>
                <a:effectLst/>
              </a:rPr>
              <a:t>MaterialPageRoute</a:t>
            </a:r>
            <a:r>
              <a:rPr lang="en-US" b="0" i="0" dirty="0">
                <a:solidFill>
                  <a:srgbClr val="1A1A1A"/>
                </a:solidFill>
                <a:effectLst/>
              </a:rPr>
              <a:t>: A common route definition for pushing new screens onto the stack with platform-specific animations.</a:t>
            </a:r>
            <a:endParaRPr lang="en-US" dirty="0"/>
          </a:p>
          <a:p>
            <a:pPr>
              <a:buFont typeface="Arial" panose="020B0604020202020204" pitchFamily="34" charset="0"/>
              <a:buChar char="•"/>
            </a:pPr>
            <a:r>
              <a:rPr lang="en-US" b="1" i="0" dirty="0" err="1">
                <a:solidFill>
                  <a:srgbClr val="1A1A1A"/>
                </a:solidFill>
                <a:effectLst/>
              </a:rPr>
              <a:t>CupertinoPageRoute</a:t>
            </a:r>
            <a:r>
              <a:rPr lang="en-US" b="0" i="0" dirty="0">
                <a:solidFill>
                  <a:srgbClr val="1A1A1A"/>
                </a:solidFill>
                <a:effectLst/>
              </a:rPr>
              <a:t>: Similar to </a:t>
            </a:r>
            <a:r>
              <a:rPr lang="en-US" b="0" i="0" dirty="0" err="1">
                <a:solidFill>
                  <a:srgbClr val="1A1A1A"/>
                </a:solidFill>
                <a:effectLst/>
              </a:rPr>
              <a:t>MaterialPageRoute</a:t>
            </a:r>
            <a:r>
              <a:rPr lang="en-US" b="0" i="0" dirty="0">
                <a:solidFill>
                  <a:srgbClr val="1A1A1A"/>
                </a:solidFill>
                <a:effectLst/>
              </a:rPr>
              <a:t>, but with Cupertino-style animations for iOS-inspired apps.</a:t>
            </a:r>
            <a:endParaRPr lang="en-US" dirty="0"/>
          </a:p>
        </p:txBody>
      </p:sp>
    </p:spTree>
    <p:extLst>
      <p:ext uri="{BB962C8B-B14F-4D97-AF65-F5344CB8AC3E}">
        <p14:creationId xmlns:p14="http://schemas.microsoft.com/office/powerpoint/2010/main" val="1833384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Navigation</a:t>
            </a:r>
            <a:endParaRPr lang="en-PH" b="1" dirty="0"/>
          </a:p>
        </p:txBody>
      </p:sp>
      <p:sp>
        <p:nvSpPr>
          <p:cNvPr id="3" name="Content Placeholder 2">
            <a:extLst>
              <a:ext uri="{FF2B5EF4-FFF2-40B4-BE49-F238E27FC236}">
                <a16:creationId xmlns:a16="http://schemas.microsoft.com/office/drawing/2014/main" id="{6C36D944-E7D5-FA33-1FE7-97E8C9BDB7FF}"/>
              </a:ext>
            </a:extLst>
          </p:cNvPr>
          <p:cNvSpPr>
            <a:spLocks noGrp="1"/>
          </p:cNvSpPr>
          <p:nvPr>
            <p:ph idx="1"/>
          </p:nvPr>
        </p:nvSpPr>
        <p:spPr/>
        <p:txBody>
          <a:bodyPr/>
          <a:lstStyle/>
          <a:p>
            <a:pPr marL="0" indent="0">
              <a:buNone/>
            </a:pPr>
            <a:r>
              <a:rPr lang="en-US" b="0" i="0" dirty="0">
                <a:solidFill>
                  <a:srgbClr val="1A1A1A"/>
                </a:solidFill>
                <a:effectLst/>
                <a:latin typeface="YAFdJkvp3-k 0"/>
              </a:rPr>
              <a:t>Flutter Navigation Tools:</a:t>
            </a:r>
            <a:endParaRPr lang="en-US" dirty="0">
              <a:solidFill>
                <a:srgbClr val="1A1A1A"/>
              </a:solidFill>
              <a:effectLst/>
              <a:latin typeface="YAFdJkvp3-k 0"/>
            </a:endParaRPr>
          </a:p>
          <a:p>
            <a:pPr>
              <a:buFont typeface="Arial" panose="020B0604020202020204" pitchFamily="34" charset="0"/>
              <a:buChar char="•"/>
            </a:pPr>
            <a:r>
              <a:rPr lang="en-US" b="1" i="0" dirty="0">
                <a:solidFill>
                  <a:srgbClr val="1A1A1A"/>
                </a:solidFill>
                <a:effectLst/>
              </a:rPr>
              <a:t>Named Routes</a:t>
            </a:r>
            <a:r>
              <a:rPr lang="en-US" b="0" i="0" dirty="0">
                <a:solidFill>
                  <a:srgbClr val="1A1A1A"/>
                </a:solidFill>
                <a:effectLst/>
              </a:rPr>
              <a:t>: Define routes with names for easier navigation and code organization.</a:t>
            </a:r>
            <a:endParaRPr lang="en-US" dirty="0"/>
          </a:p>
          <a:p>
            <a:pPr>
              <a:buFont typeface="Arial" panose="020B0604020202020204" pitchFamily="34" charset="0"/>
              <a:buChar char="•"/>
            </a:pPr>
            <a:r>
              <a:rPr lang="en-US" b="1" i="0" dirty="0">
                <a:solidFill>
                  <a:srgbClr val="1A1A1A"/>
                </a:solidFill>
                <a:effectLst/>
              </a:rPr>
              <a:t>Navigation Packages</a:t>
            </a:r>
            <a:r>
              <a:rPr lang="en-US" b="0" i="0" dirty="0">
                <a:solidFill>
                  <a:srgbClr val="1A1A1A"/>
                </a:solidFill>
                <a:effectLst/>
              </a:rPr>
              <a:t>: Consider packages like </a:t>
            </a:r>
            <a:r>
              <a:rPr lang="en-US" b="0" i="0" dirty="0" err="1">
                <a:solidFill>
                  <a:srgbClr val="1A1A1A"/>
                </a:solidFill>
                <a:effectLst/>
              </a:rPr>
              <a:t>go_router</a:t>
            </a:r>
            <a:r>
              <a:rPr lang="en-US" b="0" i="0" dirty="0">
                <a:solidFill>
                  <a:srgbClr val="1A1A1A"/>
                </a:solidFill>
                <a:effectLst/>
              </a:rPr>
              <a:t> or </a:t>
            </a:r>
            <a:r>
              <a:rPr lang="en-US" b="0" i="0" dirty="0" err="1">
                <a:solidFill>
                  <a:srgbClr val="1A1A1A"/>
                </a:solidFill>
                <a:effectLst/>
              </a:rPr>
              <a:t>provider_router</a:t>
            </a:r>
            <a:r>
              <a:rPr lang="en-US" b="0" i="0" dirty="0">
                <a:solidFill>
                  <a:srgbClr val="1A1A1A"/>
                </a:solidFill>
                <a:effectLst/>
              </a:rPr>
              <a:t> for more complex navigation needs and declarative routing approaches.</a:t>
            </a:r>
            <a:endParaRPr lang="en-US" dirty="0"/>
          </a:p>
          <a:p>
            <a:pPr marL="0" indent="0">
              <a:buNone/>
            </a:pPr>
            <a:endParaRPr lang="en-US" dirty="0"/>
          </a:p>
        </p:txBody>
      </p:sp>
    </p:spTree>
    <p:extLst>
      <p:ext uri="{BB962C8B-B14F-4D97-AF65-F5344CB8AC3E}">
        <p14:creationId xmlns:p14="http://schemas.microsoft.com/office/powerpoint/2010/main" val="199177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06BC55-ED58-9877-3CA1-E8006CC6D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8900" y="494472"/>
            <a:ext cx="9474199" cy="5329237"/>
          </a:xfrm>
          <a:prstGeom prst="rect">
            <a:avLst/>
          </a:prstGeom>
        </p:spPr>
      </p:pic>
      <p:sp>
        <p:nvSpPr>
          <p:cNvPr id="2" name="Title 1">
            <a:extLst>
              <a:ext uri="{FF2B5EF4-FFF2-40B4-BE49-F238E27FC236}">
                <a16:creationId xmlns:a16="http://schemas.microsoft.com/office/drawing/2014/main" id="{E27D9BB3-C703-0E20-1D46-42F74788AF1E}"/>
              </a:ext>
            </a:extLst>
          </p:cNvPr>
          <p:cNvSpPr>
            <a:spLocks noGrp="1"/>
          </p:cNvSpPr>
          <p:nvPr>
            <p:ph type="title"/>
          </p:nvPr>
        </p:nvSpPr>
        <p:spPr/>
        <p:txBody>
          <a:bodyPr/>
          <a:lstStyle/>
          <a:p>
            <a:r>
              <a:rPr lang="en-US" b="1" dirty="0"/>
              <a:t>Dialogs</a:t>
            </a:r>
            <a:endParaRPr lang="en-PH" b="1" dirty="0"/>
          </a:p>
        </p:txBody>
      </p:sp>
    </p:spTree>
    <p:extLst>
      <p:ext uri="{BB962C8B-B14F-4D97-AF65-F5344CB8AC3E}">
        <p14:creationId xmlns:p14="http://schemas.microsoft.com/office/powerpoint/2010/main" val="3113235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fontScale="90000"/>
          </a:bodyPr>
          <a:lstStyle/>
          <a:p>
            <a:r>
              <a:rPr lang="en-US" sz="7000" i="0" u="none" strike="noStrike" dirty="0">
                <a:solidFill>
                  <a:srgbClr val="32418C"/>
                </a:solidFill>
                <a:effectLst/>
                <a:latin typeface="Aptos" panose="020B0004020202020204" pitchFamily="34" charset="0"/>
              </a:rPr>
              <a:t>Flutter State Management</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Presented by: Cyrus </a:t>
            </a:r>
            <a:r>
              <a:rPr lang="en-US" dirty="0" err="1"/>
              <a:t>Rj</a:t>
            </a:r>
            <a:r>
              <a:rPr lang="en-US" dirty="0"/>
              <a:t> W. Robles</a:t>
            </a:r>
          </a:p>
        </p:txBody>
      </p:sp>
    </p:spTree>
    <p:extLst>
      <p:ext uri="{BB962C8B-B14F-4D97-AF65-F5344CB8AC3E}">
        <p14:creationId xmlns:p14="http://schemas.microsoft.com/office/powerpoint/2010/main" val="4191123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fontScale="90000"/>
          </a:bodyPr>
          <a:lstStyle/>
          <a:p>
            <a:r>
              <a:rPr lang="en-US" sz="7000" i="0" u="none" strike="noStrike" dirty="0">
                <a:solidFill>
                  <a:srgbClr val="32418C"/>
                </a:solidFill>
                <a:effectLst/>
                <a:latin typeface="Aptos" panose="020B0004020202020204" pitchFamily="34" charset="0"/>
              </a:rPr>
              <a:t>Stateful Widget Life Cycle</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Intro to State Management</a:t>
            </a:r>
          </a:p>
        </p:txBody>
      </p:sp>
    </p:spTree>
    <p:extLst>
      <p:ext uri="{BB962C8B-B14F-4D97-AF65-F5344CB8AC3E}">
        <p14:creationId xmlns:p14="http://schemas.microsoft.com/office/powerpoint/2010/main" val="65972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613873"/>
            <a:ext cx="10515600" cy="846833"/>
          </a:xfrm>
        </p:spPr>
        <p:txBody>
          <a:bodyPr>
            <a:normAutofit/>
          </a:bodyPr>
          <a:lstStyle/>
          <a:p>
            <a:pPr algn="ctr"/>
            <a:r>
              <a:rPr lang="en-US" dirty="0"/>
              <a:t>Stateless Widget</a:t>
            </a:r>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597130" y="5043610"/>
            <a:ext cx="10997738" cy="938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Stateless widgets</a:t>
            </a:r>
            <a:r>
              <a:rPr lang="en-US" sz="2000" dirty="0"/>
              <a:t> are the simplest building blocks in Flutter. As the name suggests, they don't hold any state, meaning their appearance remains constant throughout their lifetime.</a:t>
            </a:r>
          </a:p>
        </p:txBody>
      </p:sp>
      <p:pic>
        <p:nvPicPr>
          <p:cNvPr id="4" name="Picture 3" descr="A blue and white diagram&#10;&#10;Description automatically generated">
            <a:extLst>
              <a:ext uri="{FF2B5EF4-FFF2-40B4-BE49-F238E27FC236}">
                <a16:creationId xmlns:a16="http://schemas.microsoft.com/office/drawing/2014/main" id="{B021B7BD-D04B-E099-0A09-C8B68FFD9A75}"/>
              </a:ext>
            </a:extLst>
          </p:cNvPr>
          <p:cNvPicPr>
            <a:picLocks noChangeAspect="1"/>
          </p:cNvPicPr>
          <p:nvPr/>
        </p:nvPicPr>
        <p:blipFill rotWithShape="1">
          <a:blip r:embed="rId3"/>
          <a:srcRect t="11490" b="10733"/>
          <a:stretch/>
        </p:blipFill>
        <p:spPr>
          <a:xfrm>
            <a:off x="2349671" y="1546970"/>
            <a:ext cx="7492657" cy="3278038"/>
          </a:xfrm>
          <a:prstGeom prst="rect">
            <a:avLst/>
          </a:prstGeom>
        </p:spPr>
      </p:pic>
    </p:spTree>
    <p:extLst>
      <p:ext uri="{BB962C8B-B14F-4D97-AF65-F5344CB8AC3E}">
        <p14:creationId xmlns:p14="http://schemas.microsoft.com/office/powerpoint/2010/main" val="2819435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Example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503058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i="1" dirty="0" err="1"/>
              <a:t>MyStatelessWidget</a:t>
            </a:r>
            <a:r>
              <a:rPr lang="en-US" sz="2000" dirty="0"/>
              <a:t> is a Stateless Widget.</a:t>
            </a:r>
          </a:p>
          <a:p>
            <a:r>
              <a:rPr lang="en-US" sz="2000" dirty="0"/>
              <a:t>The build method is overridden to return a Text widget, which is the UI for this widget.</a:t>
            </a:r>
          </a:p>
          <a:p>
            <a:r>
              <a:rPr lang="en-US" sz="2000" dirty="0"/>
              <a:t>The widget will remain unchanged unless its parent rebuilds, causing the build method to be called again.</a:t>
            </a:r>
          </a:p>
        </p:txBody>
      </p:sp>
      <p:pic>
        <p:nvPicPr>
          <p:cNvPr id="4" name="Picture 3">
            <a:extLst>
              <a:ext uri="{FF2B5EF4-FFF2-40B4-BE49-F238E27FC236}">
                <a16:creationId xmlns:a16="http://schemas.microsoft.com/office/drawing/2014/main" id="{6BB7BD99-CC4C-3305-0576-09D47F3CB119}"/>
              </a:ext>
            </a:extLst>
          </p:cNvPr>
          <p:cNvPicPr>
            <a:picLocks noChangeAspect="1"/>
          </p:cNvPicPr>
          <p:nvPr/>
        </p:nvPicPr>
        <p:blipFill>
          <a:blip r:embed="rId3"/>
          <a:stretch>
            <a:fillRect/>
          </a:stretch>
        </p:blipFill>
        <p:spPr>
          <a:xfrm>
            <a:off x="6096000" y="2151932"/>
            <a:ext cx="5696745" cy="2010056"/>
          </a:xfrm>
          <a:prstGeom prst="rect">
            <a:avLst/>
          </a:prstGeom>
        </p:spPr>
      </p:pic>
    </p:spTree>
    <p:extLst>
      <p:ext uri="{BB962C8B-B14F-4D97-AF65-F5344CB8AC3E}">
        <p14:creationId xmlns:p14="http://schemas.microsoft.com/office/powerpoint/2010/main" val="3369132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613873"/>
            <a:ext cx="10515600" cy="846833"/>
          </a:xfrm>
        </p:spPr>
        <p:txBody>
          <a:bodyPr>
            <a:normAutofit/>
          </a:bodyPr>
          <a:lstStyle/>
          <a:p>
            <a:pPr algn="ctr"/>
            <a:r>
              <a:rPr lang="en-US"/>
              <a:t>Stateful Widget</a:t>
            </a:r>
            <a:endParaRPr lang="en-US" dirty="0"/>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597130" y="1666646"/>
            <a:ext cx="5337844" cy="457748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Unlike stateless widgets, </a:t>
            </a:r>
            <a:r>
              <a:rPr lang="en-US" sz="2000" b="1" dirty="0"/>
              <a:t>Stateful Widgets</a:t>
            </a:r>
            <a:r>
              <a:rPr lang="en-US" sz="2000" dirty="0"/>
              <a:t> can maintain and modify their state over time. This allows for dynamic updates to the UI based on user interactions, data changes, or other events.</a:t>
            </a:r>
            <a:endParaRPr lang="en-US" sz="2000" b="1" dirty="0"/>
          </a:p>
          <a:p>
            <a:r>
              <a:rPr lang="en-US" sz="2000" b="1" dirty="0" err="1"/>
              <a:t>createState</a:t>
            </a:r>
            <a:r>
              <a:rPr lang="en-US" sz="2000" b="1" dirty="0"/>
              <a:t>()</a:t>
            </a:r>
            <a:r>
              <a:rPr lang="en-US" sz="2000" dirty="0"/>
              <a:t>: This method is called when the widget is first inserted into the widget tree. It returns a State object, which holds the mutable state of the widget.</a:t>
            </a:r>
          </a:p>
          <a:p>
            <a:r>
              <a:rPr lang="en-US" sz="2000" b="1" dirty="0" err="1"/>
              <a:t>initState</a:t>
            </a:r>
            <a:r>
              <a:rPr lang="en-US" sz="2000" b="1" dirty="0"/>
              <a:t>(): </a:t>
            </a:r>
            <a:r>
              <a:rPr lang="en-US" sz="2000" dirty="0"/>
              <a:t>Called immediately after </a:t>
            </a:r>
            <a:r>
              <a:rPr lang="en-US" sz="2000" i="1" dirty="0" err="1"/>
              <a:t>createState</a:t>
            </a:r>
            <a:r>
              <a:rPr lang="en-US" sz="2000" i="1" dirty="0"/>
              <a:t>()</a:t>
            </a:r>
            <a:r>
              <a:rPr lang="en-US" sz="2000" dirty="0"/>
              <a:t>, it's used for initial setup, like initializing state variables or subscribing to streams. This method is called only once during the widget's lifetime.</a:t>
            </a:r>
          </a:p>
          <a:p>
            <a:r>
              <a:rPr lang="en-US" sz="2000" b="1" dirty="0" err="1"/>
              <a:t>didChangeDependencies</a:t>
            </a:r>
            <a:r>
              <a:rPr lang="en-US" sz="2000" b="1" dirty="0"/>
              <a:t>()</a:t>
            </a:r>
            <a:r>
              <a:rPr lang="en-US" sz="2000" dirty="0"/>
              <a:t>: Called after </a:t>
            </a:r>
            <a:r>
              <a:rPr lang="en-US" sz="2000" i="1" dirty="0" err="1"/>
              <a:t>initState</a:t>
            </a:r>
            <a:r>
              <a:rPr lang="en-US" sz="2000" i="1" dirty="0"/>
              <a:t>() </a:t>
            </a:r>
            <a:r>
              <a:rPr lang="en-US" sz="2000" dirty="0"/>
              <a:t>and whenever the dependencies of the widget change (e.g., </a:t>
            </a:r>
            <a:r>
              <a:rPr lang="en-US" sz="2000" dirty="0" err="1"/>
              <a:t>InheritedWidget</a:t>
            </a:r>
            <a:r>
              <a:rPr lang="en-US" sz="2000" dirty="0"/>
              <a:t> changes, locale changes).</a:t>
            </a:r>
          </a:p>
          <a:p>
            <a:r>
              <a:rPr lang="en-US" sz="2000" b="1" dirty="0"/>
              <a:t>build()</a:t>
            </a:r>
            <a:r>
              <a:rPr lang="en-US" sz="2000" dirty="0"/>
              <a:t>: Called to construct the widget's UI. It's called every time the state changes or the widget is rebuilt due to other reasons.</a:t>
            </a:r>
          </a:p>
          <a:p>
            <a:r>
              <a:rPr lang="en-US" sz="2000" b="1" dirty="0" err="1"/>
              <a:t>didUpdateWidget</a:t>
            </a:r>
            <a:r>
              <a:rPr lang="en-US" sz="2000" b="1" dirty="0"/>
              <a:t>()</a:t>
            </a:r>
            <a:r>
              <a:rPr lang="en-US" sz="2000" dirty="0"/>
              <a:t>: Called when the widget configuration changes (e.g., properties passed to the widget).</a:t>
            </a:r>
          </a:p>
          <a:p>
            <a:r>
              <a:rPr lang="en-US" sz="2000" b="1" dirty="0"/>
              <a:t>deactivate()</a:t>
            </a:r>
            <a:r>
              <a:rPr lang="en-US" sz="2000" dirty="0"/>
              <a:t>: Called when the widget is removed from the tree but might be inserted again later.</a:t>
            </a:r>
          </a:p>
          <a:p>
            <a:r>
              <a:rPr lang="en-US" sz="2000" b="1" dirty="0"/>
              <a:t>dispose(): </a:t>
            </a:r>
            <a:r>
              <a:rPr lang="en-US" sz="2000" dirty="0"/>
              <a:t>Called when the widget is permanently removed from the tree and will never be inserted again. This is the final opportunity to release resources like timers, network connections, or subscriptions.</a:t>
            </a:r>
          </a:p>
        </p:txBody>
      </p:sp>
      <p:pic>
        <p:nvPicPr>
          <p:cNvPr id="5" name="Picture 4" descr="A diagram of a project&#10;&#10;Description automatically generated">
            <a:extLst>
              <a:ext uri="{FF2B5EF4-FFF2-40B4-BE49-F238E27FC236}">
                <a16:creationId xmlns:a16="http://schemas.microsoft.com/office/drawing/2014/main" id="{2851609C-0370-CACF-F108-7A42B1C44A1D}"/>
              </a:ext>
            </a:extLst>
          </p:cNvPr>
          <p:cNvPicPr>
            <a:picLocks noChangeAspect="1"/>
          </p:cNvPicPr>
          <p:nvPr/>
        </p:nvPicPr>
        <p:blipFill rotWithShape="1">
          <a:blip r:embed="rId3"/>
          <a:srcRect l="10796" t="8125" r="10941" b="7667"/>
          <a:stretch/>
        </p:blipFill>
        <p:spPr>
          <a:xfrm>
            <a:off x="6096000" y="1666646"/>
            <a:ext cx="5418826" cy="3279600"/>
          </a:xfrm>
          <a:prstGeom prst="rect">
            <a:avLst/>
          </a:prstGeom>
        </p:spPr>
      </p:pic>
    </p:spTree>
    <p:extLst>
      <p:ext uri="{BB962C8B-B14F-4D97-AF65-F5344CB8AC3E}">
        <p14:creationId xmlns:p14="http://schemas.microsoft.com/office/powerpoint/2010/main" val="1595211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Restore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When a user runs a mobile app and then selects another app to run, the first app is moved to the background, or backgrounded. The operating system (both iOS and Android) might kill the backgrounded app to release memory and improve performance for the app running in the foreground.</a:t>
            </a:r>
          </a:p>
          <a:p>
            <a:endParaRPr lang="en-US" sz="2000" dirty="0"/>
          </a:p>
          <a:p>
            <a:r>
              <a:rPr lang="en-US" sz="2000" dirty="0"/>
              <a:t>Flutter has a solution for this with the </a:t>
            </a:r>
            <a:r>
              <a:rPr lang="en-US" sz="2000" dirty="0" err="1"/>
              <a:t>RestorationManager</a:t>
            </a:r>
            <a:r>
              <a:rPr lang="en-US" sz="2000" dirty="0"/>
              <a:t> (and related classes) in the services library. With the </a:t>
            </a:r>
            <a:r>
              <a:rPr lang="en-US" sz="2000" dirty="0" err="1"/>
              <a:t>RestorationManager</a:t>
            </a:r>
            <a:r>
              <a:rPr lang="en-US" sz="2000" dirty="0"/>
              <a:t>, the Flutter framework provides the state data to the engine as the state changes, so that the app is ready when the OS signals that it's about to kill the app, giving the app only moments to prepare.</a:t>
            </a:r>
          </a:p>
          <a:p>
            <a:endParaRPr lang="en-US" sz="2000" dirty="0"/>
          </a:p>
          <a:p>
            <a:endParaRPr lang="en-US" sz="2000" dirty="0"/>
          </a:p>
        </p:txBody>
      </p:sp>
    </p:spTree>
    <p:extLst>
      <p:ext uri="{BB962C8B-B14F-4D97-AF65-F5344CB8AC3E}">
        <p14:creationId xmlns:p14="http://schemas.microsoft.com/office/powerpoint/2010/main" val="2737100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Instance state vs long-lived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When should you use the </a:t>
            </a:r>
            <a:r>
              <a:rPr lang="en-US" sz="2000" dirty="0" err="1"/>
              <a:t>RestorationManager</a:t>
            </a:r>
            <a:r>
              <a:rPr lang="en-US" sz="2000" dirty="0"/>
              <a:t> and when should you save state to long term storage? Instance state (also called </a:t>
            </a:r>
            <a:r>
              <a:rPr lang="en-US" sz="2000" i="1" dirty="0"/>
              <a:t>short-term</a:t>
            </a:r>
            <a:r>
              <a:rPr lang="en-US" sz="2000" dirty="0"/>
              <a:t> or </a:t>
            </a:r>
            <a:r>
              <a:rPr lang="en-US" sz="2000" i="1" dirty="0"/>
              <a:t>ephemeral state</a:t>
            </a:r>
            <a:r>
              <a:rPr lang="en-US" sz="2000" dirty="0"/>
              <a:t>), includes unsubmitted form field values, the currently selected tab, and so on. On Android, this is limited to 1 MB and, if the app exceeds this, it crashes with a </a:t>
            </a:r>
            <a:r>
              <a:rPr lang="en-US" sz="2000" dirty="0" err="1"/>
              <a:t>TransactionTooLargeException</a:t>
            </a:r>
            <a:r>
              <a:rPr lang="en-US" sz="2000" dirty="0"/>
              <a:t> error in the native code.</a:t>
            </a:r>
          </a:p>
        </p:txBody>
      </p:sp>
    </p:spTree>
    <p:extLst>
      <p:ext uri="{BB962C8B-B14F-4D97-AF65-F5344CB8AC3E}">
        <p14:creationId xmlns:p14="http://schemas.microsoft.com/office/powerpoint/2010/main" val="1793895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Flutter State Management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5452109"/>
            <a:ext cx="10147300" cy="1186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There comes a time when you need to share application state between screens, across your app. There are many approaches you can take, and many questions to think about.</a:t>
            </a:r>
          </a:p>
        </p:txBody>
      </p:sp>
      <p:pic>
        <p:nvPicPr>
          <p:cNvPr id="4" name="Picture 3" descr="A screenshot of a computer&#10;&#10;Description automatically generated">
            <a:extLst>
              <a:ext uri="{FF2B5EF4-FFF2-40B4-BE49-F238E27FC236}">
                <a16:creationId xmlns:a16="http://schemas.microsoft.com/office/drawing/2014/main" id="{AF061F15-F912-211E-C5CD-F15BF57FB586}"/>
              </a:ext>
            </a:extLst>
          </p:cNvPr>
          <p:cNvPicPr>
            <a:picLocks noChangeAspect="1"/>
          </p:cNvPicPr>
          <p:nvPr/>
        </p:nvPicPr>
        <p:blipFill>
          <a:blip r:embed="rId3"/>
          <a:stretch>
            <a:fillRect/>
          </a:stretch>
        </p:blipFill>
        <p:spPr>
          <a:xfrm>
            <a:off x="3111709" y="2094782"/>
            <a:ext cx="5968581" cy="3357327"/>
          </a:xfrm>
          <a:prstGeom prst="rect">
            <a:avLst/>
          </a:prstGeom>
        </p:spPr>
      </p:pic>
    </p:spTree>
    <p:extLst>
      <p:ext uri="{BB962C8B-B14F-4D97-AF65-F5344CB8AC3E}">
        <p14:creationId xmlns:p14="http://schemas.microsoft.com/office/powerpoint/2010/main" val="2690682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F0917C07-01FF-FB9E-A5FF-DF0F8982D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877" y="3419567"/>
            <a:ext cx="8886245" cy="321864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5EED821-505D-2A95-0AAB-D081D9B74A36}"/>
              </a:ext>
            </a:extLst>
          </p:cNvPr>
          <p:cNvSpPr txBox="1">
            <a:spLocks/>
          </p:cNvSpPr>
          <p:nvPr/>
        </p:nvSpPr>
        <p:spPr>
          <a:xfrm>
            <a:off x="838200" y="2137411"/>
            <a:ext cx="10515600" cy="45007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If you're coming to Flutter from an imperative framework (such as Android SDK or iOS </a:t>
            </a:r>
            <a:r>
              <a:rPr lang="en-US" sz="1600" dirty="0" err="1"/>
              <a:t>UIKit</a:t>
            </a:r>
            <a:r>
              <a:rPr lang="en-US" sz="1600" dirty="0"/>
              <a:t>), you need to start thinking about app development from a new perspective.</a:t>
            </a:r>
          </a:p>
          <a:p>
            <a:pPr marL="0" indent="0">
              <a:buNone/>
            </a:pPr>
            <a:r>
              <a:rPr lang="en-US" sz="1600" dirty="0"/>
              <a:t>Many assumptions that you might have don't apply to Flutter. For example, in Flutter it's okay to rebuild parts of your UI from scratch instead of modifying it. Flutter is fast enough to do that, even on every frame if needed.</a:t>
            </a:r>
          </a:p>
          <a:p>
            <a:pPr marL="0" indent="0">
              <a:buNone/>
            </a:pPr>
            <a:r>
              <a:rPr lang="en-US" sz="1600" dirty="0"/>
              <a:t>Flutter is declarative. This means that Flutter builds its user interface to reflect the current state of your app</a:t>
            </a:r>
          </a:p>
        </p:txBody>
      </p:sp>
      <p:sp>
        <p:nvSpPr>
          <p:cNvPr id="7" name="Title 1">
            <a:extLst>
              <a:ext uri="{FF2B5EF4-FFF2-40B4-BE49-F238E27FC236}">
                <a16:creationId xmlns:a16="http://schemas.microsoft.com/office/drawing/2014/main" id="{3485F609-9CD6-7690-6A54-E1DD1FF27821}"/>
              </a:ext>
            </a:extLst>
          </p:cNvPr>
          <p:cNvSpPr txBox="1">
            <a:spLocks/>
          </p:cNvSpPr>
          <p:nvPr/>
        </p:nvSpPr>
        <p:spPr>
          <a:xfrm>
            <a:off x="838200" y="826369"/>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r>
              <a:rPr lang="en-US" sz="4400" dirty="0"/>
              <a:t>Think Declaratively</a:t>
            </a:r>
          </a:p>
        </p:txBody>
      </p:sp>
    </p:spTree>
    <p:extLst>
      <p:ext uri="{BB962C8B-B14F-4D97-AF65-F5344CB8AC3E}">
        <p14:creationId xmlns:p14="http://schemas.microsoft.com/office/powerpoint/2010/main" val="44985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826369"/>
            <a:ext cx="5030585" cy="1325563"/>
          </a:xfrm>
        </p:spPr>
        <p:txBody>
          <a:bodyPr/>
          <a:lstStyle/>
          <a:p>
            <a:pPr algn="ctr"/>
            <a:r>
              <a:rPr lang="en-US" dirty="0"/>
              <a:t>Ephemeral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503058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000" b="1" dirty="0"/>
              <a:t>Scope:</a:t>
            </a:r>
            <a:r>
              <a:rPr lang="en-US" sz="2000" dirty="0"/>
              <a:t> Local to a specific widget or a small part of the UI.</a:t>
            </a:r>
          </a:p>
          <a:p>
            <a:pPr>
              <a:buFont typeface="Arial" panose="020B0604020202020204" pitchFamily="34" charset="0"/>
              <a:buChar char="•"/>
            </a:pPr>
            <a:r>
              <a:rPr lang="en-US" sz="2000" b="1" dirty="0"/>
              <a:t>Lifespan:</a:t>
            </a:r>
            <a:r>
              <a:rPr lang="en-US" sz="2000" dirty="0"/>
              <a:t> Short-lived, existing only as long as the widget is mounted and visible.</a:t>
            </a:r>
          </a:p>
          <a:p>
            <a:pPr>
              <a:buFont typeface="Arial" panose="020B0604020202020204" pitchFamily="34" charset="0"/>
              <a:buChar char="•"/>
            </a:pPr>
            <a:r>
              <a:rPr lang="en-US" sz="2000" b="1" dirty="0"/>
              <a:t>Management:</a:t>
            </a:r>
            <a:r>
              <a:rPr lang="en-US" sz="2000" dirty="0"/>
              <a:t> Typically handled within the </a:t>
            </a:r>
            <a:r>
              <a:rPr lang="en-US" sz="2000" dirty="0" err="1"/>
              <a:t>StatefulWidget</a:t>
            </a:r>
            <a:r>
              <a:rPr lang="en-US" sz="2000" dirty="0"/>
              <a:t> using the </a:t>
            </a:r>
            <a:r>
              <a:rPr lang="en-US" sz="2000" dirty="0" err="1"/>
              <a:t>setState</a:t>
            </a:r>
            <a:r>
              <a:rPr lang="en-US" sz="2000" dirty="0"/>
              <a:t> method.</a:t>
            </a:r>
          </a:p>
          <a:p>
            <a:pPr>
              <a:buFont typeface="Arial" panose="020B0604020202020204" pitchFamily="34" charset="0"/>
              <a:buChar char="•"/>
            </a:pPr>
            <a:r>
              <a:rPr lang="en-US" sz="2000" b="1" dirty="0"/>
              <a:t>Examples:</a:t>
            </a:r>
            <a:r>
              <a:rPr lang="en-US" sz="2000" dirty="0"/>
              <a:t> </a:t>
            </a:r>
          </a:p>
          <a:p>
            <a:pPr marL="742950" lvl="1" indent="-285750">
              <a:buFont typeface="Arial" panose="020B0604020202020204" pitchFamily="34" charset="0"/>
              <a:buChar char="•"/>
            </a:pPr>
            <a:r>
              <a:rPr lang="en-US" sz="1800" dirty="0"/>
              <a:t>The current text in a text field.</a:t>
            </a:r>
          </a:p>
          <a:p>
            <a:pPr marL="742950" lvl="1" indent="-285750">
              <a:buFont typeface="Arial" panose="020B0604020202020204" pitchFamily="34" charset="0"/>
              <a:buChar char="•"/>
            </a:pPr>
            <a:r>
              <a:rPr lang="en-US" sz="1800" dirty="0"/>
              <a:t>Whether a checkbox is checked or not.</a:t>
            </a:r>
          </a:p>
          <a:p>
            <a:pPr marL="742950" lvl="1" indent="-285750">
              <a:buFont typeface="Arial" panose="020B0604020202020204" pitchFamily="34" charset="0"/>
              <a:buChar char="•"/>
            </a:pPr>
            <a:r>
              <a:rPr lang="en-US" sz="1800" dirty="0"/>
              <a:t>The selected tab in a tab bar.</a:t>
            </a:r>
          </a:p>
          <a:p>
            <a:pPr marL="742950" lvl="1" indent="-285750">
              <a:buFont typeface="Arial" panose="020B0604020202020204" pitchFamily="34" charset="0"/>
              <a:buChar char="•"/>
            </a:pPr>
            <a:r>
              <a:rPr lang="en-US" sz="1800" dirty="0"/>
              <a:t>The current page in a paginated view.</a:t>
            </a:r>
          </a:p>
        </p:txBody>
      </p:sp>
      <p:sp>
        <p:nvSpPr>
          <p:cNvPr id="3" name="Content Placeholder 2">
            <a:extLst>
              <a:ext uri="{FF2B5EF4-FFF2-40B4-BE49-F238E27FC236}">
                <a16:creationId xmlns:a16="http://schemas.microsoft.com/office/drawing/2014/main" id="{03867DD1-A311-B68C-30EE-5AE13AC3728A}"/>
              </a:ext>
            </a:extLst>
          </p:cNvPr>
          <p:cNvSpPr txBox="1">
            <a:spLocks/>
          </p:cNvSpPr>
          <p:nvPr/>
        </p:nvSpPr>
        <p:spPr>
          <a:xfrm>
            <a:off x="6323215" y="2286869"/>
            <a:ext cx="5030585"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Scope:</a:t>
            </a:r>
            <a:r>
              <a:rPr lang="en-US" dirty="0"/>
              <a:t> Shared across multiple widgets or even the entire application.</a:t>
            </a:r>
          </a:p>
          <a:p>
            <a:r>
              <a:rPr lang="en-US" b="1" dirty="0"/>
              <a:t>Lifespan:</a:t>
            </a:r>
            <a:r>
              <a:rPr lang="en-US" dirty="0"/>
              <a:t> Longer-lived, often persisting across user sessions (e.g., using local storage).   </a:t>
            </a:r>
          </a:p>
          <a:p>
            <a:r>
              <a:rPr lang="en-US" b="1" dirty="0"/>
              <a:t>Management:</a:t>
            </a:r>
            <a:r>
              <a:rPr lang="en-US" dirty="0"/>
              <a:t> Requires a dedicated state management solution like Provider, </a:t>
            </a:r>
            <a:r>
              <a:rPr lang="en-US" dirty="0" err="1"/>
              <a:t>Riverpod</a:t>
            </a:r>
            <a:r>
              <a:rPr lang="en-US" dirty="0"/>
              <a:t>, </a:t>
            </a:r>
            <a:r>
              <a:rPr lang="en-US" dirty="0" err="1"/>
              <a:t>BLoC</a:t>
            </a:r>
            <a:r>
              <a:rPr lang="en-US" dirty="0"/>
              <a:t>, or Redux.</a:t>
            </a:r>
          </a:p>
          <a:p>
            <a:r>
              <a:rPr lang="en-US" b="1" dirty="0"/>
              <a:t>See</a:t>
            </a:r>
            <a:r>
              <a:rPr lang="en-US" dirty="0"/>
              <a:t>: </a:t>
            </a:r>
            <a:r>
              <a:rPr lang="en-US" dirty="0">
                <a:hlinkClick r:id="rId3"/>
              </a:rPr>
              <a:t>List of state management approaches | Flutter</a:t>
            </a:r>
            <a:endParaRPr lang="en-US" dirty="0"/>
          </a:p>
          <a:p>
            <a:r>
              <a:rPr lang="en-US" b="1" dirty="0"/>
              <a:t>Examples:</a:t>
            </a:r>
            <a:r>
              <a:rPr lang="en-US" dirty="0"/>
              <a:t> </a:t>
            </a:r>
          </a:p>
          <a:p>
            <a:pPr marL="742950" lvl="1" indent="-285750">
              <a:buFont typeface="Arial" panose="020B0604020202020204" pitchFamily="34" charset="0"/>
              <a:buChar char="•"/>
            </a:pPr>
            <a:r>
              <a:rPr lang="en-US" dirty="0"/>
              <a:t>User preferences</a:t>
            </a:r>
          </a:p>
          <a:p>
            <a:pPr marL="742950" lvl="1" indent="-285750">
              <a:buFont typeface="Arial" panose="020B0604020202020204" pitchFamily="34" charset="0"/>
              <a:buChar char="•"/>
            </a:pPr>
            <a:r>
              <a:rPr lang="en-US" dirty="0"/>
              <a:t>Login info</a:t>
            </a:r>
          </a:p>
          <a:p>
            <a:pPr marL="742950" lvl="1" indent="-285750">
              <a:buFont typeface="Arial" panose="020B0604020202020204" pitchFamily="34" charset="0"/>
              <a:buChar char="•"/>
            </a:pPr>
            <a:r>
              <a:rPr lang="en-US" dirty="0"/>
              <a:t>Notifications in a social networking app</a:t>
            </a:r>
          </a:p>
          <a:p>
            <a:pPr marL="742950" lvl="1" indent="-285750">
              <a:buFont typeface="Arial" panose="020B0604020202020204" pitchFamily="34" charset="0"/>
              <a:buChar char="•"/>
            </a:pPr>
            <a:r>
              <a:rPr lang="en-US" dirty="0"/>
              <a:t>The shopping cart in an e-commerce app</a:t>
            </a:r>
          </a:p>
          <a:p>
            <a:pPr marL="742950" lvl="1" indent="-285750">
              <a:buFont typeface="Arial" panose="020B0604020202020204" pitchFamily="34" charset="0"/>
              <a:buChar char="•"/>
            </a:pPr>
            <a:r>
              <a:rPr lang="en-US" dirty="0"/>
              <a:t>Read/unread state of articles in a news app</a:t>
            </a:r>
          </a:p>
        </p:txBody>
      </p:sp>
      <p:sp>
        <p:nvSpPr>
          <p:cNvPr id="5" name="Title 1">
            <a:extLst>
              <a:ext uri="{FF2B5EF4-FFF2-40B4-BE49-F238E27FC236}">
                <a16:creationId xmlns:a16="http://schemas.microsoft.com/office/drawing/2014/main" id="{89905B98-0D64-C420-4779-3537C40F8BF0}"/>
              </a:ext>
            </a:extLst>
          </p:cNvPr>
          <p:cNvSpPr txBox="1">
            <a:spLocks/>
          </p:cNvSpPr>
          <p:nvPr/>
        </p:nvSpPr>
        <p:spPr>
          <a:xfrm>
            <a:off x="6323215" y="826369"/>
            <a:ext cx="503058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n-US" dirty="0"/>
              <a:t>App State</a:t>
            </a:r>
          </a:p>
        </p:txBody>
      </p:sp>
      <p:sp>
        <p:nvSpPr>
          <p:cNvPr id="7" name="Title 1">
            <a:extLst>
              <a:ext uri="{FF2B5EF4-FFF2-40B4-BE49-F238E27FC236}">
                <a16:creationId xmlns:a16="http://schemas.microsoft.com/office/drawing/2014/main" id="{ACEFD82C-0F11-DAE3-55A9-BF102FBEC668}"/>
              </a:ext>
            </a:extLst>
          </p:cNvPr>
          <p:cNvSpPr txBox="1">
            <a:spLocks/>
          </p:cNvSpPr>
          <p:nvPr/>
        </p:nvSpPr>
        <p:spPr>
          <a:xfrm>
            <a:off x="5611438" y="826368"/>
            <a:ext cx="96912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n-US" dirty="0"/>
              <a:t>vs.</a:t>
            </a:r>
          </a:p>
        </p:txBody>
      </p:sp>
    </p:spTree>
    <p:extLst>
      <p:ext uri="{BB962C8B-B14F-4D97-AF65-F5344CB8AC3E}">
        <p14:creationId xmlns:p14="http://schemas.microsoft.com/office/powerpoint/2010/main" val="3154817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826369"/>
            <a:ext cx="5030585" cy="1325563"/>
          </a:xfrm>
        </p:spPr>
        <p:txBody>
          <a:bodyPr/>
          <a:lstStyle/>
          <a:p>
            <a:pPr algn="ctr"/>
            <a:r>
              <a:rPr lang="en-US" dirty="0"/>
              <a:t>Ephemeral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3580708" y="1844190"/>
            <a:ext cx="5030585" cy="30774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Code-to-code Comparison</a:t>
            </a:r>
          </a:p>
        </p:txBody>
      </p:sp>
      <p:sp>
        <p:nvSpPr>
          <p:cNvPr id="5" name="Title 1">
            <a:extLst>
              <a:ext uri="{FF2B5EF4-FFF2-40B4-BE49-F238E27FC236}">
                <a16:creationId xmlns:a16="http://schemas.microsoft.com/office/drawing/2014/main" id="{89905B98-0D64-C420-4779-3537C40F8BF0}"/>
              </a:ext>
            </a:extLst>
          </p:cNvPr>
          <p:cNvSpPr txBox="1">
            <a:spLocks/>
          </p:cNvSpPr>
          <p:nvPr/>
        </p:nvSpPr>
        <p:spPr>
          <a:xfrm>
            <a:off x="6323215" y="826369"/>
            <a:ext cx="503058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n-US" dirty="0"/>
              <a:t>App State</a:t>
            </a:r>
          </a:p>
        </p:txBody>
      </p:sp>
      <p:sp>
        <p:nvSpPr>
          <p:cNvPr id="7" name="Title 1">
            <a:extLst>
              <a:ext uri="{FF2B5EF4-FFF2-40B4-BE49-F238E27FC236}">
                <a16:creationId xmlns:a16="http://schemas.microsoft.com/office/drawing/2014/main" id="{ACEFD82C-0F11-DAE3-55A9-BF102FBEC668}"/>
              </a:ext>
            </a:extLst>
          </p:cNvPr>
          <p:cNvSpPr txBox="1">
            <a:spLocks/>
          </p:cNvSpPr>
          <p:nvPr/>
        </p:nvSpPr>
        <p:spPr>
          <a:xfrm>
            <a:off x="5611438" y="826368"/>
            <a:ext cx="96912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n-US" dirty="0"/>
              <a:t>vs.</a:t>
            </a:r>
          </a:p>
        </p:txBody>
      </p:sp>
      <p:pic>
        <p:nvPicPr>
          <p:cNvPr id="8" name="Picture 7">
            <a:extLst>
              <a:ext uri="{FF2B5EF4-FFF2-40B4-BE49-F238E27FC236}">
                <a16:creationId xmlns:a16="http://schemas.microsoft.com/office/drawing/2014/main" id="{F169DB1F-D291-2C56-FC89-26FC54FACFD3}"/>
              </a:ext>
            </a:extLst>
          </p:cNvPr>
          <p:cNvPicPr>
            <a:picLocks noChangeAspect="1"/>
          </p:cNvPicPr>
          <p:nvPr/>
        </p:nvPicPr>
        <p:blipFill>
          <a:blip r:embed="rId3"/>
          <a:stretch>
            <a:fillRect/>
          </a:stretch>
        </p:blipFill>
        <p:spPr>
          <a:xfrm>
            <a:off x="1170993" y="2151931"/>
            <a:ext cx="3986015" cy="4566711"/>
          </a:xfrm>
          <a:prstGeom prst="rect">
            <a:avLst/>
          </a:prstGeom>
        </p:spPr>
      </p:pic>
      <p:pic>
        <p:nvPicPr>
          <p:cNvPr id="10" name="Picture 9">
            <a:extLst>
              <a:ext uri="{FF2B5EF4-FFF2-40B4-BE49-F238E27FC236}">
                <a16:creationId xmlns:a16="http://schemas.microsoft.com/office/drawing/2014/main" id="{380E1F9C-774E-E7BE-4816-6E4E35CD010A}"/>
              </a:ext>
            </a:extLst>
          </p:cNvPr>
          <p:cNvPicPr>
            <a:picLocks noChangeAspect="1"/>
          </p:cNvPicPr>
          <p:nvPr/>
        </p:nvPicPr>
        <p:blipFill>
          <a:blip r:embed="rId4"/>
          <a:stretch>
            <a:fillRect/>
          </a:stretch>
        </p:blipFill>
        <p:spPr>
          <a:xfrm>
            <a:off x="7566723" y="2148280"/>
            <a:ext cx="2878093" cy="4570362"/>
          </a:xfrm>
          <a:prstGeom prst="rect">
            <a:avLst/>
          </a:prstGeom>
        </p:spPr>
      </p:pic>
    </p:spTree>
    <p:extLst>
      <p:ext uri="{BB962C8B-B14F-4D97-AF65-F5344CB8AC3E}">
        <p14:creationId xmlns:p14="http://schemas.microsoft.com/office/powerpoint/2010/main" val="913291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EED821-505D-2A95-0AAB-D081D9B74A36}"/>
              </a:ext>
            </a:extLst>
          </p:cNvPr>
          <p:cNvSpPr txBox="1">
            <a:spLocks/>
          </p:cNvSpPr>
          <p:nvPr/>
        </p:nvSpPr>
        <p:spPr>
          <a:xfrm>
            <a:off x="838200" y="2151932"/>
            <a:ext cx="10515600"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There is no clear-cut, universal rule to distinguish whether a particular variable is ephemeral or app state. Sometimes, you'll have to refactor one into another. For example, you'll start with some clearly ephemeral state, but as your application grows in features, it might need to be moved to app state.</a:t>
            </a:r>
          </a:p>
          <a:p>
            <a:pPr marL="0" indent="0">
              <a:buNone/>
            </a:pPr>
            <a:r>
              <a:rPr lang="en-US" sz="1600" dirty="0"/>
              <a:t>For that reason, take the following diagram with a large grain of salt:</a:t>
            </a:r>
          </a:p>
        </p:txBody>
      </p:sp>
      <p:sp>
        <p:nvSpPr>
          <p:cNvPr id="7" name="Title 1">
            <a:extLst>
              <a:ext uri="{FF2B5EF4-FFF2-40B4-BE49-F238E27FC236}">
                <a16:creationId xmlns:a16="http://schemas.microsoft.com/office/drawing/2014/main" id="{3485F609-9CD6-7690-6A54-E1DD1FF27821}"/>
              </a:ext>
            </a:extLst>
          </p:cNvPr>
          <p:cNvSpPr txBox="1">
            <a:spLocks/>
          </p:cNvSpPr>
          <p:nvPr/>
        </p:nvSpPr>
        <p:spPr>
          <a:xfrm>
            <a:off x="838200" y="826369"/>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r>
              <a:rPr lang="en-US" sz="4400" dirty="0"/>
              <a:t>There is no clear-cut rule</a:t>
            </a:r>
          </a:p>
        </p:txBody>
      </p:sp>
      <p:pic>
        <p:nvPicPr>
          <p:cNvPr id="5" name="Picture 4" descr="A diagram of a data flow&#10;&#10;Description automatically generated">
            <a:extLst>
              <a:ext uri="{FF2B5EF4-FFF2-40B4-BE49-F238E27FC236}">
                <a16:creationId xmlns:a16="http://schemas.microsoft.com/office/drawing/2014/main" id="{929A45F3-5297-558A-67A2-515E80D544EA}"/>
              </a:ext>
            </a:extLst>
          </p:cNvPr>
          <p:cNvPicPr>
            <a:picLocks noChangeAspect="1"/>
          </p:cNvPicPr>
          <p:nvPr/>
        </p:nvPicPr>
        <p:blipFill>
          <a:blip r:embed="rId3"/>
          <a:stretch>
            <a:fillRect/>
          </a:stretch>
        </p:blipFill>
        <p:spPr>
          <a:xfrm>
            <a:off x="3264217" y="2976832"/>
            <a:ext cx="5663565" cy="3661375"/>
          </a:xfrm>
          <a:prstGeom prst="rect">
            <a:avLst/>
          </a:prstGeom>
        </p:spPr>
      </p:pic>
    </p:spTree>
    <p:extLst>
      <p:ext uri="{BB962C8B-B14F-4D97-AF65-F5344CB8AC3E}">
        <p14:creationId xmlns:p14="http://schemas.microsoft.com/office/powerpoint/2010/main" val="56238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Simple app state management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199" y="2439269"/>
            <a:ext cx="72656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For illustration, consider the following simple app.</a:t>
            </a:r>
          </a:p>
          <a:p>
            <a:endParaRPr lang="en-US" sz="2000" dirty="0"/>
          </a:p>
          <a:p>
            <a:r>
              <a:rPr lang="en-US" sz="2000" dirty="0"/>
              <a:t>The app has two separate screens: a catalog, and a cart (represented by the </a:t>
            </a:r>
            <a:r>
              <a:rPr lang="en-US" sz="2000" dirty="0" err="1"/>
              <a:t>MyCatalog</a:t>
            </a:r>
            <a:r>
              <a:rPr lang="en-US" sz="2000" dirty="0"/>
              <a:t>, and </a:t>
            </a:r>
            <a:r>
              <a:rPr lang="en-US" sz="2000" dirty="0" err="1"/>
              <a:t>MyCart</a:t>
            </a:r>
            <a:r>
              <a:rPr lang="en-US" sz="2000" dirty="0"/>
              <a:t> widgets, respectively). It could be a shopping app, but you can imagine the same structure in a simple social networking app (replace catalog for "wall" and cart for "favorites").</a:t>
            </a:r>
          </a:p>
          <a:p>
            <a:endParaRPr lang="en-US" sz="2000" dirty="0"/>
          </a:p>
          <a:p>
            <a:r>
              <a:rPr lang="en-US" sz="2000" dirty="0"/>
              <a:t>The catalog screen includes a custom app bar (</a:t>
            </a:r>
            <a:r>
              <a:rPr lang="en-US" sz="2000" dirty="0" err="1"/>
              <a:t>MyAppBar</a:t>
            </a:r>
            <a:r>
              <a:rPr lang="en-US" sz="2000" dirty="0"/>
              <a:t>) and a scrolling view of many list items (</a:t>
            </a:r>
            <a:r>
              <a:rPr lang="en-US" sz="2000" dirty="0" err="1"/>
              <a:t>MyListItems</a:t>
            </a:r>
            <a:r>
              <a:rPr lang="en-US" sz="2000" dirty="0"/>
              <a:t>).</a:t>
            </a:r>
          </a:p>
        </p:txBody>
      </p:sp>
      <p:pic>
        <p:nvPicPr>
          <p:cNvPr id="8" name="Picture 7" descr="A screen shot of a phone&#10;&#10;Description automatically generated">
            <a:extLst>
              <a:ext uri="{FF2B5EF4-FFF2-40B4-BE49-F238E27FC236}">
                <a16:creationId xmlns:a16="http://schemas.microsoft.com/office/drawing/2014/main" id="{57AAB33B-35D9-9366-C743-4E975F60E91E}"/>
              </a:ext>
            </a:extLst>
          </p:cNvPr>
          <p:cNvPicPr>
            <a:picLocks noChangeAspect="1"/>
          </p:cNvPicPr>
          <p:nvPr/>
        </p:nvPicPr>
        <p:blipFill>
          <a:blip r:embed="rId3"/>
          <a:stretch>
            <a:fillRect/>
          </a:stretch>
        </p:blipFill>
        <p:spPr>
          <a:xfrm>
            <a:off x="8801101" y="1737024"/>
            <a:ext cx="2552700" cy="4901183"/>
          </a:xfrm>
          <a:prstGeom prst="rect">
            <a:avLst/>
          </a:prstGeom>
        </p:spPr>
      </p:pic>
    </p:spTree>
    <p:extLst>
      <p:ext uri="{BB962C8B-B14F-4D97-AF65-F5344CB8AC3E}">
        <p14:creationId xmlns:p14="http://schemas.microsoft.com/office/powerpoint/2010/main" val="617620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Simple app state management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641985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Here's the app visualized as a widget tree.</a:t>
            </a:r>
          </a:p>
          <a:p>
            <a:pPr marL="0" indent="0">
              <a:buNone/>
            </a:pPr>
            <a:endParaRPr lang="en-US" sz="2000" dirty="0"/>
          </a:p>
          <a:p>
            <a:pPr marL="0" indent="0">
              <a:buNone/>
            </a:pPr>
            <a:r>
              <a:rPr lang="en-US" sz="2000" dirty="0"/>
              <a:t>So we have at least 5 subclasses of Widget. Many of them need access to state that "belongs" elsewhere. For example, each </a:t>
            </a:r>
            <a:r>
              <a:rPr lang="en-US" sz="2000" dirty="0" err="1"/>
              <a:t>MyListItem</a:t>
            </a:r>
            <a:r>
              <a:rPr lang="en-US" sz="2000" dirty="0"/>
              <a:t> needs to be able to add itself to the cart. It might also want to see whether the currently displayed item is already in the cart.</a:t>
            </a:r>
          </a:p>
          <a:p>
            <a:pPr marL="0" indent="0">
              <a:buNone/>
            </a:pPr>
            <a:endParaRPr lang="en-US" sz="2000" dirty="0"/>
          </a:p>
          <a:p>
            <a:pPr marL="0" indent="0">
              <a:buNone/>
            </a:pPr>
            <a:r>
              <a:rPr lang="en-US" sz="2000" dirty="0"/>
              <a:t>This takes us to the first question: where should we put the current state of the cart?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pic>
        <p:nvPicPr>
          <p:cNvPr id="4" name="Picture 3" descr="A screenshot of a phone&#10;&#10;Description automatically generated">
            <a:extLst>
              <a:ext uri="{FF2B5EF4-FFF2-40B4-BE49-F238E27FC236}">
                <a16:creationId xmlns:a16="http://schemas.microsoft.com/office/drawing/2014/main" id="{BAC8F27E-486A-D849-2626-F3457E0E4C29}"/>
              </a:ext>
            </a:extLst>
          </p:cNvPr>
          <p:cNvPicPr>
            <a:picLocks noChangeAspect="1"/>
          </p:cNvPicPr>
          <p:nvPr/>
        </p:nvPicPr>
        <p:blipFill>
          <a:blip r:embed="rId3"/>
          <a:stretch>
            <a:fillRect/>
          </a:stretch>
        </p:blipFill>
        <p:spPr>
          <a:xfrm>
            <a:off x="6799104" y="2151932"/>
            <a:ext cx="4816792" cy="4770253"/>
          </a:xfrm>
          <a:prstGeom prst="rect">
            <a:avLst/>
          </a:prstGeom>
        </p:spPr>
      </p:pic>
    </p:spTree>
    <p:extLst>
      <p:ext uri="{BB962C8B-B14F-4D97-AF65-F5344CB8AC3E}">
        <p14:creationId xmlns:p14="http://schemas.microsoft.com/office/powerpoint/2010/main" val="2230660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Lifting state up</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1051560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In Flutter, it makes sense to keep the state above the widgets that use it.</a:t>
            </a:r>
          </a:p>
          <a:p>
            <a:pPr marL="0" indent="0">
              <a:buNone/>
            </a:pPr>
            <a:r>
              <a:rPr lang="en-US" sz="2000" dirty="0"/>
              <a:t>Why? In declarative frameworks like Flutter, if you want to change the UI, you have to rebuild it. There is no easy way to have </a:t>
            </a:r>
            <a:r>
              <a:rPr lang="en-US" sz="2000" dirty="0" err="1"/>
              <a:t>MyCart.updateWith</a:t>
            </a:r>
            <a:r>
              <a:rPr lang="en-US" sz="2000" dirty="0"/>
              <a:t>(</a:t>
            </a:r>
            <a:r>
              <a:rPr lang="en-US" sz="2000" dirty="0" err="1"/>
              <a:t>somethingNew</a:t>
            </a:r>
            <a:r>
              <a:rPr lang="en-US" sz="2000" dirty="0"/>
              <a:t>). In other words, it's hard to imperatively change a widget from outside, by calling a method on it. And even if you could make this work, you would be fighting the framework instead of letting it help you.</a:t>
            </a:r>
          </a:p>
          <a:p>
            <a:pPr marL="0" indent="0">
              <a:buNone/>
            </a:pPr>
            <a:endParaRPr lang="en-US" sz="2000" dirty="0"/>
          </a:p>
        </p:txBody>
      </p:sp>
      <p:pic>
        <p:nvPicPr>
          <p:cNvPr id="8" name="Picture 7">
            <a:extLst>
              <a:ext uri="{FF2B5EF4-FFF2-40B4-BE49-F238E27FC236}">
                <a16:creationId xmlns:a16="http://schemas.microsoft.com/office/drawing/2014/main" id="{6AF2829F-0AD8-CBE3-A228-A0CC6357B349}"/>
              </a:ext>
            </a:extLst>
          </p:cNvPr>
          <p:cNvPicPr>
            <a:picLocks noChangeAspect="1"/>
          </p:cNvPicPr>
          <p:nvPr/>
        </p:nvPicPr>
        <p:blipFill>
          <a:blip r:embed="rId3"/>
          <a:stretch>
            <a:fillRect/>
          </a:stretch>
        </p:blipFill>
        <p:spPr>
          <a:xfrm>
            <a:off x="2307747" y="4236043"/>
            <a:ext cx="7576506" cy="1795588"/>
          </a:xfrm>
          <a:prstGeom prst="rect">
            <a:avLst/>
          </a:prstGeom>
        </p:spPr>
      </p:pic>
    </p:spTree>
    <p:extLst>
      <p:ext uri="{BB962C8B-B14F-4D97-AF65-F5344CB8AC3E}">
        <p14:creationId xmlns:p14="http://schemas.microsoft.com/office/powerpoint/2010/main" val="1559893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Lifting state up (cont.)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1051560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Even if you get the above code to work, you would then have to deal with the following in the </a:t>
            </a:r>
            <a:r>
              <a:rPr lang="en-US" sz="2000" dirty="0" err="1"/>
              <a:t>MyCart</a:t>
            </a:r>
            <a:r>
              <a:rPr lang="en-US" sz="2000" dirty="0"/>
              <a:t> widget:</a:t>
            </a:r>
          </a:p>
        </p:txBody>
      </p:sp>
      <p:pic>
        <p:nvPicPr>
          <p:cNvPr id="7" name="Picture 6">
            <a:extLst>
              <a:ext uri="{FF2B5EF4-FFF2-40B4-BE49-F238E27FC236}">
                <a16:creationId xmlns:a16="http://schemas.microsoft.com/office/drawing/2014/main" id="{A57BB76D-DFCB-D0C1-22F9-4483C91AC612}"/>
              </a:ext>
            </a:extLst>
          </p:cNvPr>
          <p:cNvPicPr>
            <a:picLocks noChangeAspect="1"/>
          </p:cNvPicPr>
          <p:nvPr/>
        </p:nvPicPr>
        <p:blipFill>
          <a:blip r:embed="rId3"/>
          <a:stretch>
            <a:fillRect/>
          </a:stretch>
        </p:blipFill>
        <p:spPr>
          <a:xfrm>
            <a:off x="2675351" y="3291840"/>
            <a:ext cx="6841298" cy="3086300"/>
          </a:xfrm>
          <a:prstGeom prst="rect">
            <a:avLst/>
          </a:prstGeom>
        </p:spPr>
      </p:pic>
    </p:spTree>
    <p:extLst>
      <p:ext uri="{BB962C8B-B14F-4D97-AF65-F5344CB8AC3E}">
        <p14:creationId xmlns:p14="http://schemas.microsoft.com/office/powerpoint/2010/main" val="2538994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Lifting state up (cont.)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1051560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You would need to take into consideration the current state of the UI and apply the new data to it. It's hard to avoid bugs this way.</a:t>
            </a:r>
          </a:p>
          <a:p>
            <a:pPr marL="0" indent="0">
              <a:buNone/>
            </a:pPr>
            <a:r>
              <a:rPr lang="en-US" sz="2000" dirty="0"/>
              <a:t>In Flutter, you construct a new widget every time its contents change. Instead of </a:t>
            </a:r>
            <a:r>
              <a:rPr lang="en-US" sz="2000" dirty="0" err="1"/>
              <a:t>MyCart.updateWith</a:t>
            </a:r>
            <a:r>
              <a:rPr lang="en-US" sz="2000" dirty="0"/>
              <a:t>(</a:t>
            </a:r>
            <a:r>
              <a:rPr lang="en-US" sz="2000" dirty="0" err="1"/>
              <a:t>somethingNew</a:t>
            </a:r>
            <a:r>
              <a:rPr lang="en-US" sz="2000" dirty="0"/>
              <a:t>) (a method call) you use </a:t>
            </a:r>
            <a:r>
              <a:rPr lang="en-US" sz="2000" dirty="0" err="1"/>
              <a:t>MyCart</a:t>
            </a:r>
            <a:r>
              <a:rPr lang="en-US" sz="2000" dirty="0"/>
              <a:t>(contents) (a constructor). Because you can only construct new widgets in the build methods of their parents, if you want to change contents, it needs to live in </a:t>
            </a:r>
            <a:r>
              <a:rPr lang="en-US" sz="2000" dirty="0" err="1"/>
              <a:t>MyCart's</a:t>
            </a:r>
            <a:r>
              <a:rPr lang="en-US" sz="2000" dirty="0"/>
              <a:t> parent or above.</a:t>
            </a:r>
          </a:p>
          <a:p>
            <a:pPr marL="0" indent="0">
              <a:buNone/>
            </a:pPr>
            <a:endParaRPr lang="en-US" sz="2000" dirty="0"/>
          </a:p>
        </p:txBody>
      </p:sp>
      <p:pic>
        <p:nvPicPr>
          <p:cNvPr id="8" name="Picture 7">
            <a:extLst>
              <a:ext uri="{FF2B5EF4-FFF2-40B4-BE49-F238E27FC236}">
                <a16:creationId xmlns:a16="http://schemas.microsoft.com/office/drawing/2014/main" id="{0F001243-29BF-1FF3-6027-1C1143A3A7C0}"/>
              </a:ext>
            </a:extLst>
          </p:cNvPr>
          <p:cNvPicPr>
            <a:picLocks noChangeAspect="1"/>
          </p:cNvPicPr>
          <p:nvPr/>
        </p:nvPicPr>
        <p:blipFill>
          <a:blip r:embed="rId3"/>
          <a:stretch>
            <a:fillRect/>
          </a:stretch>
        </p:blipFill>
        <p:spPr>
          <a:xfrm>
            <a:off x="2218940" y="4480560"/>
            <a:ext cx="7754120" cy="1796545"/>
          </a:xfrm>
          <a:prstGeom prst="rect">
            <a:avLst/>
          </a:prstGeom>
        </p:spPr>
      </p:pic>
    </p:spTree>
    <p:extLst>
      <p:ext uri="{BB962C8B-B14F-4D97-AF65-F5344CB8AC3E}">
        <p14:creationId xmlns:p14="http://schemas.microsoft.com/office/powerpoint/2010/main" val="1066527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Lifting state up (cont.)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1051560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Now </a:t>
            </a:r>
            <a:r>
              <a:rPr lang="en-US" sz="2000" dirty="0" err="1"/>
              <a:t>MyCart</a:t>
            </a:r>
            <a:r>
              <a:rPr lang="en-US" sz="2000" dirty="0"/>
              <a:t> has only one code path for building any version of the UI.</a:t>
            </a:r>
          </a:p>
        </p:txBody>
      </p:sp>
      <p:pic>
        <p:nvPicPr>
          <p:cNvPr id="7" name="Picture 6">
            <a:extLst>
              <a:ext uri="{FF2B5EF4-FFF2-40B4-BE49-F238E27FC236}">
                <a16:creationId xmlns:a16="http://schemas.microsoft.com/office/drawing/2014/main" id="{CD179926-1D00-BFDF-E545-F9D2DCF272D9}"/>
              </a:ext>
            </a:extLst>
          </p:cNvPr>
          <p:cNvPicPr>
            <a:picLocks noChangeAspect="1"/>
          </p:cNvPicPr>
          <p:nvPr/>
        </p:nvPicPr>
        <p:blipFill>
          <a:blip r:embed="rId3"/>
          <a:stretch>
            <a:fillRect/>
          </a:stretch>
        </p:blipFill>
        <p:spPr>
          <a:xfrm>
            <a:off x="1656159" y="2983230"/>
            <a:ext cx="8879681" cy="2885274"/>
          </a:xfrm>
          <a:prstGeom prst="rect">
            <a:avLst/>
          </a:prstGeom>
        </p:spPr>
      </p:pic>
    </p:spTree>
    <p:extLst>
      <p:ext uri="{BB962C8B-B14F-4D97-AF65-F5344CB8AC3E}">
        <p14:creationId xmlns:p14="http://schemas.microsoft.com/office/powerpoint/2010/main" val="1265939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Simple app state management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5" name="Content Placeholder 2">
            <a:extLst>
              <a:ext uri="{FF2B5EF4-FFF2-40B4-BE49-F238E27FC236}">
                <a16:creationId xmlns:a16="http://schemas.microsoft.com/office/drawing/2014/main" id="{4FD9B526-5369-F0CA-60E2-CEE93BE61190}"/>
              </a:ext>
            </a:extLst>
          </p:cNvPr>
          <p:cNvSpPr txBox="1">
            <a:spLocks/>
          </p:cNvSpPr>
          <p:nvPr/>
        </p:nvSpPr>
        <p:spPr>
          <a:xfrm>
            <a:off x="838200" y="2286869"/>
            <a:ext cx="6419850" cy="4503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In the example, contents needs to live in </a:t>
            </a:r>
            <a:r>
              <a:rPr lang="en-US" sz="2000" dirty="0" err="1"/>
              <a:t>MyApp</a:t>
            </a:r>
            <a:r>
              <a:rPr lang="en-US" sz="2000" dirty="0"/>
              <a:t>. Whenever it changes, it rebuilds </a:t>
            </a:r>
            <a:r>
              <a:rPr lang="en-US" sz="2000" dirty="0" err="1"/>
              <a:t>MyCart</a:t>
            </a:r>
            <a:r>
              <a:rPr lang="en-US" sz="2000" dirty="0"/>
              <a:t> from above (more on that later). Because of this, </a:t>
            </a:r>
            <a:r>
              <a:rPr lang="en-US" sz="2000" dirty="0" err="1"/>
              <a:t>MyCart</a:t>
            </a:r>
            <a:r>
              <a:rPr lang="en-US" sz="2000" dirty="0"/>
              <a:t> doesn't need to worry about lifecycle—it just declares what to show for any given contents. When that changes, the old </a:t>
            </a:r>
            <a:r>
              <a:rPr lang="en-US" sz="2000" dirty="0" err="1"/>
              <a:t>MyCart</a:t>
            </a:r>
            <a:r>
              <a:rPr lang="en-US" sz="2000" dirty="0"/>
              <a:t> widget disappears and is completely replaced by the new one.</a:t>
            </a:r>
          </a:p>
          <a:p>
            <a:pPr marL="0" indent="0">
              <a:buNone/>
            </a:pPr>
            <a:endParaRPr lang="en-US" sz="2000" dirty="0"/>
          </a:p>
          <a:p>
            <a:pPr marL="0" indent="0">
              <a:buNone/>
            </a:pPr>
            <a:r>
              <a:rPr lang="en-US" sz="2000" dirty="0"/>
              <a:t>This is what we mean when we say that widgets are immutable. They don't change—they get replaced.</a:t>
            </a:r>
          </a:p>
          <a:p>
            <a:pPr marL="0" indent="0">
              <a:buNone/>
            </a:pPr>
            <a:r>
              <a:rPr lang="en-US" sz="2000" dirty="0"/>
              <a:t>Now that we know where to put the state of the cart, let's see how to access it.</a:t>
            </a:r>
          </a:p>
          <a:p>
            <a:pPr marL="0" indent="0">
              <a:buNone/>
            </a:pPr>
            <a:endParaRPr lang="en-US" sz="2000" dirty="0"/>
          </a:p>
        </p:txBody>
      </p:sp>
      <p:pic>
        <p:nvPicPr>
          <p:cNvPr id="4" name="Picture 3">
            <a:extLst>
              <a:ext uri="{FF2B5EF4-FFF2-40B4-BE49-F238E27FC236}">
                <a16:creationId xmlns:a16="http://schemas.microsoft.com/office/drawing/2014/main" id="{BAC8F27E-486A-D849-2626-F3457E0E4C29}"/>
              </a:ext>
            </a:extLst>
          </p:cNvPr>
          <p:cNvPicPr>
            <a:picLocks noChangeAspect="1"/>
          </p:cNvPicPr>
          <p:nvPr/>
        </p:nvPicPr>
        <p:blipFill>
          <a:blip r:embed="rId3"/>
          <a:srcRect/>
          <a:stretch/>
        </p:blipFill>
        <p:spPr>
          <a:xfrm>
            <a:off x="6799104" y="2151932"/>
            <a:ext cx="4816792" cy="4770252"/>
          </a:xfrm>
          <a:prstGeom prst="rect">
            <a:avLst/>
          </a:prstGeom>
        </p:spPr>
      </p:pic>
    </p:spTree>
    <p:extLst>
      <p:ext uri="{BB962C8B-B14F-4D97-AF65-F5344CB8AC3E}">
        <p14:creationId xmlns:p14="http://schemas.microsoft.com/office/powerpoint/2010/main" val="2609785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Accessing the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When a user clicks on one of the items in the catalog, it's added to the cart. But since the cart lives above </a:t>
            </a:r>
            <a:r>
              <a:rPr lang="en-US" sz="2000" dirty="0" err="1"/>
              <a:t>MyListItem</a:t>
            </a:r>
            <a:r>
              <a:rPr lang="en-US" sz="2000" dirty="0"/>
              <a:t>, how do we do that?</a:t>
            </a:r>
          </a:p>
          <a:p>
            <a:pPr marL="0" indent="0">
              <a:buNone/>
            </a:pPr>
            <a:r>
              <a:rPr lang="en-US" sz="2000" dirty="0"/>
              <a:t>A simple option is to provide a callback that </a:t>
            </a:r>
            <a:r>
              <a:rPr lang="en-US" sz="2000" dirty="0" err="1"/>
              <a:t>MyListItem</a:t>
            </a:r>
            <a:r>
              <a:rPr lang="en-US" sz="2000" dirty="0"/>
              <a:t> can call when it is clicked. Dart's functions are first class objects, so you can pass them around any way you want. So, inside </a:t>
            </a:r>
            <a:r>
              <a:rPr lang="en-US" sz="2000" dirty="0" err="1"/>
              <a:t>MyCatalog</a:t>
            </a:r>
            <a:r>
              <a:rPr lang="en-US" sz="2000" dirty="0"/>
              <a:t> you can define the following:</a:t>
            </a:r>
          </a:p>
          <a:p>
            <a:endParaRPr lang="en-US" sz="2000" dirty="0"/>
          </a:p>
        </p:txBody>
      </p:sp>
      <p:pic>
        <p:nvPicPr>
          <p:cNvPr id="5" name="Picture 4">
            <a:extLst>
              <a:ext uri="{FF2B5EF4-FFF2-40B4-BE49-F238E27FC236}">
                <a16:creationId xmlns:a16="http://schemas.microsoft.com/office/drawing/2014/main" id="{32D07BAF-39CB-9F28-88C9-39BE81544622}"/>
              </a:ext>
            </a:extLst>
          </p:cNvPr>
          <p:cNvPicPr>
            <a:picLocks noChangeAspect="1"/>
          </p:cNvPicPr>
          <p:nvPr/>
        </p:nvPicPr>
        <p:blipFill>
          <a:blip r:embed="rId3"/>
          <a:stretch>
            <a:fillRect/>
          </a:stretch>
        </p:blipFill>
        <p:spPr>
          <a:xfrm>
            <a:off x="2863609" y="3968892"/>
            <a:ext cx="6096481" cy="2669315"/>
          </a:xfrm>
          <a:prstGeom prst="rect">
            <a:avLst/>
          </a:prstGeom>
        </p:spPr>
      </p:pic>
    </p:spTree>
    <p:extLst>
      <p:ext uri="{BB962C8B-B14F-4D97-AF65-F5344CB8AC3E}">
        <p14:creationId xmlns:p14="http://schemas.microsoft.com/office/powerpoint/2010/main" val="776216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Accessing the state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This works okay, but for an app state that you need to modify from many different places, you'd have to pass around a lot of callbacks—which gets old pretty quickly.</a:t>
            </a:r>
          </a:p>
          <a:p>
            <a:r>
              <a:rPr lang="en-US" sz="1800" dirty="0"/>
              <a:t>Fortunately, Flutter has mechanisms for widgets to provide data and services to their descendants (in other words, not just their children, but any widgets below them). As you would expect from Flutter, where Everything is a Widget™, these mechanisms are just special kinds of widgets—</a:t>
            </a:r>
            <a:r>
              <a:rPr lang="en-US" sz="1800" dirty="0" err="1"/>
              <a:t>InheritedWidget</a:t>
            </a:r>
            <a:r>
              <a:rPr lang="en-US" sz="1800" dirty="0"/>
              <a:t>, </a:t>
            </a:r>
            <a:r>
              <a:rPr lang="en-US" sz="1800" dirty="0" err="1"/>
              <a:t>InheritedNotifier</a:t>
            </a:r>
            <a:r>
              <a:rPr lang="en-US" sz="1800" dirty="0"/>
              <a:t>, </a:t>
            </a:r>
            <a:r>
              <a:rPr lang="en-US" sz="1800" dirty="0" err="1"/>
              <a:t>InheritedModel</a:t>
            </a:r>
            <a:r>
              <a:rPr lang="en-US" sz="1800" dirty="0"/>
              <a:t>, and more. We won't be covering those here, because they are a bit low-level for what we're trying to do.</a:t>
            </a:r>
          </a:p>
          <a:p>
            <a:r>
              <a:rPr lang="en-US" sz="1800" dirty="0"/>
              <a:t>Instead, we are going to use a package that works with the low-level widgets but is simple to use. It's called provider.</a:t>
            </a:r>
          </a:p>
          <a:p>
            <a:r>
              <a:rPr lang="en-US" sz="1800" dirty="0"/>
              <a:t>Before working with provider, don't forget to add the dependency on it to your </a:t>
            </a:r>
            <a:r>
              <a:rPr lang="en-US" sz="1800" dirty="0" err="1"/>
              <a:t>pubspec.yaml</a:t>
            </a:r>
            <a:r>
              <a:rPr lang="en-US" sz="1800" dirty="0"/>
              <a:t>.</a:t>
            </a:r>
          </a:p>
          <a:p>
            <a:r>
              <a:rPr lang="en-US" sz="1800" dirty="0"/>
              <a:t>To add the provider package as a dependency, run flutter pub add:</a:t>
            </a:r>
          </a:p>
          <a:p>
            <a:pPr marL="0" indent="0">
              <a:buNone/>
            </a:pPr>
            <a:endParaRPr lang="en-US" dirty="0"/>
          </a:p>
        </p:txBody>
      </p:sp>
      <p:pic>
        <p:nvPicPr>
          <p:cNvPr id="7" name="Picture 6">
            <a:extLst>
              <a:ext uri="{FF2B5EF4-FFF2-40B4-BE49-F238E27FC236}">
                <a16:creationId xmlns:a16="http://schemas.microsoft.com/office/drawing/2014/main" id="{D1E7F51D-13E4-A7BF-D49A-B751D0AEAC31}"/>
              </a:ext>
            </a:extLst>
          </p:cNvPr>
          <p:cNvPicPr>
            <a:picLocks noChangeAspect="1"/>
          </p:cNvPicPr>
          <p:nvPr/>
        </p:nvPicPr>
        <p:blipFill>
          <a:blip r:embed="rId3"/>
          <a:stretch>
            <a:fillRect/>
          </a:stretch>
        </p:blipFill>
        <p:spPr>
          <a:xfrm>
            <a:off x="2666521" y="5783946"/>
            <a:ext cx="6858957" cy="495369"/>
          </a:xfrm>
          <a:prstGeom prst="rect">
            <a:avLst/>
          </a:prstGeom>
        </p:spPr>
      </p:pic>
    </p:spTree>
    <p:extLst>
      <p:ext uri="{BB962C8B-B14F-4D97-AF65-F5344CB8AC3E}">
        <p14:creationId xmlns:p14="http://schemas.microsoft.com/office/powerpoint/2010/main" val="3572801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Provider</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Now you can import '</a:t>
            </a:r>
            <a:r>
              <a:rPr lang="en-US" sz="2400" dirty="0" err="1"/>
              <a:t>package:provider</a:t>
            </a:r>
            <a:r>
              <a:rPr lang="en-US" sz="2400" dirty="0"/>
              <a:t>/</a:t>
            </a:r>
            <a:r>
              <a:rPr lang="en-US" sz="2400" dirty="0" err="1"/>
              <a:t>provider.dart</a:t>
            </a:r>
            <a:r>
              <a:rPr lang="en-US" sz="2400" dirty="0"/>
              <a:t>'; and start building.</a:t>
            </a:r>
          </a:p>
          <a:p>
            <a:pPr marL="0" indent="0">
              <a:buNone/>
            </a:pPr>
            <a:endParaRPr lang="en-US" sz="2400" dirty="0"/>
          </a:p>
          <a:p>
            <a:pPr marL="0" indent="0">
              <a:buNone/>
            </a:pPr>
            <a:r>
              <a:rPr lang="en-US" sz="2400" dirty="0"/>
              <a:t>With provider, you don't need to worry about callbacks or </a:t>
            </a:r>
            <a:r>
              <a:rPr lang="en-US" sz="2400" dirty="0" err="1"/>
              <a:t>InheritedWidgets</a:t>
            </a:r>
            <a:r>
              <a:rPr lang="en-US" sz="2400" dirty="0"/>
              <a:t>. But you do need to understand 3 concepts:</a:t>
            </a:r>
          </a:p>
          <a:p>
            <a:pPr lvl="1"/>
            <a:r>
              <a:rPr lang="en-US" sz="1800" dirty="0" err="1"/>
              <a:t>ChangeNotifier</a:t>
            </a:r>
            <a:endParaRPr lang="en-US" sz="1800" dirty="0"/>
          </a:p>
          <a:p>
            <a:pPr lvl="1"/>
            <a:r>
              <a:rPr lang="en-US" sz="1800" dirty="0" err="1"/>
              <a:t>ChangeNotifierProvider</a:t>
            </a:r>
            <a:endParaRPr lang="en-US" sz="1800" dirty="0"/>
          </a:p>
          <a:p>
            <a:pPr lvl="1"/>
            <a:r>
              <a:rPr lang="en-US" sz="1800" dirty="0"/>
              <a:t>Consumer</a:t>
            </a:r>
          </a:p>
          <a:p>
            <a:endParaRPr lang="en-US" sz="2400" dirty="0"/>
          </a:p>
        </p:txBody>
      </p:sp>
    </p:spTree>
    <p:extLst>
      <p:ext uri="{BB962C8B-B14F-4D97-AF65-F5344CB8AC3E}">
        <p14:creationId xmlns:p14="http://schemas.microsoft.com/office/powerpoint/2010/main" val="1843306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err="1"/>
              <a:t>ChangeNotifier</a:t>
            </a:r>
            <a:endParaRPr lang="en-US" dirty="0"/>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023797"/>
            <a:ext cx="5105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err="1"/>
              <a:t>ChangeNotifier</a:t>
            </a:r>
            <a:r>
              <a:rPr lang="en-US" sz="1600" dirty="0"/>
              <a:t> is a simple class included in the Flutter SDK which provides change notification to its listeners. In other words, if something is a </a:t>
            </a:r>
            <a:r>
              <a:rPr lang="en-US" sz="1600" dirty="0" err="1"/>
              <a:t>ChangeNotifier</a:t>
            </a:r>
            <a:r>
              <a:rPr lang="en-US" sz="1600" dirty="0"/>
              <a:t>, you can subscribe to its changes. (It is a form of Observable, for those familiar with the term.)</a:t>
            </a:r>
          </a:p>
          <a:p>
            <a:pPr marL="0" indent="0">
              <a:buNone/>
            </a:pPr>
            <a:endParaRPr lang="en-US" sz="1600" dirty="0"/>
          </a:p>
          <a:p>
            <a:pPr marL="0" indent="0">
              <a:buNone/>
            </a:pPr>
            <a:r>
              <a:rPr lang="en-US" sz="1600" dirty="0"/>
              <a:t>In provider, </a:t>
            </a:r>
            <a:r>
              <a:rPr lang="en-US" sz="1600" dirty="0" err="1"/>
              <a:t>ChangeNotifier</a:t>
            </a:r>
            <a:r>
              <a:rPr lang="en-US" sz="1600" dirty="0"/>
              <a:t> is one way to encapsulate your application state. For very simple apps, you get by with a single </a:t>
            </a:r>
            <a:r>
              <a:rPr lang="en-US" sz="1600" dirty="0" err="1"/>
              <a:t>ChangeNotifier</a:t>
            </a:r>
            <a:r>
              <a:rPr lang="en-US" sz="1600" dirty="0"/>
              <a:t>. In complex ones, you'll have several models, and therefore several </a:t>
            </a:r>
            <a:r>
              <a:rPr lang="en-US" sz="1600" dirty="0" err="1"/>
              <a:t>ChangeNotifiers</a:t>
            </a:r>
            <a:r>
              <a:rPr lang="en-US" sz="1600" dirty="0"/>
              <a:t>. (You don't need to use </a:t>
            </a:r>
            <a:r>
              <a:rPr lang="en-US" sz="1600" dirty="0" err="1"/>
              <a:t>ChangeNotifier</a:t>
            </a:r>
            <a:r>
              <a:rPr lang="en-US" sz="1600" dirty="0"/>
              <a:t> with provider at all, but it's an easy class to work with.)</a:t>
            </a:r>
          </a:p>
          <a:p>
            <a:pPr marL="0" indent="0">
              <a:buNone/>
            </a:pPr>
            <a:endParaRPr lang="en-US" sz="1600" dirty="0"/>
          </a:p>
          <a:p>
            <a:pPr marL="0" indent="0">
              <a:buNone/>
            </a:pPr>
            <a:r>
              <a:rPr lang="en-US" sz="1600" dirty="0"/>
              <a:t>In our shopping app example, we want to manage the state of the cart in a </a:t>
            </a:r>
            <a:r>
              <a:rPr lang="en-US" sz="1600" dirty="0" err="1"/>
              <a:t>ChangeNotifier</a:t>
            </a:r>
            <a:r>
              <a:rPr lang="en-US" sz="1600" dirty="0"/>
              <a:t>. We create a new class that extends it, like so:</a:t>
            </a:r>
          </a:p>
          <a:p>
            <a:pPr marL="0" indent="0">
              <a:buNone/>
            </a:pPr>
            <a:endParaRPr lang="en-US" sz="1600" dirty="0"/>
          </a:p>
        </p:txBody>
      </p:sp>
      <p:pic>
        <p:nvPicPr>
          <p:cNvPr id="5" name="Picture 4">
            <a:extLst>
              <a:ext uri="{FF2B5EF4-FFF2-40B4-BE49-F238E27FC236}">
                <a16:creationId xmlns:a16="http://schemas.microsoft.com/office/drawing/2014/main" id="{37AFD904-32C5-39D4-DDFC-CC13F02FE1C4}"/>
              </a:ext>
            </a:extLst>
          </p:cNvPr>
          <p:cNvPicPr>
            <a:picLocks noChangeAspect="1"/>
          </p:cNvPicPr>
          <p:nvPr/>
        </p:nvPicPr>
        <p:blipFill>
          <a:blip r:embed="rId3"/>
          <a:stretch>
            <a:fillRect/>
          </a:stretch>
        </p:blipFill>
        <p:spPr>
          <a:xfrm>
            <a:off x="6248402" y="1760726"/>
            <a:ext cx="5220429" cy="4877481"/>
          </a:xfrm>
          <a:prstGeom prst="rect">
            <a:avLst/>
          </a:prstGeom>
        </p:spPr>
      </p:pic>
    </p:spTree>
    <p:extLst>
      <p:ext uri="{BB962C8B-B14F-4D97-AF65-F5344CB8AC3E}">
        <p14:creationId xmlns:p14="http://schemas.microsoft.com/office/powerpoint/2010/main" val="3548583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err="1"/>
              <a:t>ChangeNotifier</a:t>
            </a:r>
            <a:endParaRPr lang="en-US" dirty="0"/>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The only code that is specific to </a:t>
            </a:r>
            <a:r>
              <a:rPr lang="en-US" sz="1600" dirty="0" err="1"/>
              <a:t>ChangeNotifier</a:t>
            </a:r>
            <a:r>
              <a:rPr lang="en-US" sz="1600" dirty="0"/>
              <a:t> is the call to </a:t>
            </a:r>
            <a:r>
              <a:rPr lang="en-US" sz="1600" dirty="0" err="1"/>
              <a:t>notifyListeners</a:t>
            </a:r>
            <a:r>
              <a:rPr lang="en-US" sz="1600" dirty="0"/>
              <a:t>(). Call this method any time the model changes in a way that might change your app's UI. Everything else in </a:t>
            </a:r>
            <a:r>
              <a:rPr lang="en-US" sz="1600" dirty="0" err="1"/>
              <a:t>CartModel</a:t>
            </a:r>
            <a:r>
              <a:rPr lang="en-US" sz="1600" dirty="0"/>
              <a:t> is the model itself and its business logic.</a:t>
            </a:r>
          </a:p>
          <a:p>
            <a:pPr marL="0" indent="0">
              <a:buNone/>
            </a:pPr>
            <a:r>
              <a:rPr lang="en-US" sz="1600" dirty="0" err="1"/>
              <a:t>ChangeNotifier</a:t>
            </a:r>
            <a:r>
              <a:rPr lang="en-US" sz="1600" dirty="0"/>
              <a:t> is part of </a:t>
            </a:r>
            <a:r>
              <a:rPr lang="en-US" sz="1600" dirty="0" err="1"/>
              <a:t>flutter:foundation</a:t>
            </a:r>
            <a:r>
              <a:rPr lang="en-US" sz="1600" dirty="0"/>
              <a:t> and doesn't depend on any higher-level classes in Flutter. It's easily testable (you don't even need to use widget testing for it). For example, here's a simple unit test of </a:t>
            </a:r>
            <a:r>
              <a:rPr lang="en-US" sz="1600" dirty="0" err="1"/>
              <a:t>CartModel</a:t>
            </a:r>
            <a:r>
              <a:rPr lang="en-US" sz="1600" dirty="0"/>
              <a:t>:</a:t>
            </a:r>
          </a:p>
          <a:p>
            <a:pPr marL="0" indent="0">
              <a:buNone/>
            </a:pPr>
            <a:br>
              <a:rPr lang="en-US" sz="1600" dirty="0"/>
            </a:br>
            <a:endParaRPr lang="en-US" sz="1600" dirty="0"/>
          </a:p>
        </p:txBody>
      </p:sp>
      <p:pic>
        <p:nvPicPr>
          <p:cNvPr id="4" name="Picture 3">
            <a:extLst>
              <a:ext uri="{FF2B5EF4-FFF2-40B4-BE49-F238E27FC236}">
                <a16:creationId xmlns:a16="http://schemas.microsoft.com/office/drawing/2014/main" id="{54BC39EE-A670-4012-3CA1-35299C67D470}"/>
              </a:ext>
            </a:extLst>
          </p:cNvPr>
          <p:cNvPicPr>
            <a:picLocks noChangeAspect="1"/>
          </p:cNvPicPr>
          <p:nvPr/>
        </p:nvPicPr>
        <p:blipFill>
          <a:blip r:embed="rId3"/>
          <a:stretch>
            <a:fillRect/>
          </a:stretch>
        </p:blipFill>
        <p:spPr>
          <a:xfrm>
            <a:off x="3426482" y="3429000"/>
            <a:ext cx="5339035" cy="2950175"/>
          </a:xfrm>
          <a:prstGeom prst="rect">
            <a:avLst/>
          </a:prstGeom>
        </p:spPr>
      </p:pic>
    </p:spTree>
    <p:extLst>
      <p:ext uri="{BB962C8B-B14F-4D97-AF65-F5344CB8AC3E}">
        <p14:creationId xmlns:p14="http://schemas.microsoft.com/office/powerpoint/2010/main" val="3560951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err="1"/>
              <a:t>ChangeNotifierProvider</a:t>
            </a:r>
            <a:endParaRPr lang="en-US" dirty="0"/>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err="1"/>
              <a:t>ChangeNotifierProvider</a:t>
            </a:r>
            <a:r>
              <a:rPr lang="en-US" sz="1600" dirty="0"/>
              <a:t> is the widget that provides an instance of a </a:t>
            </a:r>
            <a:r>
              <a:rPr lang="en-US" sz="1600" dirty="0" err="1"/>
              <a:t>ChangeNotifier</a:t>
            </a:r>
            <a:r>
              <a:rPr lang="en-US" sz="1600" dirty="0"/>
              <a:t> to its descendants. It comes from the provider package.</a:t>
            </a:r>
          </a:p>
          <a:p>
            <a:pPr marL="0" indent="0">
              <a:buNone/>
            </a:pPr>
            <a:r>
              <a:rPr lang="en-US" sz="1600" dirty="0"/>
              <a:t>We already know where to put </a:t>
            </a:r>
            <a:r>
              <a:rPr lang="en-US" sz="1600" dirty="0" err="1"/>
              <a:t>ChangeNotifierProvider</a:t>
            </a:r>
            <a:r>
              <a:rPr lang="en-US" sz="1600" dirty="0"/>
              <a:t>: above the widgets that need to access it. In the case of </a:t>
            </a:r>
            <a:r>
              <a:rPr lang="en-US" sz="1600" dirty="0" err="1"/>
              <a:t>CartModel</a:t>
            </a:r>
            <a:r>
              <a:rPr lang="en-US" sz="1600" dirty="0"/>
              <a:t>, that means somewhere above both </a:t>
            </a:r>
            <a:r>
              <a:rPr lang="en-US" sz="1600" dirty="0" err="1"/>
              <a:t>MyCart</a:t>
            </a:r>
            <a:r>
              <a:rPr lang="en-US" sz="1600" dirty="0"/>
              <a:t> and </a:t>
            </a:r>
            <a:r>
              <a:rPr lang="en-US" sz="1600" dirty="0" err="1"/>
              <a:t>MyCatalog</a:t>
            </a:r>
            <a:r>
              <a:rPr lang="en-US" sz="1600" dirty="0"/>
              <a:t>.</a:t>
            </a:r>
          </a:p>
          <a:p>
            <a:pPr marL="0" indent="0">
              <a:buNone/>
            </a:pPr>
            <a:r>
              <a:rPr lang="en-US" sz="1600" dirty="0"/>
              <a:t>You don't want to place </a:t>
            </a:r>
            <a:r>
              <a:rPr lang="en-US" sz="1600" dirty="0" err="1"/>
              <a:t>ChangeNotifierProvider</a:t>
            </a:r>
            <a:r>
              <a:rPr lang="en-US" sz="1600" dirty="0"/>
              <a:t> higher than necessary (because you don't want to pollute the scope). But in our case, the only widget that is on top of both </a:t>
            </a:r>
            <a:r>
              <a:rPr lang="en-US" sz="1600" dirty="0" err="1"/>
              <a:t>MyCart</a:t>
            </a:r>
            <a:r>
              <a:rPr lang="en-US" sz="1600" dirty="0"/>
              <a:t> and </a:t>
            </a:r>
            <a:r>
              <a:rPr lang="en-US" sz="1600" dirty="0" err="1"/>
              <a:t>MyCatalog</a:t>
            </a:r>
            <a:r>
              <a:rPr lang="en-US" sz="1600" dirty="0"/>
              <a:t> is </a:t>
            </a:r>
            <a:r>
              <a:rPr lang="en-US" sz="1600" dirty="0" err="1"/>
              <a:t>MyApp</a:t>
            </a:r>
            <a:r>
              <a:rPr lang="en-US" sz="1600" dirty="0"/>
              <a:t>.</a:t>
            </a:r>
          </a:p>
          <a:p>
            <a:pPr marL="0" indent="0">
              <a:buNone/>
            </a:pPr>
            <a:endParaRPr lang="en-US" sz="1600" dirty="0"/>
          </a:p>
        </p:txBody>
      </p:sp>
      <p:pic>
        <p:nvPicPr>
          <p:cNvPr id="7" name="Picture 6">
            <a:extLst>
              <a:ext uri="{FF2B5EF4-FFF2-40B4-BE49-F238E27FC236}">
                <a16:creationId xmlns:a16="http://schemas.microsoft.com/office/drawing/2014/main" id="{E37D3EF6-8A0F-8C58-F9E8-3EF65DFAB254}"/>
              </a:ext>
            </a:extLst>
          </p:cNvPr>
          <p:cNvPicPr>
            <a:picLocks noChangeAspect="1"/>
          </p:cNvPicPr>
          <p:nvPr/>
        </p:nvPicPr>
        <p:blipFill>
          <a:blip r:embed="rId3"/>
          <a:stretch>
            <a:fillRect/>
          </a:stretch>
        </p:blipFill>
        <p:spPr>
          <a:xfrm>
            <a:off x="3215801" y="3972757"/>
            <a:ext cx="5760397" cy="2402378"/>
          </a:xfrm>
          <a:prstGeom prst="rect">
            <a:avLst/>
          </a:prstGeom>
        </p:spPr>
      </p:pic>
    </p:spTree>
    <p:extLst>
      <p:ext uri="{BB962C8B-B14F-4D97-AF65-F5344CB8AC3E}">
        <p14:creationId xmlns:p14="http://schemas.microsoft.com/office/powerpoint/2010/main" val="2053215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err="1"/>
              <a:t>ChangeNotifierProvider</a:t>
            </a:r>
            <a:endParaRPr lang="en-US" dirty="0"/>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Note that we're defining a builder that creates a new instance of </a:t>
            </a:r>
            <a:r>
              <a:rPr lang="en-US" sz="1600" dirty="0" err="1"/>
              <a:t>CartModel</a:t>
            </a:r>
            <a:r>
              <a:rPr lang="en-US" sz="1600" dirty="0"/>
              <a:t>. </a:t>
            </a:r>
            <a:r>
              <a:rPr lang="en-US" sz="1600" dirty="0" err="1"/>
              <a:t>ChangeNotifierProvider</a:t>
            </a:r>
            <a:r>
              <a:rPr lang="en-US" sz="1600" dirty="0"/>
              <a:t> is smart enough not to rebuild </a:t>
            </a:r>
            <a:r>
              <a:rPr lang="en-US" sz="1600" dirty="0" err="1"/>
              <a:t>CartModel</a:t>
            </a:r>
            <a:r>
              <a:rPr lang="en-US" sz="1600" dirty="0"/>
              <a:t> unless absolutely necessary. It also automatically calls dispose() on </a:t>
            </a:r>
            <a:r>
              <a:rPr lang="en-US" sz="1600" dirty="0" err="1"/>
              <a:t>CartModel</a:t>
            </a:r>
            <a:r>
              <a:rPr lang="en-US" sz="1600" dirty="0"/>
              <a:t> when the instance is no longer needed.</a:t>
            </a:r>
          </a:p>
          <a:p>
            <a:pPr marL="0" indent="0">
              <a:buNone/>
            </a:pPr>
            <a:r>
              <a:rPr lang="en-US" sz="1600" dirty="0"/>
              <a:t>If you want to provide more than one class, you can use </a:t>
            </a:r>
            <a:r>
              <a:rPr lang="en-US" sz="1600" dirty="0" err="1"/>
              <a:t>MultiProvider</a:t>
            </a:r>
            <a:r>
              <a:rPr lang="en-US" sz="1600" dirty="0"/>
              <a:t>:</a:t>
            </a:r>
          </a:p>
          <a:p>
            <a:pPr marL="0" indent="0">
              <a:buNone/>
            </a:pPr>
            <a:endParaRPr lang="en-US" sz="1600" dirty="0"/>
          </a:p>
        </p:txBody>
      </p:sp>
      <p:pic>
        <p:nvPicPr>
          <p:cNvPr id="5" name="Picture 4">
            <a:extLst>
              <a:ext uri="{FF2B5EF4-FFF2-40B4-BE49-F238E27FC236}">
                <a16:creationId xmlns:a16="http://schemas.microsoft.com/office/drawing/2014/main" id="{E757B132-F5A8-2A80-6794-8D140559B248}"/>
              </a:ext>
            </a:extLst>
          </p:cNvPr>
          <p:cNvPicPr>
            <a:picLocks noChangeAspect="1"/>
          </p:cNvPicPr>
          <p:nvPr/>
        </p:nvPicPr>
        <p:blipFill>
          <a:blip r:embed="rId3"/>
          <a:stretch>
            <a:fillRect/>
          </a:stretch>
        </p:blipFill>
        <p:spPr>
          <a:xfrm>
            <a:off x="2504906" y="3429000"/>
            <a:ext cx="7182187" cy="3140550"/>
          </a:xfrm>
          <a:prstGeom prst="rect">
            <a:avLst/>
          </a:prstGeom>
        </p:spPr>
      </p:pic>
    </p:spTree>
    <p:extLst>
      <p:ext uri="{BB962C8B-B14F-4D97-AF65-F5344CB8AC3E}">
        <p14:creationId xmlns:p14="http://schemas.microsoft.com/office/powerpoint/2010/main" val="3414499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Consumer</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Now that </a:t>
            </a:r>
            <a:r>
              <a:rPr lang="en-US" sz="1600" dirty="0" err="1"/>
              <a:t>CartModel</a:t>
            </a:r>
            <a:r>
              <a:rPr lang="en-US" sz="1600" dirty="0"/>
              <a:t> is provided to widgets in our app through the </a:t>
            </a:r>
            <a:r>
              <a:rPr lang="en-US" sz="1600" dirty="0" err="1"/>
              <a:t>ChangeNotifierProvider</a:t>
            </a:r>
            <a:r>
              <a:rPr lang="en-US" sz="1600" dirty="0"/>
              <a:t> declaration at the top, we can start using it.</a:t>
            </a:r>
          </a:p>
          <a:p>
            <a:pPr marL="0" indent="0">
              <a:buNone/>
            </a:pPr>
            <a:r>
              <a:rPr lang="en-US" sz="1600" dirty="0"/>
              <a:t>This is done through the Consumer widget.</a:t>
            </a:r>
          </a:p>
          <a:p>
            <a:pPr marL="0" indent="0">
              <a:buNone/>
            </a:pPr>
            <a:endParaRPr lang="en-US" sz="1600" dirty="0"/>
          </a:p>
        </p:txBody>
      </p:sp>
      <p:pic>
        <p:nvPicPr>
          <p:cNvPr id="7" name="Picture 6">
            <a:extLst>
              <a:ext uri="{FF2B5EF4-FFF2-40B4-BE49-F238E27FC236}">
                <a16:creationId xmlns:a16="http://schemas.microsoft.com/office/drawing/2014/main" id="{56069620-9813-A551-35A6-CA13BF45070B}"/>
              </a:ext>
            </a:extLst>
          </p:cNvPr>
          <p:cNvPicPr>
            <a:picLocks noChangeAspect="1"/>
          </p:cNvPicPr>
          <p:nvPr/>
        </p:nvPicPr>
        <p:blipFill>
          <a:blip r:embed="rId3"/>
          <a:stretch>
            <a:fillRect/>
          </a:stretch>
        </p:blipFill>
        <p:spPr>
          <a:xfrm>
            <a:off x="1258075" y="3558465"/>
            <a:ext cx="9809200" cy="2065095"/>
          </a:xfrm>
          <a:prstGeom prst="rect">
            <a:avLst/>
          </a:prstGeom>
        </p:spPr>
      </p:pic>
    </p:spTree>
    <p:extLst>
      <p:ext uri="{BB962C8B-B14F-4D97-AF65-F5344CB8AC3E}">
        <p14:creationId xmlns:p14="http://schemas.microsoft.com/office/powerpoint/2010/main" val="159430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Consumer</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023797"/>
            <a:ext cx="51054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We must specify the type of the model that we want to access. In this case, we want </a:t>
            </a:r>
            <a:r>
              <a:rPr lang="en-US" sz="1600" dirty="0" err="1"/>
              <a:t>CartModel</a:t>
            </a:r>
            <a:r>
              <a:rPr lang="en-US" sz="1600" dirty="0"/>
              <a:t>, so we write Consumer&lt;</a:t>
            </a:r>
            <a:r>
              <a:rPr lang="en-US" sz="1600" dirty="0" err="1"/>
              <a:t>CartModel</a:t>
            </a:r>
            <a:r>
              <a:rPr lang="en-US" sz="1600" dirty="0"/>
              <a:t>&gt;. If you don't specify the generic (&lt;</a:t>
            </a:r>
            <a:r>
              <a:rPr lang="en-US" sz="1600" dirty="0" err="1"/>
              <a:t>CartModel</a:t>
            </a:r>
            <a:r>
              <a:rPr lang="en-US" sz="1600" dirty="0"/>
              <a:t>&gt;), the provider package won't be able to help you. provider is based on types, and without the type, it doesn't know what you want.</a:t>
            </a:r>
          </a:p>
          <a:p>
            <a:r>
              <a:rPr lang="en-US" sz="1600" dirty="0"/>
              <a:t>The only required argument of the Consumer widget is the builder. Builder is a function that is called whenever the </a:t>
            </a:r>
            <a:r>
              <a:rPr lang="en-US" sz="1600" dirty="0" err="1"/>
              <a:t>ChangeNotifier</a:t>
            </a:r>
            <a:r>
              <a:rPr lang="en-US" sz="1600" dirty="0"/>
              <a:t> changes. (In other words, when you call </a:t>
            </a:r>
            <a:r>
              <a:rPr lang="en-US" sz="1600" dirty="0" err="1"/>
              <a:t>notifyListeners</a:t>
            </a:r>
            <a:r>
              <a:rPr lang="en-US" sz="1600" dirty="0"/>
              <a:t>() in your model, all the builder methods of all the corresponding Consumer widgets are called.)</a:t>
            </a:r>
          </a:p>
          <a:p>
            <a:r>
              <a:rPr lang="en-US" sz="1600" dirty="0"/>
              <a:t>The builder is called with three arguments. The first one is context, which you also get in every build method.</a:t>
            </a:r>
          </a:p>
          <a:p>
            <a:r>
              <a:rPr lang="en-US" sz="1600" dirty="0"/>
              <a:t>The second argument of the builder function is the instance of the </a:t>
            </a:r>
            <a:r>
              <a:rPr lang="en-US" sz="1600" dirty="0" err="1"/>
              <a:t>ChangeNotifier</a:t>
            </a:r>
            <a:r>
              <a:rPr lang="en-US" sz="1600" dirty="0"/>
              <a:t>. It's what we were asking for in the first place. You can use the data in the model to define what the UI should look like at any given point.</a:t>
            </a:r>
          </a:p>
          <a:p>
            <a:r>
              <a:rPr lang="en-US" sz="1600" dirty="0"/>
              <a:t>The third argument is child, which is there for optimization. If you have a large widget subtree under your Consumer that doesn't change when the model changes, you can construct it once and get it through the builder.</a:t>
            </a:r>
          </a:p>
        </p:txBody>
      </p:sp>
      <p:pic>
        <p:nvPicPr>
          <p:cNvPr id="7" name="Picture 6">
            <a:extLst>
              <a:ext uri="{FF2B5EF4-FFF2-40B4-BE49-F238E27FC236}">
                <a16:creationId xmlns:a16="http://schemas.microsoft.com/office/drawing/2014/main" id="{2C9DEC75-E178-55D9-D5DC-7428E99F212C}"/>
              </a:ext>
            </a:extLst>
          </p:cNvPr>
          <p:cNvPicPr>
            <a:picLocks noChangeAspect="1"/>
          </p:cNvPicPr>
          <p:nvPr/>
        </p:nvPicPr>
        <p:blipFill>
          <a:blip r:embed="rId3"/>
          <a:stretch>
            <a:fillRect/>
          </a:stretch>
        </p:blipFill>
        <p:spPr>
          <a:xfrm>
            <a:off x="6096000" y="2574842"/>
            <a:ext cx="5798761" cy="2863138"/>
          </a:xfrm>
          <a:prstGeom prst="rect">
            <a:avLst/>
          </a:prstGeom>
        </p:spPr>
      </p:pic>
    </p:spTree>
    <p:extLst>
      <p:ext uri="{BB962C8B-B14F-4D97-AF65-F5344CB8AC3E}">
        <p14:creationId xmlns:p14="http://schemas.microsoft.com/office/powerpoint/2010/main" val="1385761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Consumer</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It is best practice to put your Consumer widgets as deep in the tree as possible. You don't want to rebuild large portions of the UI just because some detail somewhere changed.</a:t>
            </a:r>
          </a:p>
        </p:txBody>
      </p:sp>
      <p:pic>
        <p:nvPicPr>
          <p:cNvPr id="5" name="Picture 4">
            <a:extLst>
              <a:ext uri="{FF2B5EF4-FFF2-40B4-BE49-F238E27FC236}">
                <a16:creationId xmlns:a16="http://schemas.microsoft.com/office/drawing/2014/main" id="{F537F570-C6EE-F9B8-3A85-29E2C6F87A3A}"/>
              </a:ext>
            </a:extLst>
          </p:cNvPr>
          <p:cNvPicPr>
            <a:picLocks noChangeAspect="1"/>
          </p:cNvPicPr>
          <p:nvPr/>
        </p:nvPicPr>
        <p:blipFill>
          <a:blip r:embed="rId3"/>
          <a:stretch>
            <a:fillRect/>
          </a:stretch>
        </p:blipFill>
        <p:spPr>
          <a:xfrm>
            <a:off x="1139887" y="3081216"/>
            <a:ext cx="4815157" cy="3293919"/>
          </a:xfrm>
          <a:prstGeom prst="rect">
            <a:avLst/>
          </a:prstGeom>
        </p:spPr>
      </p:pic>
      <p:pic>
        <p:nvPicPr>
          <p:cNvPr id="9" name="Picture 8">
            <a:extLst>
              <a:ext uri="{FF2B5EF4-FFF2-40B4-BE49-F238E27FC236}">
                <a16:creationId xmlns:a16="http://schemas.microsoft.com/office/drawing/2014/main" id="{E2A79DA7-3CDE-C34D-34D9-4CBEBFF0197F}"/>
              </a:ext>
            </a:extLst>
          </p:cNvPr>
          <p:cNvPicPr>
            <a:picLocks noChangeAspect="1"/>
          </p:cNvPicPr>
          <p:nvPr/>
        </p:nvPicPr>
        <p:blipFill>
          <a:blip r:embed="rId4"/>
          <a:stretch>
            <a:fillRect/>
          </a:stretch>
        </p:blipFill>
        <p:spPr>
          <a:xfrm>
            <a:off x="6236958" y="3143345"/>
            <a:ext cx="4944669" cy="3169660"/>
          </a:xfrm>
          <a:prstGeom prst="rect">
            <a:avLst/>
          </a:prstGeom>
        </p:spPr>
      </p:pic>
    </p:spTree>
    <p:extLst>
      <p:ext uri="{BB962C8B-B14F-4D97-AF65-F5344CB8AC3E}">
        <p14:creationId xmlns:p14="http://schemas.microsoft.com/office/powerpoint/2010/main" val="2009903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err="1"/>
              <a:t>Provider.of</a:t>
            </a:r>
            <a:endParaRPr lang="en-US" dirty="0"/>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151933"/>
            <a:ext cx="10648950" cy="422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Sometimes, you don't really need the data in the model to change the UI but you still need to access it. For example, a </a:t>
            </a:r>
            <a:r>
              <a:rPr lang="en-US" sz="1600" dirty="0" err="1"/>
              <a:t>ClearCart</a:t>
            </a:r>
            <a:r>
              <a:rPr lang="en-US" sz="1600" dirty="0"/>
              <a:t> button wants to allow the user to remove everything from the cart. It doesn't need to display the contents of the cart, it just needs to call the clear() method.</a:t>
            </a:r>
          </a:p>
          <a:p>
            <a:pPr marL="0" indent="0">
              <a:buNone/>
            </a:pPr>
            <a:r>
              <a:rPr lang="en-US" sz="1600" dirty="0"/>
              <a:t>We could use Consumer&lt;</a:t>
            </a:r>
            <a:r>
              <a:rPr lang="en-US" sz="1600" dirty="0" err="1"/>
              <a:t>CartModel</a:t>
            </a:r>
            <a:r>
              <a:rPr lang="en-US" sz="1600" dirty="0"/>
              <a:t>&gt; for this, but that would be wasteful. We'd be asking the framework to rebuild a widget that doesn't need to be rebuilt.</a:t>
            </a:r>
          </a:p>
          <a:p>
            <a:pPr marL="0" indent="0">
              <a:buNone/>
            </a:pPr>
            <a:r>
              <a:rPr lang="en-US" sz="1600" dirty="0"/>
              <a:t>For this use case, we can use </a:t>
            </a:r>
            <a:r>
              <a:rPr lang="en-US" sz="1600" dirty="0" err="1"/>
              <a:t>Provider.of</a:t>
            </a:r>
            <a:r>
              <a:rPr lang="en-US" sz="1600" dirty="0"/>
              <a:t>, with the listen parameter set to false.</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Using the above line in a build method won't cause this widget to rebuild when </a:t>
            </a:r>
            <a:r>
              <a:rPr lang="en-US" sz="1600" dirty="0" err="1"/>
              <a:t>notifyListeners</a:t>
            </a:r>
            <a:r>
              <a:rPr lang="en-US" sz="1600" dirty="0"/>
              <a:t> is called.</a:t>
            </a:r>
          </a:p>
          <a:p>
            <a:pPr marL="0" indent="0">
              <a:buNone/>
            </a:pPr>
            <a:endParaRPr lang="en-US" sz="1600" dirty="0"/>
          </a:p>
          <a:p>
            <a:pPr marL="0" indent="0">
              <a:buNone/>
            </a:pPr>
            <a:endParaRPr lang="en-US" sz="1600" dirty="0"/>
          </a:p>
        </p:txBody>
      </p:sp>
      <p:pic>
        <p:nvPicPr>
          <p:cNvPr id="5" name="Picture 4">
            <a:extLst>
              <a:ext uri="{FF2B5EF4-FFF2-40B4-BE49-F238E27FC236}">
                <a16:creationId xmlns:a16="http://schemas.microsoft.com/office/drawing/2014/main" id="{8EC00083-8329-43E7-4F69-C03E662268C7}"/>
              </a:ext>
            </a:extLst>
          </p:cNvPr>
          <p:cNvPicPr>
            <a:picLocks noChangeAspect="1"/>
          </p:cNvPicPr>
          <p:nvPr/>
        </p:nvPicPr>
        <p:blipFill>
          <a:blip r:embed="rId3"/>
          <a:stretch>
            <a:fillRect/>
          </a:stretch>
        </p:blipFill>
        <p:spPr>
          <a:xfrm>
            <a:off x="1735246" y="4263534"/>
            <a:ext cx="8854857" cy="632489"/>
          </a:xfrm>
          <a:prstGeom prst="rect">
            <a:avLst/>
          </a:prstGeom>
        </p:spPr>
      </p:pic>
    </p:spTree>
    <p:extLst>
      <p:ext uri="{BB962C8B-B14F-4D97-AF65-F5344CB8AC3E}">
        <p14:creationId xmlns:p14="http://schemas.microsoft.com/office/powerpoint/2010/main" val="4147637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fontScale="90000"/>
          </a:bodyPr>
          <a:lstStyle/>
          <a:p>
            <a:r>
              <a:rPr lang="en-US" sz="7000" i="0" u="none" strike="noStrike" dirty="0">
                <a:solidFill>
                  <a:srgbClr val="32418C"/>
                </a:solidFill>
                <a:effectLst/>
                <a:latin typeface="Aptos" panose="020B0004020202020204" pitchFamily="34" charset="0"/>
              </a:rPr>
              <a:t>Flutter App with Back End Data</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Presented by: Cyrus </a:t>
            </a:r>
            <a:r>
              <a:rPr lang="en-US" dirty="0" err="1"/>
              <a:t>Rj</a:t>
            </a:r>
            <a:r>
              <a:rPr lang="en-US" dirty="0"/>
              <a:t> W. Robles</a:t>
            </a:r>
          </a:p>
        </p:txBody>
      </p:sp>
    </p:spTree>
    <p:extLst>
      <p:ext uri="{BB962C8B-B14F-4D97-AF65-F5344CB8AC3E}">
        <p14:creationId xmlns:p14="http://schemas.microsoft.com/office/powerpoint/2010/main" val="1704636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Back-end</a:t>
            </a:r>
          </a:p>
        </p:txBody>
      </p:sp>
      <p:sp>
        <p:nvSpPr>
          <p:cNvPr id="3" name="Content Placeholder 2">
            <a:extLst>
              <a:ext uri="{FF2B5EF4-FFF2-40B4-BE49-F238E27FC236}">
                <a16:creationId xmlns:a16="http://schemas.microsoft.com/office/drawing/2014/main" id="{F9E9654B-D8E5-22CA-371A-57FADD13842B}"/>
              </a:ext>
            </a:extLst>
          </p:cNvPr>
          <p:cNvSpPr>
            <a:spLocks noGrp="1"/>
          </p:cNvSpPr>
          <p:nvPr>
            <p:ph idx="1"/>
          </p:nvPr>
        </p:nvSpPr>
        <p:spPr>
          <a:xfrm>
            <a:off x="838198" y="1872801"/>
            <a:ext cx="5030585" cy="1629523"/>
          </a:xfrm>
        </p:spPr>
        <p:txBody>
          <a:bodyPr>
            <a:normAutofit/>
          </a:bodyPr>
          <a:lstStyle/>
          <a:p>
            <a:r>
              <a:rPr lang="en-US" sz="2000" dirty="0"/>
              <a:t>is the programming side of an application that users don't directly see. It's the "behind the scenes" work that makes websites and apps function and interact with data.</a:t>
            </a:r>
          </a:p>
        </p:txBody>
      </p:sp>
      <p:pic>
        <p:nvPicPr>
          <p:cNvPr id="1028" name="Picture 4" descr="Back-End Development For Beginners | by William Elliott | Medium">
            <a:extLst>
              <a:ext uri="{FF2B5EF4-FFF2-40B4-BE49-F238E27FC236}">
                <a16:creationId xmlns:a16="http://schemas.microsoft.com/office/drawing/2014/main" id="{3765EC06-A8BE-D377-549C-4797A5D36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054" y="1984075"/>
            <a:ext cx="5999840" cy="3189977"/>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4A06C973-1BC1-5248-49CD-31CD168D5F32}"/>
              </a:ext>
            </a:extLst>
          </p:cNvPr>
          <p:cNvSpPr txBox="1">
            <a:spLocks/>
          </p:cNvSpPr>
          <p:nvPr/>
        </p:nvSpPr>
        <p:spPr>
          <a:xfrm>
            <a:off x="838197" y="3430797"/>
            <a:ext cx="5030585" cy="3189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Responsibilities:</a:t>
            </a:r>
            <a:endParaRPr lang="en-US" sz="1600" dirty="0"/>
          </a:p>
          <a:p>
            <a:pPr>
              <a:buFont typeface="Arial" panose="020B0604020202020204" pitchFamily="34" charset="0"/>
              <a:buChar char="•"/>
            </a:pPr>
            <a:r>
              <a:rPr lang="en-US" sz="1100" b="1" dirty="0"/>
              <a:t>Building APIs:</a:t>
            </a:r>
            <a:r>
              <a:rPr lang="en-US" sz="1100" dirty="0"/>
              <a:t> Creating Application Programming Interfaces that enable communication between your app and various data sources or services.</a:t>
            </a:r>
          </a:p>
          <a:p>
            <a:pPr>
              <a:buFont typeface="Arial" panose="020B0604020202020204" pitchFamily="34" charset="0"/>
              <a:buChar char="•"/>
            </a:pPr>
            <a:r>
              <a:rPr lang="en-US" sz="1100" b="1" dirty="0"/>
              <a:t>Storing and managing data:</a:t>
            </a:r>
            <a:r>
              <a:rPr lang="en-US" sz="1100" dirty="0"/>
              <a:t> Implementing databases (e.g., SQL, NoSQL) to store and retrieve user information, app data, and other essential information.</a:t>
            </a:r>
          </a:p>
          <a:p>
            <a:pPr>
              <a:buFont typeface="Arial" panose="020B0604020202020204" pitchFamily="34" charset="0"/>
              <a:buChar char="•"/>
            </a:pPr>
            <a:r>
              <a:rPr lang="en-US" sz="1100" b="1" dirty="0"/>
              <a:t>Developing server-side logic:</a:t>
            </a:r>
            <a:r>
              <a:rPr lang="en-US" sz="1100" dirty="0"/>
              <a:t> Writing code that processes user requests, performs calculations, and interacts with databases to deliver functionality.</a:t>
            </a:r>
          </a:p>
          <a:p>
            <a:pPr>
              <a:buFont typeface="Arial" panose="020B0604020202020204" pitchFamily="34" charset="0"/>
              <a:buChar char="•"/>
            </a:pPr>
            <a:r>
              <a:rPr lang="en-US" sz="1100" b="1" dirty="0"/>
              <a:t>Handling security:</a:t>
            </a:r>
            <a:r>
              <a:rPr lang="en-US" sz="1100" dirty="0"/>
              <a:t> Implementing secure authentication, authorization, and encryption to protect user data and privacy.</a:t>
            </a:r>
          </a:p>
          <a:p>
            <a:pPr>
              <a:buFont typeface="Arial" panose="020B0604020202020204" pitchFamily="34" charset="0"/>
              <a:buChar char="•"/>
            </a:pPr>
            <a:r>
              <a:rPr lang="en-US" sz="1100" b="1" dirty="0"/>
              <a:t>Ensuring performance and scalability:</a:t>
            </a:r>
            <a:r>
              <a:rPr lang="en-US" sz="1100" dirty="0"/>
              <a:t> Optimizing code and infrastructure to handle high traffic and ensure your app stays responsive.</a:t>
            </a:r>
          </a:p>
        </p:txBody>
      </p:sp>
    </p:spTree>
    <p:extLst>
      <p:ext uri="{BB962C8B-B14F-4D97-AF65-F5344CB8AC3E}">
        <p14:creationId xmlns:p14="http://schemas.microsoft.com/office/powerpoint/2010/main" val="1058892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a:bodyPr>
          <a:lstStyle/>
          <a:p>
            <a:r>
              <a:rPr lang="en-US" sz="7000" i="0" u="none" strike="noStrike" dirty="0">
                <a:solidFill>
                  <a:srgbClr val="32418C"/>
                </a:solidFill>
                <a:effectLst/>
                <a:latin typeface="Aptos" panose="020B0004020202020204" pitchFamily="34" charset="0"/>
              </a:rPr>
              <a:t>Async and Await</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Understanding Asynchronous Programming</a:t>
            </a:r>
          </a:p>
        </p:txBody>
      </p:sp>
    </p:spTree>
    <p:extLst>
      <p:ext uri="{BB962C8B-B14F-4D97-AF65-F5344CB8AC3E}">
        <p14:creationId xmlns:p14="http://schemas.microsoft.com/office/powerpoint/2010/main" val="9244441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Asynchronous Programming</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147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32418C"/>
                </a:solidFill>
              </a:rPr>
              <a:t>Asynchronous programming </a:t>
            </a:r>
            <a:r>
              <a:rPr lang="en-US" sz="2000" dirty="0"/>
              <a:t>is a style of programming where tasks can start running without waiting for previous tasks to complete. This allows a program to continue executing other code while long-running tasks are processed in the background.</a:t>
            </a:r>
          </a:p>
          <a:p>
            <a:endParaRPr lang="en-US" sz="2000" dirty="0"/>
          </a:p>
          <a:p>
            <a:r>
              <a:rPr lang="en-US" sz="2000" b="1" dirty="0"/>
              <a:t>Key characteristics</a:t>
            </a:r>
            <a:r>
              <a:rPr lang="en-US" sz="2000" dirty="0"/>
              <a:t>:</a:t>
            </a:r>
          </a:p>
          <a:p>
            <a:pPr lvl="1"/>
            <a:r>
              <a:rPr lang="en-US" sz="1600" b="1" dirty="0"/>
              <a:t>Non-blocking</a:t>
            </a:r>
            <a:r>
              <a:rPr lang="en-US" sz="1600" dirty="0"/>
              <a:t>: The program doesn't halt execution while waiting for a task to finish.   </a:t>
            </a:r>
          </a:p>
          <a:p>
            <a:pPr lvl="1"/>
            <a:r>
              <a:rPr lang="en-US" sz="1600" b="1" dirty="0"/>
              <a:t>Concurrency</a:t>
            </a:r>
            <a:r>
              <a:rPr lang="en-US" sz="1600" dirty="0"/>
              <a:t>: Multiple tasks can run concurrently, improving responsiveness.   </a:t>
            </a:r>
          </a:p>
          <a:p>
            <a:pPr lvl="1"/>
            <a:r>
              <a:rPr lang="en-US" sz="1600" b="1" dirty="0"/>
              <a:t>Event-driven</a:t>
            </a:r>
            <a:r>
              <a:rPr lang="en-US" sz="1600" dirty="0"/>
              <a:t>: Often relies on events or callbacks to handle task completion.</a:t>
            </a:r>
          </a:p>
          <a:p>
            <a:pPr marL="457200" lvl="1" indent="0">
              <a:buNone/>
            </a:pPr>
            <a:endParaRPr lang="en-US" sz="1600" dirty="0"/>
          </a:p>
          <a:p>
            <a:r>
              <a:rPr lang="en-US" sz="2000" b="1" dirty="0"/>
              <a:t>Example</a:t>
            </a:r>
            <a:r>
              <a:rPr lang="en-US" sz="2000" dirty="0"/>
              <a:t>:</a:t>
            </a:r>
          </a:p>
          <a:p>
            <a:pPr lvl="1"/>
            <a:r>
              <a:rPr lang="en-US" sz="1600" dirty="0"/>
              <a:t>Imagine downloading a large file. In synchronous programming, the program would be blocked until the download finishes, making the application unresponsive. With asynchronous programming, the download can start in the background, and the application can continue to perform other tasks while the download progresses.</a:t>
            </a:r>
          </a:p>
          <a:p>
            <a:pPr lvl="1"/>
            <a:endParaRPr lang="en-US" sz="1600" dirty="0"/>
          </a:p>
        </p:txBody>
      </p:sp>
    </p:spTree>
    <p:extLst>
      <p:ext uri="{BB962C8B-B14F-4D97-AF65-F5344CB8AC3E}">
        <p14:creationId xmlns:p14="http://schemas.microsoft.com/office/powerpoint/2010/main" val="1525481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Future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6591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 </a:t>
            </a:r>
            <a:r>
              <a:rPr lang="en-US" sz="2000" b="1" dirty="0">
                <a:solidFill>
                  <a:srgbClr val="32418C"/>
                </a:solidFill>
              </a:rPr>
              <a:t>Future</a:t>
            </a:r>
            <a:r>
              <a:rPr lang="en-US" sz="2000" b="1" dirty="0"/>
              <a:t> </a:t>
            </a:r>
            <a:r>
              <a:rPr lang="en-US" sz="2000" dirty="0"/>
              <a:t>in Flutter is an object representing a computation that will be completed at some point in the future. It encapsulates the eventual result of an asynchronous operation. This result can be a value (if the operation succeeds) or an error (if it fails</a:t>
            </a:r>
            <a:r>
              <a:rPr lang="en-US" sz="2000" dirty="0">
                <a:solidFill>
                  <a:srgbClr val="32418C"/>
                </a:solidFill>
              </a:rPr>
              <a:t>)</a:t>
            </a:r>
          </a:p>
          <a:p>
            <a:endParaRPr lang="en-US" sz="2000" dirty="0"/>
          </a:p>
          <a:p>
            <a:r>
              <a:rPr lang="en-US" sz="2000" b="1" dirty="0"/>
              <a:t>Key Characteristics</a:t>
            </a:r>
            <a:r>
              <a:rPr lang="en-US" sz="2000" dirty="0"/>
              <a:t>:</a:t>
            </a:r>
          </a:p>
          <a:p>
            <a:pPr lvl="1"/>
            <a:r>
              <a:rPr lang="en-US" sz="1600" b="1" dirty="0"/>
              <a:t>Asynchronous</a:t>
            </a:r>
            <a:r>
              <a:rPr lang="en-US" sz="1600" dirty="0"/>
              <a:t>: Represents an operation that doesn't block the main thread.   </a:t>
            </a:r>
          </a:p>
          <a:p>
            <a:pPr lvl="1"/>
            <a:r>
              <a:rPr lang="en-US" sz="1600" b="1" dirty="0"/>
              <a:t>Eventual Result</a:t>
            </a:r>
            <a:r>
              <a:rPr lang="en-US" sz="1600" dirty="0"/>
              <a:t>: Holds the result of the operation when it completes.   </a:t>
            </a:r>
          </a:p>
          <a:p>
            <a:pPr lvl="1"/>
            <a:r>
              <a:rPr lang="en-US" sz="1600" b="1" dirty="0"/>
              <a:t>Error Handling</a:t>
            </a:r>
            <a:r>
              <a:rPr lang="en-US" sz="1600" dirty="0"/>
              <a:t>: Can handle errors that occur during the operation</a:t>
            </a:r>
          </a:p>
          <a:p>
            <a:pPr lvl="1"/>
            <a:endParaRPr lang="en-US" sz="1600" dirty="0"/>
          </a:p>
        </p:txBody>
      </p:sp>
      <p:sp>
        <p:nvSpPr>
          <p:cNvPr id="4" name="TextBox 3">
            <a:extLst>
              <a:ext uri="{FF2B5EF4-FFF2-40B4-BE49-F238E27FC236}">
                <a16:creationId xmlns:a16="http://schemas.microsoft.com/office/drawing/2014/main" id="{F05906F1-D7FD-4D98-6713-012AA4100D34}"/>
              </a:ext>
            </a:extLst>
          </p:cNvPr>
          <p:cNvSpPr txBox="1"/>
          <p:nvPr/>
        </p:nvSpPr>
        <p:spPr>
          <a:xfrm>
            <a:off x="7591425" y="2286869"/>
            <a:ext cx="4168775" cy="3293209"/>
          </a:xfrm>
          <a:prstGeom prst="rect">
            <a:avLst/>
          </a:prstGeom>
          <a:noFill/>
        </p:spPr>
        <p:txBody>
          <a:bodyPr wrap="square">
            <a:spAutoFit/>
          </a:bodyPr>
          <a:lstStyle/>
          <a:p>
            <a:r>
              <a:rPr lang="en-PH" sz="1600" dirty="0"/>
              <a:t>import '</a:t>
            </a:r>
            <a:r>
              <a:rPr lang="en-PH" sz="1600" dirty="0" err="1"/>
              <a:t>package:http</a:t>
            </a:r>
            <a:r>
              <a:rPr lang="en-PH" sz="1600" dirty="0"/>
              <a:t>/</a:t>
            </a:r>
            <a:r>
              <a:rPr lang="en-PH" sz="1600" dirty="0" err="1"/>
              <a:t>http.dart</a:t>
            </a:r>
            <a:r>
              <a:rPr lang="en-PH" sz="1600" dirty="0"/>
              <a:t>' as http;</a:t>
            </a:r>
          </a:p>
          <a:p>
            <a:endParaRPr lang="en-PH" sz="1600" dirty="0"/>
          </a:p>
          <a:p>
            <a:r>
              <a:rPr lang="en-PH" sz="1600" dirty="0"/>
              <a:t>Future&lt;String&gt; </a:t>
            </a:r>
            <a:r>
              <a:rPr lang="en-PH" sz="1600" dirty="0" err="1"/>
              <a:t>fetchData</a:t>
            </a:r>
            <a:r>
              <a:rPr lang="en-PH" sz="1600" dirty="0"/>
              <a:t>() async {</a:t>
            </a:r>
          </a:p>
          <a:p>
            <a:r>
              <a:rPr lang="en-PH" sz="1600" dirty="0"/>
              <a:t>  final response = await </a:t>
            </a:r>
            <a:r>
              <a:rPr lang="en-PH" sz="1600" dirty="0" err="1"/>
              <a:t>http.get</a:t>
            </a:r>
            <a:r>
              <a:rPr lang="en-PH" sz="1600" dirty="0"/>
              <a:t>(</a:t>
            </a:r>
            <a:r>
              <a:rPr lang="en-PH" sz="1600" dirty="0" err="1"/>
              <a:t>Uri.parse</a:t>
            </a:r>
            <a:r>
              <a:rPr lang="en-PH" sz="1600" dirty="0"/>
              <a:t>('https://api.example.com/data’));</a:t>
            </a:r>
          </a:p>
          <a:p>
            <a:endParaRPr lang="en-PH" sz="1600" dirty="0"/>
          </a:p>
          <a:p>
            <a:r>
              <a:rPr lang="en-PH" sz="1600" dirty="0"/>
              <a:t>  if (</a:t>
            </a:r>
            <a:r>
              <a:rPr lang="en-PH" sz="1600" dirty="0" err="1"/>
              <a:t>response.statusCode</a:t>
            </a:r>
            <a:r>
              <a:rPr lang="en-PH" sz="1600" dirty="0"/>
              <a:t> == 200) {</a:t>
            </a:r>
          </a:p>
          <a:p>
            <a:r>
              <a:rPr lang="en-PH" sz="1600" dirty="0"/>
              <a:t>    return </a:t>
            </a:r>
            <a:r>
              <a:rPr lang="en-PH" sz="1600" dirty="0" err="1"/>
              <a:t>response.body</a:t>
            </a:r>
            <a:r>
              <a:rPr lang="en-PH" sz="1600" dirty="0"/>
              <a:t>;</a:t>
            </a:r>
          </a:p>
          <a:p>
            <a:r>
              <a:rPr lang="en-PH" sz="1600" dirty="0"/>
              <a:t>  } else {</a:t>
            </a:r>
          </a:p>
          <a:p>
            <a:r>
              <a:rPr lang="en-PH" sz="1600" dirty="0"/>
              <a:t>    throw Exception('Failed to load data');</a:t>
            </a:r>
          </a:p>
          <a:p>
            <a:r>
              <a:rPr lang="en-PH" sz="1600" dirty="0"/>
              <a:t>  }</a:t>
            </a:r>
          </a:p>
          <a:p>
            <a:r>
              <a:rPr lang="en-PH" sz="1600" dirty="0"/>
              <a:t>}</a:t>
            </a:r>
          </a:p>
        </p:txBody>
      </p:sp>
    </p:spTree>
    <p:extLst>
      <p:ext uri="{BB962C8B-B14F-4D97-AF65-F5344CB8AC3E}">
        <p14:creationId xmlns:p14="http://schemas.microsoft.com/office/powerpoint/2010/main" val="22450617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async</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6591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a:t>
            </a:r>
            <a:r>
              <a:rPr lang="en-US" sz="2000" b="1" dirty="0">
                <a:solidFill>
                  <a:srgbClr val="32418C"/>
                </a:solidFill>
              </a:rPr>
              <a:t>async</a:t>
            </a:r>
            <a:r>
              <a:rPr lang="en-US" sz="2000" dirty="0"/>
              <a:t> keyword in Flutter is used to mark a function as asynchronous. This means the function can perform operations that might take time without blocking the main thread of execution.</a:t>
            </a:r>
          </a:p>
          <a:p>
            <a:pPr marL="0" indent="0">
              <a:buNone/>
            </a:pPr>
            <a:endParaRPr lang="en-US" sz="2000" dirty="0"/>
          </a:p>
          <a:p>
            <a:r>
              <a:rPr lang="en-US" sz="2000" b="1" dirty="0"/>
              <a:t>Key Characteristics</a:t>
            </a:r>
            <a:r>
              <a:rPr lang="en-US" sz="2000" dirty="0"/>
              <a:t>:</a:t>
            </a:r>
          </a:p>
          <a:p>
            <a:pPr lvl="1"/>
            <a:r>
              <a:rPr lang="en-US" sz="1600" b="1" dirty="0"/>
              <a:t>Non-blocking</a:t>
            </a:r>
            <a:r>
              <a:rPr lang="en-US" sz="1600" dirty="0"/>
              <a:t>: An async function doesn't halt the program's execution while waiting for the operation to finish. </a:t>
            </a:r>
          </a:p>
          <a:p>
            <a:pPr lvl="1"/>
            <a:r>
              <a:rPr lang="en-US" sz="1600" b="1" dirty="0"/>
              <a:t>Future return type</a:t>
            </a:r>
            <a:r>
              <a:rPr lang="en-US" sz="1600" dirty="0"/>
              <a:t>: An async function implicitly returns a Future object. </a:t>
            </a:r>
          </a:p>
          <a:p>
            <a:pPr lvl="1"/>
            <a:r>
              <a:rPr lang="en-US" sz="1600" b="1" dirty="0"/>
              <a:t>Use with await</a:t>
            </a:r>
            <a:r>
              <a:rPr lang="en-US" sz="1600" dirty="0"/>
              <a:t>: The await keyword can only be used within an </a:t>
            </a:r>
            <a:r>
              <a:rPr lang="en-US" sz="1600" i="1" dirty="0"/>
              <a:t>async</a:t>
            </a:r>
            <a:r>
              <a:rPr lang="en-US" sz="1600" dirty="0"/>
              <a:t> function.</a:t>
            </a:r>
          </a:p>
          <a:p>
            <a:pPr lvl="1"/>
            <a:endParaRPr lang="en-US" sz="1600" dirty="0"/>
          </a:p>
        </p:txBody>
      </p:sp>
      <p:sp>
        <p:nvSpPr>
          <p:cNvPr id="4" name="TextBox 3">
            <a:extLst>
              <a:ext uri="{FF2B5EF4-FFF2-40B4-BE49-F238E27FC236}">
                <a16:creationId xmlns:a16="http://schemas.microsoft.com/office/drawing/2014/main" id="{F05906F1-D7FD-4D98-6713-012AA4100D34}"/>
              </a:ext>
            </a:extLst>
          </p:cNvPr>
          <p:cNvSpPr txBox="1"/>
          <p:nvPr/>
        </p:nvSpPr>
        <p:spPr>
          <a:xfrm>
            <a:off x="7591425" y="2286869"/>
            <a:ext cx="4168775" cy="3293209"/>
          </a:xfrm>
          <a:prstGeom prst="rect">
            <a:avLst/>
          </a:prstGeom>
          <a:noFill/>
        </p:spPr>
        <p:txBody>
          <a:bodyPr wrap="square">
            <a:spAutoFit/>
          </a:bodyPr>
          <a:lstStyle/>
          <a:p>
            <a:r>
              <a:rPr lang="en-PH" sz="1600" dirty="0"/>
              <a:t>import '</a:t>
            </a:r>
            <a:r>
              <a:rPr lang="en-PH" sz="1600" dirty="0" err="1"/>
              <a:t>package:http</a:t>
            </a:r>
            <a:r>
              <a:rPr lang="en-PH" sz="1600" dirty="0"/>
              <a:t>/</a:t>
            </a:r>
            <a:r>
              <a:rPr lang="en-PH" sz="1600" dirty="0" err="1"/>
              <a:t>http.dart</a:t>
            </a:r>
            <a:r>
              <a:rPr lang="en-PH" sz="1600" dirty="0"/>
              <a:t>' as http;</a:t>
            </a:r>
          </a:p>
          <a:p>
            <a:endParaRPr lang="en-PH" sz="1600" dirty="0"/>
          </a:p>
          <a:p>
            <a:r>
              <a:rPr lang="en-PH" sz="1600" dirty="0"/>
              <a:t>Future&lt;String&gt; </a:t>
            </a:r>
            <a:r>
              <a:rPr lang="en-PH" sz="1600" dirty="0" err="1"/>
              <a:t>fetchData</a:t>
            </a:r>
            <a:r>
              <a:rPr lang="en-PH" sz="1600" dirty="0"/>
              <a:t>() async {</a:t>
            </a:r>
          </a:p>
          <a:p>
            <a:r>
              <a:rPr lang="en-PH" sz="1600" dirty="0"/>
              <a:t>  final response = await </a:t>
            </a:r>
            <a:r>
              <a:rPr lang="en-PH" sz="1600" dirty="0" err="1"/>
              <a:t>http.get</a:t>
            </a:r>
            <a:r>
              <a:rPr lang="en-PH" sz="1600" dirty="0"/>
              <a:t>(</a:t>
            </a:r>
            <a:r>
              <a:rPr lang="en-PH" sz="1600" dirty="0" err="1"/>
              <a:t>Uri.parse</a:t>
            </a:r>
            <a:r>
              <a:rPr lang="en-PH" sz="1600" dirty="0"/>
              <a:t>('https://api.example.com/data’));</a:t>
            </a:r>
          </a:p>
          <a:p>
            <a:endParaRPr lang="en-PH" sz="1600" dirty="0"/>
          </a:p>
          <a:p>
            <a:r>
              <a:rPr lang="en-PH" sz="1600" dirty="0"/>
              <a:t>  if (</a:t>
            </a:r>
            <a:r>
              <a:rPr lang="en-PH" sz="1600" dirty="0" err="1"/>
              <a:t>response.statusCode</a:t>
            </a:r>
            <a:r>
              <a:rPr lang="en-PH" sz="1600" dirty="0"/>
              <a:t> == 200) {</a:t>
            </a:r>
          </a:p>
          <a:p>
            <a:r>
              <a:rPr lang="en-PH" sz="1600" dirty="0"/>
              <a:t>    return </a:t>
            </a:r>
            <a:r>
              <a:rPr lang="en-PH" sz="1600" dirty="0" err="1"/>
              <a:t>response.body</a:t>
            </a:r>
            <a:r>
              <a:rPr lang="en-PH" sz="1600" dirty="0"/>
              <a:t>;</a:t>
            </a:r>
          </a:p>
          <a:p>
            <a:r>
              <a:rPr lang="en-PH" sz="1600" dirty="0"/>
              <a:t>  } else {</a:t>
            </a:r>
          </a:p>
          <a:p>
            <a:r>
              <a:rPr lang="en-PH" sz="1600" dirty="0"/>
              <a:t>    throw Exception('Failed to load data');</a:t>
            </a:r>
          </a:p>
          <a:p>
            <a:r>
              <a:rPr lang="en-PH" sz="1600" dirty="0"/>
              <a:t>  }</a:t>
            </a:r>
          </a:p>
          <a:p>
            <a:r>
              <a:rPr lang="en-PH" sz="1600" dirty="0"/>
              <a:t>}</a:t>
            </a:r>
          </a:p>
        </p:txBody>
      </p:sp>
    </p:spTree>
    <p:extLst>
      <p:ext uri="{BB962C8B-B14F-4D97-AF65-F5344CB8AC3E}">
        <p14:creationId xmlns:p14="http://schemas.microsoft.com/office/powerpoint/2010/main" val="2439806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await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6591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a:t>
            </a:r>
            <a:r>
              <a:rPr lang="en-US" sz="2000" b="1" dirty="0">
                <a:solidFill>
                  <a:srgbClr val="32418C"/>
                </a:solidFill>
              </a:rPr>
              <a:t>await</a:t>
            </a:r>
            <a:r>
              <a:rPr lang="en-US" sz="2000" dirty="0"/>
              <a:t> keyword in Flutter is used to pause the execution of an asynchronous function until a Future completes. It's a crucial part of asynchronous programming in Dart and Flutter.</a:t>
            </a:r>
          </a:p>
          <a:p>
            <a:pPr marL="0" indent="0">
              <a:buNone/>
            </a:pPr>
            <a:endParaRPr lang="en-US" sz="2000" dirty="0"/>
          </a:p>
          <a:p>
            <a:r>
              <a:rPr lang="en-US" sz="2000" b="1" dirty="0"/>
              <a:t>Key Characteristics</a:t>
            </a:r>
            <a:r>
              <a:rPr lang="en-US" sz="2000" dirty="0"/>
              <a:t>:</a:t>
            </a:r>
          </a:p>
          <a:p>
            <a:pPr lvl="1"/>
            <a:r>
              <a:rPr lang="en-US" sz="1600" b="1" dirty="0"/>
              <a:t>Can only be used within an </a:t>
            </a:r>
            <a:r>
              <a:rPr lang="en-US" sz="1600" i="1" dirty="0"/>
              <a:t>async</a:t>
            </a:r>
            <a:r>
              <a:rPr lang="en-US" sz="1600" b="1" dirty="0"/>
              <a:t> function.</a:t>
            </a:r>
          </a:p>
          <a:p>
            <a:pPr lvl="1"/>
            <a:r>
              <a:rPr lang="en-US" sz="1600" b="1" dirty="0"/>
              <a:t>Pauses execution: </a:t>
            </a:r>
            <a:r>
              <a:rPr lang="en-US" sz="1600" dirty="0"/>
              <a:t>The code after await won't run until the Future finishes. </a:t>
            </a:r>
          </a:p>
          <a:p>
            <a:pPr lvl="1"/>
            <a:r>
              <a:rPr lang="en-US" sz="1600" b="1" dirty="0"/>
              <a:t>Returns the result: </a:t>
            </a:r>
            <a:r>
              <a:rPr lang="en-US" sz="1600" dirty="0"/>
              <a:t>When the Future completes, await returns its value.</a:t>
            </a:r>
          </a:p>
          <a:p>
            <a:pPr lvl="1"/>
            <a:endParaRPr lang="en-US" sz="1600" dirty="0"/>
          </a:p>
        </p:txBody>
      </p:sp>
      <p:sp>
        <p:nvSpPr>
          <p:cNvPr id="4" name="TextBox 3">
            <a:extLst>
              <a:ext uri="{FF2B5EF4-FFF2-40B4-BE49-F238E27FC236}">
                <a16:creationId xmlns:a16="http://schemas.microsoft.com/office/drawing/2014/main" id="{F05906F1-D7FD-4D98-6713-012AA4100D34}"/>
              </a:ext>
            </a:extLst>
          </p:cNvPr>
          <p:cNvSpPr txBox="1"/>
          <p:nvPr/>
        </p:nvSpPr>
        <p:spPr>
          <a:xfrm>
            <a:off x="7591425" y="2286869"/>
            <a:ext cx="4168775" cy="3293209"/>
          </a:xfrm>
          <a:prstGeom prst="rect">
            <a:avLst/>
          </a:prstGeom>
          <a:noFill/>
        </p:spPr>
        <p:txBody>
          <a:bodyPr wrap="square">
            <a:spAutoFit/>
          </a:bodyPr>
          <a:lstStyle/>
          <a:p>
            <a:r>
              <a:rPr lang="en-PH" sz="1600" dirty="0"/>
              <a:t>import '</a:t>
            </a:r>
            <a:r>
              <a:rPr lang="en-PH" sz="1600" dirty="0" err="1"/>
              <a:t>package:http</a:t>
            </a:r>
            <a:r>
              <a:rPr lang="en-PH" sz="1600" dirty="0"/>
              <a:t>/</a:t>
            </a:r>
            <a:r>
              <a:rPr lang="en-PH" sz="1600" dirty="0" err="1"/>
              <a:t>http.dart</a:t>
            </a:r>
            <a:r>
              <a:rPr lang="en-PH" sz="1600" dirty="0"/>
              <a:t>' as http;</a:t>
            </a:r>
          </a:p>
          <a:p>
            <a:endParaRPr lang="en-PH" sz="1600" dirty="0"/>
          </a:p>
          <a:p>
            <a:r>
              <a:rPr lang="en-PH" sz="1600" dirty="0"/>
              <a:t>Future&lt;String&gt; </a:t>
            </a:r>
            <a:r>
              <a:rPr lang="en-PH" sz="1600" dirty="0" err="1"/>
              <a:t>fetchData</a:t>
            </a:r>
            <a:r>
              <a:rPr lang="en-PH" sz="1600" dirty="0"/>
              <a:t>() async {</a:t>
            </a:r>
          </a:p>
          <a:p>
            <a:r>
              <a:rPr lang="en-PH" sz="1600" dirty="0"/>
              <a:t>  final response = await </a:t>
            </a:r>
            <a:r>
              <a:rPr lang="en-PH" sz="1600" dirty="0" err="1"/>
              <a:t>http.get</a:t>
            </a:r>
            <a:r>
              <a:rPr lang="en-PH" sz="1600" dirty="0"/>
              <a:t>(</a:t>
            </a:r>
            <a:r>
              <a:rPr lang="en-PH" sz="1600" dirty="0" err="1"/>
              <a:t>Uri.parse</a:t>
            </a:r>
            <a:r>
              <a:rPr lang="en-PH" sz="1600" dirty="0"/>
              <a:t>('https://api.example.com/data’));</a:t>
            </a:r>
          </a:p>
          <a:p>
            <a:endParaRPr lang="en-PH" sz="1600" dirty="0"/>
          </a:p>
          <a:p>
            <a:r>
              <a:rPr lang="en-PH" sz="1600" dirty="0"/>
              <a:t>  if (</a:t>
            </a:r>
            <a:r>
              <a:rPr lang="en-PH" sz="1600" dirty="0" err="1"/>
              <a:t>response.statusCode</a:t>
            </a:r>
            <a:r>
              <a:rPr lang="en-PH" sz="1600" dirty="0"/>
              <a:t> == 200) {</a:t>
            </a:r>
          </a:p>
          <a:p>
            <a:r>
              <a:rPr lang="en-PH" sz="1600" dirty="0"/>
              <a:t>    return </a:t>
            </a:r>
            <a:r>
              <a:rPr lang="en-PH" sz="1600" dirty="0" err="1"/>
              <a:t>response.body</a:t>
            </a:r>
            <a:r>
              <a:rPr lang="en-PH" sz="1600" dirty="0"/>
              <a:t>;</a:t>
            </a:r>
          </a:p>
          <a:p>
            <a:r>
              <a:rPr lang="en-PH" sz="1600" dirty="0"/>
              <a:t>  } else {</a:t>
            </a:r>
          </a:p>
          <a:p>
            <a:r>
              <a:rPr lang="en-PH" sz="1600" dirty="0"/>
              <a:t>    throw Exception('Failed to load data');</a:t>
            </a:r>
          </a:p>
          <a:p>
            <a:r>
              <a:rPr lang="en-PH" sz="1600" dirty="0"/>
              <a:t>  }</a:t>
            </a:r>
          </a:p>
          <a:p>
            <a:r>
              <a:rPr lang="en-PH" sz="1600" dirty="0"/>
              <a:t>}</a:t>
            </a:r>
          </a:p>
        </p:txBody>
      </p:sp>
    </p:spTree>
    <p:extLst>
      <p:ext uri="{BB962C8B-B14F-4D97-AF65-F5344CB8AC3E}">
        <p14:creationId xmlns:p14="http://schemas.microsoft.com/office/powerpoint/2010/main" val="669969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715473"/>
            <a:ext cx="10515600" cy="846833"/>
          </a:xfrm>
        </p:spPr>
        <p:txBody>
          <a:bodyPr>
            <a:normAutofit/>
          </a:bodyPr>
          <a:lstStyle/>
          <a:p>
            <a:pPr algn="ctr"/>
            <a:r>
              <a:rPr lang="en-US" dirty="0"/>
              <a:t>Code samples</a:t>
            </a:r>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736600" y="1768246"/>
            <a:ext cx="5337844" cy="457748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import '</a:t>
            </a:r>
            <a:r>
              <a:rPr lang="en-US" sz="2000" dirty="0" err="1"/>
              <a:t>package:http</a:t>
            </a:r>
            <a:r>
              <a:rPr lang="en-US" sz="2000" dirty="0"/>
              <a:t>/</a:t>
            </a:r>
            <a:r>
              <a:rPr lang="en-US" sz="2000" dirty="0" err="1"/>
              <a:t>http.dart</a:t>
            </a:r>
            <a:r>
              <a:rPr lang="en-US" sz="2000" dirty="0"/>
              <a:t>' as http;</a:t>
            </a:r>
          </a:p>
          <a:p>
            <a:pPr marL="0" indent="0">
              <a:buNone/>
            </a:pPr>
            <a:endParaRPr lang="en-US" sz="2000" dirty="0"/>
          </a:p>
          <a:p>
            <a:pPr marL="0" indent="0">
              <a:buNone/>
            </a:pPr>
            <a:r>
              <a:rPr lang="en-US" sz="2000" dirty="0"/>
              <a:t>Future&lt;String&gt; </a:t>
            </a:r>
            <a:r>
              <a:rPr lang="en-US" sz="2000" dirty="0" err="1"/>
              <a:t>fetchData</a:t>
            </a:r>
            <a:r>
              <a:rPr lang="en-US" sz="2000" dirty="0"/>
              <a:t>() async {</a:t>
            </a:r>
          </a:p>
          <a:p>
            <a:pPr marL="0" indent="0">
              <a:buNone/>
            </a:pPr>
            <a:r>
              <a:rPr lang="en-US" sz="2000" dirty="0"/>
              <a:t>  final response = await </a:t>
            </a:r>
            <a:r>
              <a:rPr lang="en-US" sz="2000" dirty="0" err="1"/>
              <a:t>http.get</a:t>
            </a:r>
            <a:r>
              <a:rPr lang="en-US" sz="2000" dirty="0"/>
              <a:t>(</a:t>
            </a:r>
            <a:r>
              <a:rPr lang="en-US" sz="2000" dirty="0" err="1"/>
              <a:t>Uri.parse</a:t>
            </a:r>
            <a:r>
              <a:rPr lang="en-US" sz="2000" dirty="0"/>
              <a:t>('https://api.example.com/data’));</a:t>
            </a:r>
          </a:p>
          <a:p>
            <a:pPr marL="0" indent="0">
              <a:buNone/>
            </a:pPr>
            <a:endParaRPr lang="en-US" sz="2000" dirty="0"/>
          </a:p>
          <a:p>
            <a:pPr marL="0" indent="0">
              <a:buNone/>
            </a:pPr>
            <a:r>
              <a:rPr lang="en-US" sz="2000" dirty="0"/>
              <a:t>  if (</a:t>
            </a:r>
            <a:r>
              <a:rPr lang="en-US" sz="2000" dirty="0" err="1"/>
              <a:t>response.statusCode</a:t>
            </a:r>
            <a:r>
              <a:rPr lang="en-US" sz="2000" dirty="0"/>
              <a:t> == 200) {</a:t>
            </a:r>
          </a:p>
          <a:p>
            <a:pPr marL="0" indent="0">
              <a:buNone/>
            </a:pPr>
            <a:r>
              <a:rPr lang="en-US" sz="2000" dirty="0"/>
              <a:t>    return </a:t>
            </a:r>
            <a:r>
              <a:rPr lang="en-US" sz="2000" dirty="0" err="1"/>
              <a:t>response.body</a:t>
            </a:r>
            <a:r>
              <a:rPr lang="en-US" sz="2000" dirty="0"/>
              <a:t>;</a:t>
            </a:r>
          </a:p>
          <a:p>
            <a:pPr marL="0" indent="0">
              <a:buNone/>
            </a:pPr>
            <a:r>
              <a:rPr lang="en-US" sz="2000" dirty="0"/>
              <a:t>  } else {</a:t>
            </a:r>
          </a:p>
          <a:p>
            <a:pPr marL="0" indent="0">
              <a:buNone/>
            </a:pPr>
            <a:r>
              <a:rPr lang="en-US" sz="2000" dirty="0"/>
              <a:t>    throw Exception('Failed to load data');</a:t>
            </a:r>
          </a:p>
          <a:p>
            <a:pPr marL="0" indent="0">
              <a:buNone/>
            </a:pPr>
            <a:r>
              <a:rPr lang="en-US" sz="2000" dirty="0"/>
              <a:t>  }</a:t>
            </a:r>
          </a:p>
          <a:p>
            <a:pPr marL="0" indent="0">
              <a:buNone/>
            </a:pPr>
            <a:r>
              <a:rPr lang="en-US" sz="2000" dirty="0"/>
              <a:t>}</a:t>
            </a:r>
          </a:p>
        </p:txBody>
      </p:sp>
      <p:sp>
        <p:nvSpPr>
          <p:cNvPr id="3" name="Content Placeholder 2">
            <a:extLst>
              <a:ext uri="{FF2B5EF4-FFF2-40B4-BE49-F238E27FC236}">
                <a16:creationId xmlns:a16="http://schemas.microsoft.com/office/drawing/2014/main" id="{DFEB7C8A-9439-1EA7-B8B4-CC54B96337AA}"/>
              </a:ext>
            </a:extLst>
          </p:cNvPr>
          <p:cNvSpPr txBox="1">
            <a:spLocks/>
          </p:cNvSpPr>
          <p:nvPr/>
        </p:nvSpPr>
        <p:spPr>
          <a:xfrm>
            <a:off x="6117558" y="1768245"/>
            <a:ext cx="5337844" cy="4577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 Error handling</a:t>
            </a:r>
            <a:br>
              <a:rPr lang="en-US" sz="2000" dirty="0"/>
            </a:br>
            <a:r>
              <a:rPr lang="en-US" sz="2000" dirty="0"/>
              <a:t>try {</a:t>
            </a:r>
          </a:p>
          <a:p>
            <a:pPr marL="0" indent="0">
              <a:buNone/>
            </a:pPr>
            <a:r>
              <a:rPr lang="en-US" sz="2000" dirty="0"/>
              <a:t>  final data = await </a:t>
            </a:r>
            <a:r>
              <a:rPr lang="en-US" sz="2000" dirty="0" err="1"/>
              <a:t>fetchData</a:t>
            </a:r>
            <a:r>
              <a:rPr lang="en-US" sz="2000" dirty="0"/>
              <a:t>();</a:t>
            </a:r>
          </a:p>
          <a:p>
            <a:pPr marL="0" indent="0">
              <a:buNone/>
            </a:pPr>
            <a:r>
              <a:rPr lang="en-US" sz="2000" dirty="0"/>
              <a:t>  // Process the data</a:t>
            </a:r>
          </a:p>
          <a:p>
            <a:pPr marL="0" indent="0">
              <a:buNone/>
            </a:pPr>
            <a:r>
              <a:rPr lang="en-US" sz="2000" dirty="0"/>
              <a:t>} catch (error) {</a:t>
            </a:r>
          </a:p>
          <a:p>
            <a:pPr marL="0" indent="0">
              <a:buNone/>
            </a:pPr>
            <a:r>
              <a:rPr lang="en-US" sz="2000" dirty="0"/>
              <a:t>  print('Error fetching data: $error');</a:t>
            </a:r>
          </a:p>
          <a:p>
            <a:pPr marL="0" indent="0">
              <a:buNone/>
            </a:pPr>
            <a:r>
              <a:rPr lang="en-US" sz="2000" dirty="0"/>
              <a:t>}</a:t>
            </a:r>
          </a:p>
        </p:txBody>
      </p:sp>
    </p:spTree>
    <p:extLst>
      <p:ext uri="{BB962C8B-B14F-4D97-AF65-F5344CB8AC3E}">
        <p14:creationId xmlns:p14="http://schemas.microsoft.com/office/powerpoint/2010/main" val="33677861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715473"/>
            <a:ext cx="10515600" cy="846833"/>
          </a:xfrm>
        </p:spPr>
        <p:txBody>
          <a:bodyPr>
            <a:normAutofit/>
          </a:bodyPr>
          <a:lstStyle/>
          <a:p>
            <a:pPr algn="ctr"/>
            <a:r>
              <a:rPr lang="en-US" dirty="0"/>
              <a:t>Chaining Futures</a:t>
            </a:r>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3427078" y="1768246"/>
            <a:ext cx="5337844" cy="4577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Future&lt;String&gt; fetchData1() async { ... }</a:t>
            </a:r>
          </a:p>
          <a:p>
            <a:pPr marL="0" indent="0">
              <a:buNone/>
            </a:pPr>
            <a:r>
              <a:rPr lang="en-US" sz="2000" dirty="0"/>
              <a:t>Future&lt;String&gt; fetchData2() async { ... }</a:t>
            </a:r>
          </a:p>
          <a:p>
            <a:pPr marL="0" indent="0">
              <a:buNone/>
            </a:pPr>
            <a:endParaRPr lang="en-US" sz="2000" dirty="0"/>
          </a:p>
          <a:p>
            <a:pPr marL="0" indent="0">
              <a:buNone/>
            </a:pPr>
            <a:r>
              <a:rPr lang="en-US" sz="2000" dirty="0"/>
              <a:t>Future&lt;void&gt; main() async {</a:t>
            </a:r>
          </a:p>
          <a:p>
            <a:pPr marL="0" indent="0">
              <a:buNone/>
            </a:pPr>
            <a:r>
              <a:rPr lang="en-US" sz="2000" dirty="0"/>
              <a:t>  final data1 = await fetchData1();</a:t>
            </a:r>
          </a:p>
          <a:p>
            <a:pPr marL="0" indent="0">
              <a:buNone/>
            </a:pPr>
            <a:r>
              <a:rPr lang="en-US" sz="2000" dirty="0"/>
              <a:t>  final data2 = await fetchData2();</a:t>
            </a:r>
          </a:p>
          <a:p>
            <a:pPr marL="0" indent="0">
              <a:buNone/>
            </a:pPr>
            <a:r>
              <a:rPr lang="en-US" sz="2000" dirty="0"/>
              <a:t>  // Process data1 and data2</a:t>
            </a:r>
          </a:p>
          <a:p>
            <a:pPr marL="0" indent="0">
              <a:buNone/>
            </a:pPr>
            <a:r>
              <a:rPr lang="en-US" sz="2000" dirty="0"/>
              <a:t>}</a:t>
            </a:r>
          </a:p>
        </p:txBody>
      </p:sp>
    </p:spTree>
    <p:extLst>
      <p:ext uri="{BB962C8B-B14F-4D97-AF65-F5344CB8AC3E}">
        <p14:creationId xmlns:p14="http://schemas.microsoft.com/office/powerpoint/2010/main" val="32429867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Future Builder</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65913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err="1">
                <a:solidFill>
                  <a:srgbClr val="32418C"/>
                </a:solidFill>
              </a:rPr>
              <a:t>FutureBuilder</a:t>
            </a:r>
            <a:r>
              <a:rPr lang="en-US" sz="2000" dirty="0"/>
              <a:t> is a widget in Flutter that builds its UI based on the latest snapshot of interaction with a Future. It's specifically designed to handle asynchronous operations and update the UI accordingly</a:t>
            </a:r>
          </a:p>
          <a:p>
            <a:pPr marL="0" indent="0">
              <a:buNone/>
            </a:pPr>
            <a:endParaRPr lang="en-US" sz="2000" dirty="0"/>
          </a:p>
          <a:p>
            <a:r>
              <a:rPr lang="en-US" sz="2000" b="1" dirty="0"/>
              <a:t>Key Characteristics</a:t>
            </a:r>
            <a:r>
              <a:rPr lang="en-US" sz="2000" dirty="0"/>
              <a:t>:</a:t>
            </a:r>
          </a:p>
          <a:p>
            <a:pPr lvl="1"/>
            <a:r>
              <a:rPr lang="en-US" sz="1600" b="1" dirty="0"/>
              <a:t>Asynchronous</a:t>
            </a:r>
            <a:r>
              <a:rPr lang="en-US" sz="1600" dirty="0"/>
              <a:t> </a:t>
            </a:r>
            <a:r>
              <a:rPr lang="en-US" sz="1600" b="1" dirty="0"/>
              <a:t>operations</a:t>
            </a:r>
            <a:r>
              <a:rPr lang="en-US" sz="1600" dirty="0"/>
              <a:t>: Handles Future objects, which represent asynchronous computations. </a:t>
            </a:r>
          </a:p>
          <a:p>
            <a:pPr lvl="1"/>
            <a:r>
              <a:rPr lang="en-US" sz="1600" b="1" dirty="0"/>
              <a:t>UI updates</a:t>
            </a:r>
            <a:r>
              <a:rPr lang="en-US" sz="1600" dirty="0"/>
              <a:t>: Reconstructs the widget based on the Future's state (waiting, completed, or error).</a:t>
            </a:r>
          </a:p>
          <a:p>
            <a:pPr lvl="1"/>
            <a:r>
              <a:rPr lang="en-US" sz="1600" b="1" dirty="0" err="1"/>
              <a:t>ConnectionState</a:t>
            </a:r>
            <a:r>
              <a:rPr lang="en-US" sz="1600" dirty="0"/>
              <a:t>: Provides information about the Future's current state.</a:t>
            </a:r>
          </a:p>
          <a:p>
            <a:pPr lvl="1"/>
            <a:endParaRPr lang="en-US" sz="1600" dirty="0"/>
          </a:p>
        </p:txBody>
      </p:sp>
      <p:sp>
        <p:nvSpPr>
          <p:cNvPr id="4" name="TextBox 3">
            <a:extLst>
              <a:ext uri="{FF2B5EF4-FFF2-40B4-BE49-F238E27FC236}">
                <a16:creationId xmlns:a16="http://schemas.microsoft.com/office/drawing/2014/main" id="{F05906F1-D7FD-4D98-6713-012AA4100D34}"/>
              </a:ext>
            </a:extLst>
          </p:cNvPr>
          <p:cNvSpPr txBox="1"/>
          <p:nvPr/>
        </p:nvSpPr>
        <p:spPr>
          <a:xfrm>
            <a:off x="7591425" y="2286869"/>
            <a:ext cx="4168775" cy="4278094"/>
          </a:xfrm>
          <a:prstGeom prst="rect">
            <a:avLst/>
          </a:prstGeom>
          <a:noFill/>
        </p:spPr>
        <p:txBody>
          <a:bodyPr wrap="square">
            <a:spAutoFit/>
          </a:bodyPr>
          <a:lstStyle/>
          <a:p>
            <a:r>
              <a:rPr lang="en-PH" sz="1600" dirty="0"/>
              <a:t>import '</a:t>
            </a:r>
            <a:r>
              <a:rPr lang="en-PH" sz="1600" dirty="0" err="1"/>
              <a:t>package:http</a:t>
            </a:r>
            <a:r>
              <a:rPr lang="en-PH" sz="1600" dirty="0"/>
              <a:t>/</a:t>
            </a:r>
            <a:r>
              <a:rPr lang="en-PH" sz="1600" dirty="0" err="1"/>
              <a:t>http.dart</a:t>
            </a:r>
            <a:r>
              <a:rPr lang="en-PH" sz="1600" dirty="0"/>
              <a:t>' as http;</a:t>
            </a:r>
          </a:p>
          <a:p>
            <a:endParaRPr lang="en-PH" sz="1600" dirty="0"/>
          </a:p>
          <a:p>
            <a:r>
              <a:rPr lang="en-PH" sz="1600" dirty="0" err="1"/>
              <a:t>FutureBuilder</a:t>
            </a:r>
            <a:r>
              <a:rPr lang="en-PH" sz="1600" dirty="0"/>
              <a:t>&lt;String&gt;(</a:t>
            </a:r>
          </a:p>
          <a:p>
            <a:r>
              <a:rPr lang="en-PH" sz="1600" dirty="0"/>
              <a:t>  future: </a:t>
            </a:r>
            <a:r>
              <a:rPr lang="en-PH" sz="1600" dirty="0" err="1"/>
              <a:t>fetchData</a:t>
            </a:r>
            <a:r>
              <a:rPr lang="en-PH" sz="1600" dirty="0"/>
              <a:t>(),</a:t>
            </a:r>
          </a:p>
          <a:p>
            <a:r>
              <a:rPr lang="en-PH" sz="1600" dirty="0"/>
              <a:t>  builder: (context, snapshot) {</a:t>
            </a:r>
          </a:p>
          <a:p>
            <a:r>
              <a:rPr lang="en-PH" sz="1600" dirty="0"/>
              <a:t>    if (</a:t>
            </a:r>
            <a:r>
              <a:rPr lang="en-PH" sz="1600" dirty="0" err="1"/>
              <a:t>snapshot.connectionState</a:t>
            </a:r>
            <a:r>
              <a:rPr lang="en-PH" sz="1600" dirty="0"/>
              <a:t> == </a:t>
            </a:r>
            <a:r>
              <a:rPr lang="en-PH" sz="1600" dirty="0" err="1"/>
              <a:t>ConnectionState.waiting</a:t>
            </a:r>
            <a:r>
              <a:rPr lang="en-PH" sz="1600" dirty="0"/>
              <a:t>) {</a:t>
            </a:r>
          </a:p>
          <a:p>
            <a:r>
              <a:rPr lang="en-PH" sz="1600" dirty="0"/>
              <a:t>      return </a:t>
            </a:r>
            <a:r>
              <a:rPr lang="en-PH" sz="1600" dirty="0" err="1"/>
              <a:t>CircularProgressIndicator</a:t>
            </a:r>
            <a:r>
              <a:rPr lang="en-PH" sz="1600" dirty="0"/>
              <a:t>();   </a:t>
            </a:r>
          </a:p>
          <a:p>
            <a:endParaRPr lang="en-PH" sz="1600" dirty="0"/>
          </a:p>
          <a:p>
            <a:r>
              <a:rPr lang="en-PH" sz="1600" dirty="0"/>
              <a:t>    } else if (</a:t>
            </a:r>
            <a:r>
              <a:rPr lang="en-PH" sz="1600" dirty="0" err="1"/>
              <a:t>snapshot.hasError</a:t>
            </a:r>
            <a:r>
              <a:rPr lang="en-PH" sz="1600" dirty="0"/>
              <a:t>) {</a:t>
            </a:r>
          </a:p>
          <a:p>
            <a:r>
              <a:rPr lang="en-PH" sz="1600" dirty="0"/>
              <a:t>      return Text('Error: ${</a:t>
            </a:r>
            <a:r>
              <a:rPr lang="en-PH" sz="1600" dirty="0" err="1"/>
              <a:t>snapshot.error</a:t>
            </a:r>
            <a:r>
              <a:rPr lang="en-PH" sz="1600" dirty="0"/>
              <a:t>}');</a:t>
            </a:r>
          </a:p>
          <a:p>
            <a:r>
              <a:rPr lang="en-PH" sz="1600" dirty="0"/>
              <a:t>    } else {</a:t>
            </a:r>
          </a:p>
          <a:p>
            <a:r>
              <a:rPr lang="en-PH" sz="1600" dirty="0"/>
              <a:t>      return Text(</a:t>
            </a:r>
            <a:r>
              <a:rPr lang="en-PH" sz="1600" dirty="0" err="1"/>
              <a:t>snapshot.data</a:t>
            </a:r>
            <a:r>
              <a:rPr lang="en-PH" sz="1600" dirty="0"/>
              <a:t>!);   </a:t>
            </a:r>
          </a:p>
          <a:p>
            <a:endParaRPr lang="en-PH" sz="1600" dirty="0"/>
          </a:p>
          <a:p>
            <a:r>
              <a:rPr lang="en-PH" sz="1600" dirty="0"/>
              <a:t>    }</a:t>
            </a:r>
          </a:p>
          <a:p>
            <a:r>
              <a:rPr lang="en-PH" sz="1600" dirty="0"/>
              <a:t>  },</a:t>
            </a:r>
          </a:p>
          <a:p>
            <a:r>
              <a:rPr lang="en-PH" sz="1600" dirty="0"/>
              <a:t>),</a:t>
            </a:r>
          </a:p>
        </p:txBody>
      </p:sp>
    </p:spTree>
    <p:extLst>
      <p:ext uri="{BB962C8B-B14F-4D97-AF65-F5344CB8AC3E}">
        <p14:creationId xmlns:p14="http://schemas.microsoft.com/office/powerpoint/2010/main" val="37999907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715473"/>
            <a:ext cx="10515600" cy="846833"/>
          </a:xfrm>
        </p:spPr>
        <p:txBody>
          <a:bodyPr>
            <a:normAutofit/>
          </a:bodyPr>
          <a:lstStyle/>
          <a:p>
            <a:pPr algn="ctr"/>
            <a:r>
              <a:rPr lang="en-US" dirty="0"/>
              <a:t>Future Builder</a:t>
            </a:r>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736600" y="1768246"/>
            <a:ext cx="5337844" cy="457748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import '</a:t>
            </a:r>
            <a:r>
              <a:rPr lang="en-US" sz="2000" dirty="0" err="1"/>
              <a:t>package:http</a:t>
            </a:r>
            <a:r>
              <a:rPr lang="en-US" sz="2000" dirty="0"/>
              <a:t>/</a:t>
            </a:r>
            <a:r>
              <a:rPr lang="en-US" sz="2000" dirty="0" err="1"/>
              <a:t>http.dart</a:t>
            </a:r>
            <a:r>
              <a:rPr lang="en-US" sz="2000" dirty="0"/>
              <a:t>' as http;</a:t>
            </a:r>
          </a:p>
          <a:p>
            <a:pPr marL="0" indent="0">
              <a:buNone/>
            </a:pPr>
            <a:endParaRPr lang="en-US" sz="2000" dirty="0"/>
          </a:p>
          <a:p>
            <a:pPr marL="0" indent="0">
              <a:buNone/>
            </a:pPr>
            <a:r>
              <a:rPr lang="en-US" sz="2000" dirty="0" err="1"/>
              <a:t>FutureBuilder</a:t>
            </a:r>
            <a:r>
              <a:rPr lang="en-US" sz="2000" dirty="0"/>
              <a:t>&lt;String&gt;(</a:t>
            </a:r>
          </a:p>
          <a:p>
            <a:pPr marL="0" indent="0">
              <a:buNone/>
            </a:pPr>
            <a:r>
              <a:rPr lang="en-US" sz="2000" dirty="0"/>
              <a:t>  future: </a:t>
            </a:r>
            <a:r>
              <a:rPr lang="en-US" sz="2000" dirty="0" err="1"/>
              <a:t>fetchData</a:t>
            </a:r>
            <a:r>
              <a:rPr lang="en-US" sz="2000" dirty="0"/>
              <a:t>(),</a:t>
            </a:r>
          </a:p>
          <a:p>
            <a:pPr marL="0" indent="0">
              <a:buNone/>
            </a:pPr>
            <a:r>
              <a:rPr lang="en-US" sz="2000" dirty="0"/>
              <a:t>  builder: (context, snapshot) {</a:t>
            </a:r>
          </a:p>
          <a:p>
            <a:pPr marL="0" indent="0">
              <a:buNone/>
            </a:pPr>
            <a:r>
              <a:rPr lang="en-US" sz="2000" dirty="0"/>
              <a:t>    if (</a:t>
            </a:r>
            <a:r>
              <a:rPr lang="en-US" sz="2000" dirty="0" err="1"/>
              <a:t>snapshot.connectionState</a:t>
            </a:r>
            <a:r>
              <a:rPr lang="en-US" sz="2000" dirty="0"/>
              <a:t> == </a:t>
            </a:r>
            <a:r>
              <a:rPr lang="en-US" sz="2000" dirty="0" err="1"/>
              <a:t>ConnectionState.waiting</a:t>
            </a:r>
            <a:r>
              <a:rPr lang="en-US" sz="2000" dirty="0"/>
              <a:t>) {</a:t>
            </a:r>
          </a:p>
          <a:p>
            <a:pPr marL="0" indent="0">
              <a:buNone/>
            </a:pPr>
            <a:r>
              <a:rPr lang="en-US" sz="2000" dirty="0"/>
              <a:t>      return </a:t>
            </a:r>
            <a:r>
              <a:rPr lang="en-US" sz="2000" dirty="0" err="1"/>
              <a:t>CircularProgressIndicator</a:t>
            </a:r>
            <a:r>
              <a:rPr lang="en-US" sz="2000" dirty="0"/>
              <a:t>();   </a:t>
            </a:r>
          </a:p>
          <a:p>
            <a:pPr marL="0" indent="0">
              <a:buNone/>
            </a:pPr>
            <a:endParaRPr lang="en-US" sz="2000" dirty="0"/>
          </a:p>
          <a:p>
            <a:pPr marL="0" indent="0">
              <a:buNone/>
            </a:pPr>
            <a:r>
              <a:rPr lang="en-US" sz="2000" dirty="0"/>
              <a:t>    } else if (</a:t>
            </a:r>
            <a:r>
              <a:rPr lang="en-US" sz="2000" dirty="0" err="1"/>
              <a:t>snapshot.hasError</a:t>
            </a:r>
            <a:r>
              <a:rPr lang="en-US" sz="2000" dirty="0"/>
              <a:t>) {</a:t>
            </a:r>
          </a:p>
          <a:p>
            <a:pPr marL="0" indent="0">
              <a:buNone/>
            </a:pPr>
            <a:r>
              <a:rPr lang="en-US" sz="2000" dirty="0"/>
              <a:t>      return Text('Error: ${</a:t>
            </a:r>
            <a:r>
              <a:rPr lang="en-US" sz="2000" dirty="0" err="1"/>
              <a:t>snapshot.error</a:t>
            </a:r>
            <a:r>
              <a:rPr lang="en-US" sz="2000" dirty="0"/>
              <a:t>}');</a:t>
            </a:r>
          </a:p>
          <a:p>
            <a:pPr marL="0" indent="0">
              <a:buNone/>
            </a:pPr>
            <a:r>
              <a:rPr lang="en-US" sz="2000" dirty="0"/>
              <a:t>    } else {</a:t>
            </a:r>
          </a:p>
          <a:p>
            <a:pPr marL="0" indent="0">
              <a:buNone/>
            </a:pPr>
            <a:r>
              <a:rPr lang="en-US" sz="2000" dirty="0"/>
              <a:t>      return Text(</a:t>
            </a:r>
            <a:r>
              <a:rPr lang="en-US" sz="2000" dirty="0" err="1"/>
              <a:t>snapshot.data</a:t>
            </a:r>
            <a:r>
              <a:rPr lang="en-US" sz="2000" dirty="0"/>
              <a:t>!);   </a:t>
            </a:r>
          </a:p>
          <a:p>
            <a:pPr marL="0" indent="0">
              <a:buNone/>
            </a:pPr>
            <a:endParaRPr lang="en-US" sz="2000" dirty="0"/>
          </a:p>
          <a:p>
            <a:pPr marL="0" indent="0">
              <a:buNone/>
            </a:pPr>
            <a:r>
              <a:rPr lang="en-US" sz="2000" dirty="0"/>
              <a:t>    }</a:t>
            </a:r>
          </a:p>
          <a:p>
            <a:pPr marL="0" indent="0">
              <a:buNone/>
            </a:pPr>
            <a:r>
              <a:rPr lang="en-US" sz="2000" dirty="0"/>
              <a:t>  },</a:t>
            </a:r>
          </a:p>
          <a:p>
            <a:pPr marL="0" indent="0">
              <a:buNone/>
            </a:pPr>
            <a:r>
              <a:rPr lang="en-US" sz="2000" dirty="0"/>
              <a:t>),</a:t>
            </a:r>
          </a:p>
        </p:txBody>
      </p:sp>
      <p:sp>
        <p:nvSpPr>
          <p:cNvPr id="3" name="Content Placeholder 2">
            <a:extLst>
              <a:ext uri="{FF2B5EF4-FFF2-40B4-BE49-F238E27FC236}">
                <a16:creationId xmlns:a16="http://schemas.microsoft.com/office/drawing/2014/main" id="{DFEB7C8A-9439-1EA7-B8B4-CC54B96337AA}"/>
              </a:ext>
            </a:extLst>
          </p:cNvPr>
          <p:cNvSpPr txBox="1">
            <a:spLocks/>
          </p:cNvSpPr>
          <p:nvPr/>
        </p:nvSpPr>
        <p:spPr>
          <a:xfrm>
            <a:off x="6117558" y="1768245"/>
            <a:ext cx="5337844" cy="457748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dirty="0" err="1"/>
              <a:t>FutureBuilder</a:t>
            </a:r>
            <a:r>
              <a:rPr lang="en-US" sz="900" dirty="0"/>
              <a:t>(</a:t>
            </a:r>
          </a:p>
          <a:p>
            <a:pPr marL="0" indent="0">
              <a:buNone/>
            </a:pPr>
            <a:r>
              <a:rPr lang="en-US" sz="900" dirty="0"/>
              <a:t>  future: </a:t>
            </a:r>
            <a:r>
              <a:rPr lang="en-US" sz="900" dirty="0" err="1"/>
              <a:t>yourFuture</a:t>
            </a:r>
            <a:r>
              <a:rPr lang="en-US" sz="900" dirty="0"/>
              <a:t>, // The Future to be monitored</a:t>
            </a:r>
          </a:p>
          <a:p>
            <a:pPr marL="0" indent="0">
              <a:buNone/>
            </a:pPr>
            <a:r>
              <a:rPr lang="en-US" sz="900" dirty="0"/>
              <a:t>  builder: (</a:t>
            </a:r>
            <a:r>
              <a:rPr lang="en-US" sz="900" dirty="0" err="1"/>
              <a:t>BuildContext</a:t>
            </a:r>
            <a:r>
              <a:rPr lang="en-US" sz="900" dirty="0"/>
              <a:t> context, </a:t>
            </a:r>
            <a:r>
              <a:rPr lang="en-US" sz="900" dirty="0" err="1"/>
              <a:t>AsyncSnapshot</a:t>
            </a:r>
            <a:r>
              <a:rPr lang="en-US" sz="900" dirty="0"/>
              <a:t> snapshot) {</a:t>
            </a:r>
          </a:p>
          <a:p>
            <a:pPr marL="0" indent="0">
              <a:buNone/>
            </a:pPr>
            <a:r>
              <a:rPr lang="en-US" sz="900" dirty="0"/>
              <a:t>    switch (</a:t>
            </a:r>
            <a:r>
              <a:rPr lang="en-US" sz="900" dirty="0" err="1"/>
              <a:t>snapshot.connectionState</a:t>
            </a:r>
            <a:r>
              <a:rPr lang="en-US" sz="900" dirty="0"/>
              <a:t>) {</a:t>
            </a:r>
          </a:p>
          <a:p>
            <a:pPr marL="0" indent="0">
              <a:buNone/>
            </a:pPr>
            <a:r>
              <a:rPr lang="en-US" sz="900" dirty="0"/>
              <a:t>      case </a:t>
            </a:r>
            <a:r>
              <a:rPr lang="en-US" sz="900" dirty="0" err="1"/>
              <a:t>ConnectionState.none</a:t>
            </a:r>
            <a:r>
              <a:rPr lang="en-US" sz="900" dirty="0"/>
              <a:t>:</a:t>
            </a:r>
          </a:p>
          <a:p>
            <a:pPr marL="0" indent="0">
              <a:buNone/>
            </a:pPr>
            <a:r>
              <a:rPr lang="en-US" sz="900" dirty="0"/>
              <a:t>        return Text('No   </a:t>
            </a:r>
          </a:p>
          <a:p>
            <a:pPr marL="0" indent="0">
              <a:buNone/>
            </a:pPr>
            <a:r>
              <a:rPr lang="en-US" sz="900" dirty="0"/>
              <a:t> data');</a:t>
            </a:r>
          </a:p>
          <a:p>
            <a:pPr marL="0" indent="0">
              <a:buNone/>
            </a:pPr>
            <a:r>
              <a:rPr lang="en-US" sz="900" dirty="0"/>
              <a:t>      case </a:t>
            </a:r>
            <a:r>
              <a:rPr lang="en-US" sz="900" dirty="0" err="1"/>
              <a:t>ConnectionState.waiting</a:t>
            </a:r>
            <a:r>
              <a:rPr lang="en-US" sz="900" dirty="0"/>
              <a:t>:</a:t>
            </a:r>
          </a:p>
          <a:p>
            <a:pPr marL="0" indent="0">
              <a:buNone/>
            </a:pPr>
            <a:r>
              <a:rPr lang="en-US" sz="900" dirty="0"/>
              <a:t>        return </a:t>
            </a:r>
            <a:r>
              <a:rPr lang="en-US" sz="900" dirty="0" err="1"/>
              <a:t>CircularProgressIndicator</a:t>
            </a:r>
            <a:r>
              <a:rPr lang="en-US" sz="900" dirty="0"/>
              <a:t>();</a:t>
            </a:r>
          </a:p>
          <a:p>
            <a:pPr marL="0" indent="0">
              <a:buNone/>
            </a:pPr>
            <a:r>
              <a:rPr lang="en-US" sz="900" dirty="0"/>
              <a:t>      case </a:t>
            </a:r>
            <a:r>
              <a:rPr lang="en-US" sz="900" dirty="0" err="1"/>
              <a:t>ConnectionState.active</a:t>
            </a:r>
            <a:r>
              <a:rPr lang="en-US" sz="900" dirty="0"/>
              <a:t>:</a:t>
            </a:r>
          </a:p>
          <a:p>
            <a:pPr marL="0" indent="0">
              <a:buNone/>
            </a:pPr>
            <a:r>
              <a:rPr lang="en-US" sz="900" dirty="0"/>
              <a:t>        return   </a:t>
            </a:r>
          </a:p>
          <a:p>
            <a:pPr marL="0" indent="0">
              <a:buNone/>
            </a:pPr>
            <a:r>
              <a:rPr lang="en-US" sz="900" dirty="0"/>
              <a:t> Text('Loading...');</a:t>
            </a:r>
          </a:p>
          <a:p>
            <a:pPr marL="0" indent="0">
              <a:buNone/>
            </a:pPr>
            <a:r>
              <a:rPr lang="en-US" sz="900" dirty="0"/>
              <a:t>      case </a:t>
            </a:r>
            <a:r>
              <a:rPr lang="en-US" sz="900" dirty="0" err="1"/>
              <a:t>ConnectionState.done</a:t>
            </a:r>
            <a:r>
              <a:rPr lang="en-US" sz="900" dirty="0"/>
              <a:t>:</a:t>
            </a:r>
          </a:p>
          <a:p>
            <a:pPr marL="0" indent="0">
              <a:buNone/>
            </a:pPr>
            <a:r>
              <a:rPr lang="en-US" sz="900" dirty="0"/>
              <a:t>        if (</a:t>
            </a:r>
            <a:r>
              <a:rPr lang="en-US" sz="900" dirty="0" err="1"/>
              <a:t>snapshot.hasError</a:t>
            </a:r>
            <a:r>
              <a:rPr lang="en-US" sz="900" dirty="0"/>
              <a:t>) {</a:t>
            </a:r>
          </a:p>
          <a:p>
            <a:pPr marL="0" indent="0">
              <a:buNone/>
            </a:pPr>
            <a:r>
              <a:rPr lang="en-US" sz="900" dirty="0"/>
              <a:t>          return Text('Error: ${</a:t>
            </a:r>
            <a:r>
              <a:rPr lang="en-US" sz="900" dirty="0" err="1"/>
              <a:t>snapshot.error</a:t>
            </a:r>
            <a:r>
              <a:rPr lang="en-US" sz="900" dirty="0"/>
              <a:t>}');</a:t>
            </a:r>
          </a:p>
          <a:p>
            <a:pPr marL="0" indent="0">
              <a:buNone/>
            </a:pPr>
            <a:r>
              <a:rPr lang="en-US" sz="900" dirty="0"/>
              <a:t>        } else {</a:t>
            </a:r>
          </a:p>
          <a:p>
            <a:pPr marL="0" indent="0">
              <a:buNone/>
            </a:pPr>
            <a:r>
              <a:rPr lang="en-US" sz="900" dirty="0"/>
              <a:t>          return Text('Data: ${</a:t>
            </a:r>
            <a:r>
              <a:rPr lang="en-US" sz="900" dirty="0" err="1"/>
              <a:t>snapshot.data</a:t>
            </a:r>
            <a:r>
              <a:rPr lang="en-US" sz="900" dirty="0"/>
              <a:t>}');</a:t>
            </a:r>
          </a:p>
          <a:p>
            <a:pPr marL="0" indent="0">
              <a:buNone/>
            </a:pPr>
            <a:r>
              <a:rPr lang="en-US" sz="900" dirty="0"/>
              <a:t>        }</a:t>
            </a:r>
          </a:p>
          <a:p>
            <a:pPr marL="0" indent="0">
              <a:buNone/>
            </a:pPr>
            <a:r>
              <a:rPr lang="en-US" sz="900" dirty="0"/>
              <a:t>    }</a:t>
            </a:r>
          </a:p>
          <a:p>
            <a:pPr marL="0" indent="0">
              <a:buNone/>
            </a:pPr>
            <a:r>
              <a:rPr lang="en-US" sz="900" dirty="0"/>
              <a:t>  },</a:t>
            </a:r>
          </a:p>
          <a:p>
            <a:pPr marL="0" indent="0">
              <a:buNone/>
            </a:pPr>
            <a:r>
              <a:rPr lang="en-US" sz="900" dirty="0"/>
              <a:t>)</a:t>
            </a:r>
          </a:p>
        </p:txBody>
      </p:sp>
    </p:spTree>
    <p:extLst>
      <p:ext uri="{BB962C8B-B14F-4D97-AF65-F5344CB8AC3E}">
        <p14:creationId xmlns:p14="http://schemas.microsoft.com/office/powerpoint/2010/main" val="20563245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a:xfrm>
            <a:off x="838200" y="715473"/>
            <a:ext cx="10515600" cy="846833"/>
          </a:xfrm>
        </p:spPr>
        <p:txBody>
          <a:bodyPr>
            <a:normAutofit/>
          </a:bodyPr>
          <a:lstStyle/>
          <a:p>
            <a:pPr algn="ctr"/>
            <a:r>
              <a:rPr lang="en-US" dirty="0"/>
              <a:t>Async/Await in State Management</a:t>
            </a:r>
          </a:p>
        </p:txBody>
      </p:sp>
      <p:sp>
        <p:nvSpPr>
          <p:cNvPr id="6" name="Content Placeholder 2">
            <a:extLst>
              <a:ext uri="{FF2B5EF4-FFF2-40B4-BE49-F238E27FC236}">
                <a16:creationId xmlns:a16="http://schemas.microsoft.com/office/drawing/2014/main" id="{DBBF1D1B-B0CF-7A37-F9C8-0684603D40A9}"/>
              </a:ext>
            </a:extLst>
          </p:cNvPr>
          <p:cNvSpPr txBox="1">
            <a:spLocks/>
          </p:cNvSpPr>
          <p:nvPr/>
        </p:nvSpPr>
        <p:spPr>
          <a:xfrm>
            <a:off x="736600" y="1768246"/>
            <a:ext cx="3327400" cy="457748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import '</a:t>
            </a:r>
            <a:r>
              <a:rPr lang="en-US" sz="2000" dirty="0" err="1"/>
              <a:t>package:flutter</a:t>
            </a:r>
            <a:r>
              <a:rPr lang="en-US" sz="2000" dirty="0"/>
              <a:t>/</a:t>
            </a:r>
            <a:r>
              <a:rPr lang="en-US" sz="2000" dirty="0" err="1"/>
              <a:t>material.dart</a:t>
            </a:r>
            <a:r>
              <a:rPr lang="en-US" sz="2000" dirty="0"/>
              <a:t>';</a:t>
            </a:r>
          </a:p>
          <a:p>
            <a:pPr marL="0" indent="0">
              <a:buNone/>
            </a:pPr>
            <a:r>
              <a:rPr lang="en-US" sz="2000" dirty="0"/>
              <a:t>import '</a:t>
            </a:r>
            <a:r>
              <a:rPr lang="en-US" sz="2000" dirty="0" err="1"/>
              <a:t>package:http</a:t>
            </a:r>
            <a:r>
              <a:rPr lang="en-US" sz="2000" dirty="0"/>
              <a:t>/</a:t>
            </a:r>
            <a:r>
              <a:rPr lang="en-US" sz="2000" dirty="0" err="1"/>
              <a:t>http.dart</a:t>
            </a:r>
            <a:r>
              <a:rPr lang="en-US" sz="2000" dirty="0"/>
              <a:t>' as http;</a:t>
            </a:r>
          </a:p>
          <a:p>
            <a:pPr marL="0" indent="0">
              <a:buNone/>
            </a:pPr>
            <a:endParaRPr lang="en-US" sz="2000" dirty="0"/>
          </a:p>
          <a:p>
            <a:pPr marL="0" indent="0">
              <a:buNone/>
            </a:pPr>
            <a:r>
              <a:rPr lang="en-US" sz="2000" dirty="0"/>
              <a:t>class </a:t>
            </a:r>
            <a:r>
              <a:rPr lang="en-US" sz="2000" dirty="0" err="1"/>
              <a:t>MyStatefulWidget</a:t>
            </a:r>
            <a:r>
              <a:rPr lang="en-US" sz="2000" dirty="0"/>
              <a:t> extends </a:t>
            </a:r>
            <a:r>
              <a:rPr lang="en-US" sz="2000" dirty="0" err="1"/>
              <a:t>StatefulWidget</a:t>
            </a:r>
            <a:r>
              <a:rPr lang="en-US" sz="2000" dirty="0"/>
              <a:t> {</a:t>
            </a:r>
          </a:p>
          <a:p>
            <a:pPr marL="0" indent="0">
              <a:buNone/>
            </a:pPr>
            <a:r>
              <a:rPr lang="en-US" sz="2000" dirty="0"/>
              <a:t>  const </a:t>
            </a:r>
            <a:r>
              <a:rPr lang="en-US" sz="2000" dirty="0" err="1"/>
              <a:t>MyStatefulWidget</a:t>
            </a:r>
            <a:r>
              <a:rPr lang="en-US" sz="2000" dirty="0"/>
              <a:t>({</a:t>
            </a:r>
            <a:r>
              <a:rPr lang="en-US" sz="2000" dirty="0" err="1"/>
              <a:t>super.key</a:t>
            </a:r>
            <a:r>
              <a:rPr lang="en-US" sz="2000" dirty="0"/>
              <a:t>});</a:t>
            </a:r>
          </a:p>
          <a:p>
            <a:pPr marL="0" indent="0">
              <a:buNone/>
            </a:pPr>
            <a:endParaRPr lang="en-US" sz="2000" dirty="0"/>
          </a:p>
          <a:p>
            <a:pPr marL="0" indent="0">
              <a:buNone/>
            </a:pPr>
            <a:r>
              <a:rPr lang="en-US" sz="2000" dirty="0"/>
              <a:t>  @override</a:t>
            </a:r>
          </a:p>
          <a:p>
            <a:pPr marL="0" indent="0">
              <a:buNone/>
            </a:pPr>
            <a:r>
              <a:rPr lang="en-US" sz="2000" dirty="0"/>
              <a:t>  State&lt;</a:t>
            </a:r>
            <a:r>
              <a:rPr lang="en-US" sz="2000" dirty="0" err="1"/>
              <a:t>MyStatefulWidget</a:t>
            </a:r>
            <a:r>
              <a:rPr lang="en-US" sz="2000" dirty="0"/>
              <a:t>&gt; </a:t>
            </a:r>
            <a:r>
              <a:rPr lang="en-US" sz="2000" dirty="0" err="1"/>
              <a:t>createState</a:t>
            </a:r>
            <a:r>
              <a:rPr lang="en-US" sz="2000" dirty="0"/>
              <a:t>() =&gt; _</a:t>
            </a:r>
            <a:r>
              <a:rPr lang="en-US" sz="2000" dirty="0" err="1"/>
              <a:t>MyStatefulWidgetState</a:t>
            </a:r>
            <a:r>
              <a:rPr lang="en-US" sz="2000" dirty="0"/>
              <a:t>();</a:t>
            </a:r>
          </a:p>
          <a:p>
            <a:pPr marL="0" indent="0">
              <a:buNone/>
            </a:pPr>
            <a:r>
              <a:rPr lang="en-US" sz="2000" dirty="0"/>
              <a:t>}</a:t>
            </a:r>
          </a:p>
        </p:txBody>
      </p:sp>
      <p:sp>
        <p:nvSpPr>
          <p:cNvPr id="4" name="Content Placeholder 2">
            <a:extLst>
              <a:ext uri="{FF2B5EF4-FFF2-40B4-BE49-F238E27FC236}">
                <a16:creationId xmlns:a16="http://schemas.microsoft.com/office/drawing/2014/main" id="{76E1A978-C808-C32D-B08A-909CD95772E9}"/>
              </a:ext>
            </a:extLst>
          </p:cNvPr>
          <p:cNvSpPr txBox="1">
            <a:spLocks/>
          </p:cNvSpPr>
          <p:nvPr/>
        </p:nvSpPr>
        <p:spPr>
          <a:xfrm>
            <a:off x="4432300" y="1768246"/>
            <a:ext cx="3327400" cy="457748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class _</a:t>
            </a:r>
            <a:r>
              <a:rPr lang="en-US" sz="2000" dirty="0" err="1"/>
              <a:t>MyStatefulWidgetState</a:t>
            </a:r>
            <a:r>
              <a:rPr lang="en-US" sz="2000" dirty="0"/>
              <a:t> extends State&lt;</a:t>
            </a:r>
            <a:r>
              <a:rPr lang="en-US" sz="2000" dirty="0" err="1"/>
              <a:t>MyStatefulWidget</a:t>
            </a:r>
            <a:r>
              <a:rPr lang="en-US" sz="2000" dirty="0"/>
              <a:t>&gt; {</a:t>
            </a:r>
          </a:p>
          <a:p>
            <a:pPr marL="0" indent="0">
              <a:buNone/>
            </a:pPr>
            <a:r>
              <a:rPr lang="en-US" sz="2000" dirty="0"/>
              <a:t>  String _data = ‘’;</a:t>
            </a:r>
          </a:p>
          <a:p>
            <a:pPr marL="0" indent="0">
              <a:buNone/>
            </a:pPr>
            <a:endParaRPr lang="en-US" sz="2000" dirty="0"/>
          </a:p>
          <a:p>
            <a:pPr marL="0" indent="0">
              <a:buNone/>
            </a:pPr>
            <a:r>
              <a:rPr lang="en-US" sz="2000" dirty="0"/>
              <a:t>  @override</a:t>
            </a:r>
          </a:p>
          <a:p>
            <a:pPr marL="0" indent="0">
              <a:buNone/>
            </a:pPr>
            <a:r>
              <a:rPr lang="en-US" sz="2000" dirty="0"/>
              <a:t>  void </a:t>
            </a:r>
            <a:r>
              <a:rPr lang="en-US" sz="2000" dirty="0" err="1"/>
              <a:t>initState</a:t>
            </a:r>
            <a:r>
              <a:rPr lang="en-US" sz="2000" dirty="0"/>
              <a:t>() {</a:t>
            </a:r>
          </a:p>
          <a:p>
            <a:pPr marL="0" indent="0">
              <a:buNone/>
            </a:pPr>
            <a:r>
              <a:rPr lang="en-US" sz="2000" dirty="0"/>
              <a:t>    </a:t>
            </a:r>
            <a:r>
              <a:rPr lang="en-US" sz="2000" dirty="0" err="1"/>
              <a:t>super.initState</a:t>
            </a:r>
            <a:r>
              <a:rPr lang="en-US" sz="2000" dirty="0"/>
              <a:t>();</a:t>
            </a:r>
          </a:p>
          <a:p>
            <a:pPr marL="0" indent="0">
              <a:buNone/>
            </a:pPr>
            <a:r>
              <a:rPr lang="en-US" sz="2000" dirty="0"/>
              <a:t>    </a:t>
            </a:r>
            <a:r>
              <a:rPr lang="en-US" sz="2000" dirty="0" err="1"/>
              <a:t>fetchData</a:t>
            </a:r>
            <a:r>
              <a:rPr lang="en-US" sz="2000" dirty="0"/>
              <a:t>();</a:t>
            </a:r>
          </a:p>
          <a:p>
            <a:pPr marL="0" indent="0">
              <a:buNone/>
            </a:pPr>
            <a:r>
              <a:rPr lang="en-US" sz="2000" dirty="0"/>
              <a:t>  }</a:t>
            </a:r>
          </a:p>
          <a:p>
            <a:pPr marL="0" indent="0">
              <a:buNone/>
            </a:pPr>
            <a:endParaRPr lang="en-US" sz="2000" dirty="0"/>
          </a:p>
          <a:p>
            <a:pPr marL="0" indent="0">
              <a:buNone/>
            </a:pPr>
            <a:r>
              <a:rPr lang="en-US" sz="2000" dirty="0"/>
              <a:t>  @override</a:t>
            </a:r>
          </a:p>
          <a:p>
            <a:pPr marL="0" indent="0">
              <a:buNone/>
            </a:pPr>
            <a:r>
              <a:rPr lang="en-US" sz="2000" dirty="0"/>
              <a:t>  Widget build(</a:t>
            </a:r>
            <a:r>
              <a:rPr lang="en-US" sz="2000" dirty="0" err="1"/>
              <a:t>BuildContext</a:t>
            </a:r>
            <a:r>
              <a:rPr lang="en-US" sz="2000" dirty="0"/>
              <a:t> context) {</a:t>
            </a:r>
          </a:p>
          <a:p>
            <a:pPr marL="0" indent="0">
              <a:buNone/>
            </a:pPr>
            <a:r>
              <a:rPr lang="en-US" sz="2000" dirty="0"/>
              <a:t>    return Text(_data);</a:t>
            </a:r>
          </a:p>
          <a:p>
            <a:pPr marL="0" indent="0">
              <a:buNone/>
            </a:pPr>
            <a:r>
              <a:rPr lang="en-US" sz="2000" dirty="0"/>
              <a:t>  }</a:t>
            </a:r>
          </a:p>
          <a:p>
            <a:pPr marL="0" indent="0">
              <a:buNone/>
            </a:pPr>
            <a:r>
              <a:rPr lang="en-US" sz="2000" dirty="0"/>
              <a:t>}</a:t>
            </a:r>
          </a:p>
        </p:txBody>
      </p:sp>
      <p:sp>
        <p:nvSpPr>
          <p:cNvPr id="5" name="Content Placeholder 2">
            <a:extLst>
              <a:ext uri="{FF2B5EF4-FFF2-40B4-BE49-F238E27FC236}">
                <a16:creationId xmlns:a16="http://schemas.microsoft.com/office/drawing/2014/main" id="{66C91777-0982-0D8B-0E19-951D9863B06F}"/>
              </a:ext>
            </a:extLst>
          </p:cNvPr>
          <p:cNvSpPr txBox="1">
            <a:spLocks/>
          </p:cNvSpPr>
          <p:nvPr/>
        </p:nvSpPr>
        <p:spPr>
          <a:xfrm>
            <a:off x="8128000" y="1768246"/>
            <a:ext cx="3327400" cy="457748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 Future&lt;void&gt; </a:t>
            </a:r>
            <a:r>
              <a:rPr lang="en-US" sz="2000" dirty="0" err="1"/>
              <a:t>fetchData</a:t>
            </a:r>
            <a:r>
              <a:rPr lang="en-US" sz="2000" dirty="0"/>
              <a:t>() async {</a:t>
            </a:r>
          </a:p>
          <a:p>
            <a:pPr marL="0" indent="0">
              <a:buNone/>
            </a:pPr>
            <a:r>
              <a:rPr lang="en-US" sz="2000" dirty="0"/>
              <a:t>    final response = await </a:t>
            </a:r>
            <a:r>
              <a:rPr lang="en-US" sz="2000" dirty="0" err="1"/>
              <a:t>http.get</a:t>
            </a:r>
            <a:r>
              <a:rPr lang="en-US" sz="2000" dirty="0"/>
              <a:t>(</a:t>
            </a:r>
            <a:r>
              <a:rPr lang="en-US" sz="2000" dirty="0" err="1"/>
              <a:t>Uri.parse</a:t>
            </a:r>
            <a:r>
              <a:rPr lang="en-US" sz="2000" dirty="0"/>
              <a:t>('https://api.example.com/data'));</a:t>
            </a:r>
          </a:p>
          <a:p>
            <a:pPr marL="0" indent="0">
              <a:buNone/>
            </a:pPr>
            <a:r>
              <a:rPr lang="en-US" sz="2000" dirty="0"/>
              <a:t>    if (</a:t>
            </a:r>
            <a:r>
              <a:rPr lang="en-US" sz="2000" dirty="0" err="1"/>
              <a:t>response.statusCode</a:t>
            </a:r>
            <a:r>
              <a:rPr lang="en-US" sz="2000" dirty="0"/>
              <a:t> == 200) {</a:t>
            </a:r>
          </a:p>
          <a:p>
            <a:pPr marL="0" indent="0">
              <a:buNone/>
            </a:pPr>
            <a:r>
              <a:rPr lang="en-US" sz="2000" dirty="0"/>
              <a:t>      </a:t>
            </a:r>
            <a:r>
              <a:rPr lang="en-US" sz="2000" dirty="0" err="1"/>
              <a:t>setState</a:t>
            </a:r>
            <a:r>
              <a:rPr lang="en-US" sz="2000" dirty="0"/>
              <a:t>(() {</a:t>
            </a:r>
          </a:p>
          <a:p>
            <a:pPr marL="0" indent="0">
              <a:buNone/>
            </a:pPr>
            <a:r>
              <a:rPr lang="en-US" sz="2000" dirty="0"/>
              <a:t>        _data = </a:t>
            </a:r>
            <a:r>
              <a:rPr lang="en-US" sz="2000" dirty="0" err="1"/>
              <a:t>response.body</a:t>
            </a:r>
            <a:r>
              <a:rPr lang="en-US" sz="2000" dirty="0"/>
              <a:t>;</a:t>
            </a:r>
          </a:p>
          <a:p>
            <a:pPr marL="0" indent="0">
              <a:buNone/>
            </a:pPr>
            <a:r>
              <a:rPr lang="en-US" sz="2000" dirty="0"/>
              <a:t>      });</a:t>
            </a:r>
          </a:p>
          <a:p>
            <a:pPr marL="0" indent="0">
              <a:buNone/>
            </a:pPr>
            <a:r>
              <a:rPr lang="en-US" sz="2000" dirty="0"/>
              <a:t>    } else {</a:t>
            </a:r>
          </a:p>
          <a:p>
            <a:pPr marL="0" indent="0">
              <a:buNone/>
            </a:pPr>
            <a:r>
              <a:rPr lang="en-US" sz="2000" dirty="0"/>
              <a:t>      // Handle error</a:t>
            </a:r>
          </a:p>
          <a:p>
            <a:pPr marL="0" indent="0">
              <a:buNone/>
            </a:pPr>
            <a:r>
              <a:rPr lang="en-US" sz="2000" dirty="0"/>
              <a:t>    }</a:t>
            </a:r>
          </a:p>
          <a:p>
            <a:pPr marL="0" indent="0">
              <a:buNone/>
            </a:pPr>
            <a:r>
              <a:rPr lang="en-US" sz="2000" dirty="0"/>
              <a:t>  }</a:t>
            </a:r>
          </a:p>
        </p:txBody>
      </p:sp>
    </p:spTree>
    <p:extLst>
      <p:ext uri="{BB962C8B-B14F-4D97-AF65-F5344CB8AC3E}">
        <p14:creationId xmlns:p14="http://schemas.microsoft.com/office/powerpoint/2010/main" val="2044464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Common Pitfalls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1. </a:t>
            </a:r>
            <a:r>
              <a:rPr lang="en-US" sz="2000" b="1" dirty="0"/>
              <a:t>Ignoring Future Returns</a:t>
            </a:r>
          </a:p>
          <a:p>
            <a:r>
              <a:rPr lang="en-US" sz="2000" dirty="0"/>
              <a:t>Problem: Not handling the returned Future can lead to unhandled exceptions or lost data.</a:t>
            </a:r>
          </a:p>
          <a:p>
            <a:r>
              <a:rPr lang="en-US" sz="2000" dirty="0"/>
              <a:t>Solution: Always handle the returned Future using await, .then(), or a </a:t>
            </a:r>
            <a:r>
              <a:rPr lang="en-US" sz="2000" dirty="0" err="1"/>
              <a:t>FutureBuilder</a:t>
            </a:r>
            <a:r>
              <a:rPr lang="en-US" sz="2000" dirty="0"/>
              <a:t>.</a:t>
            </a:r>
          </a:p>
          <a:p>
            <a:pPr marL="0" indent="0">
              <a:buNone/>
            </a:pPr>
            <a:r>
              <a:rPr lang="en-US" sz="2000" dirty="0"/>
              <a:t>2. </a:t>
            </a:r>
            <a:r>
              <a:rPr lang="en-US" sz="2000" b="1" dirty="0"/>
              <a:t>Misusing </a:t>
            </a:r>
            <a:r>
              <a:rPr lang="en-US" sz="2000" b="1" dirty="0" err="1"/>
              <a:t>setState</a:t>
            </a:r>
            <a:r>
              <a:rPr lang="en-US" sz="2000" b="1" dirty="0"/>
              <a:t> in Async Functions</a:t>
            </a:r>
          </a:p>
          <a:p>
            <a:r>
              <a:rPr lang="en-US" sz="2000" dirty="0"/>
              <a:t>Problem: Calling </a:t>
            </a:r>
            <a:r>
              <a:rPr lang="en-US" sz="2000" dirty="0" err="1"/>
              <a:t>setState</a:t>
            </a:r>
            <a:r>
              <a:rPr lang="en-US" sz="2000" dirty="0"/>
              <a:t> directly in an async function without awaiting the asynchronous operation can lead to unexpected behavior.</a:t>
            </a:r>
          </a:p>
          <a:p>
            <a:r>
              <a:rPr lang="en-US" sz="2000" dirty="0"/>
              <a:t>Solution: Use </a:t>
            </a:r>
            <a:r>
              <a:rPr lang="en-US" sz="2000" dirty="0" err="1"/>
              <a:t>setState</a:t>
            </a:r>
            <a:r>
              <a:rPr lang="en-US" sz="2000" dirty="0"/>
              <a:t> within the then block of a Future or after awaiting the operation to ensure the UI updates correctly.</a:t>
            </a:r>
          </a:p>
          <a:p>
            <a:pPr marL="0" indent="0">
              <a:buNone/>
            </a:pPr>
            <a:r>
              <a:rPr lang="en-US" sz="2000" dirty="0"/>
              <a:t>3. </a:t>
            </a:r>
            <a:r>
              <a:rPr lang="en-US" sz="2000" b="1" dirty="0"/>
              <a:t>Incorrect Error Handling</a:t>
            </a:r>
          </a:p>
          <a:p>
            <a:r>
              <a:rPr lang="en-US" sz="2000" dirty="0"/>
              <a:t>Problem: Not handling errors properly can lead to app crashes.</a:t>
            </a:r>
          </a:p>
          <a:p>
            <a:r>
              <a:rPr lang="en-US" sz="2000" dirty="0"/>
              <a:t>Solution: Use try-catch blocks to handle exceptions and provide informative feedback to the user.</a:t>
            </a:r>
          </a:p>
          <a:p>
            <a:pPr marL="0" indent="0">
              <a:buNone/>
            </a:pPr>
            <a:r>
              <a:rPr lang="en-US" sz="2000" dirty="0"/>
              <a:t>4. </a:t>
            </a:r>
            <a:r>
              <a:rPr lang="en-US" sz="2000" b="1" dirty="0"/>
              <a:t>Blocking the UI Thread</a:t>
            </a:r>
          </a:p>
          <a:p>
            <a:r>
              <a:rPr lang="en-US" sz="2000" dirty="0"/>
              <a:t>Problem: Excessive use of await without proper asynchronous handling can block the UI thread.</a:t>
            </a:r>
          </a:p>
          <a:p>
            <a:r>
              <a:rPr lang="en-US" sz="2000" dirty="0"/>
              <a:t>Solution: Use </a:t>
            </a:r>
            <a:r>
              <a:rPr lang="en-US" sz="2000" dirty="0" err="1"/>
              <a:t>FutureBuilder</a:t>
            </a:r>
            <a:r>
              <a:rPr lang="en-US" sz="2000" dirty="0"/>
              <a:t> or other techniques to handle asynchronous operations without blocking the UI.</a:t>
            </a:r>
          </a:p>
          <a:p>
            <a:pPr marL="0" indent="0">
              <a:buNone/>
            </a:pPr>
            <a:r>
              <a:rPr lang="en-US" sz="2000" dirty="0"/>
              <a:t>5. </a:t>
            </a:r>
            <a:r>
              <a:rPr lang="en-US" sz="2000" b="1" dirty="0"/>
              <a:t>Unnecessary async Keyword</a:t>
            </a:r>
          </a:p>
          <a:p>
            <a:r>
              <a:rPr lang="en-US" sz="2000" dirty="0"/>
              <a:t>Problem: Using async when not needed can impact performance.</a:t>
            </a:r>
          </a:p>
          <a:p>
            <a:r>
              <a:rPr lang="en-US" sz="2000" dirty="0"/>
              <a:t>Solution: Only use async when dealing with asynchronous operations.</a:t>
            </a:r>
            <a:endParaRPr lang="en-US" sz="1600" dirty="0"/>
          </a:p>
        </p:txBody>
      </p:sp>
    </p:spTree>
    <p:extLst>
      <p:ext uri="{BB962C8B-B14F-4D97-AF65-F5344CB8AC3E}">
        <p14:creationId xmlns:p14="http://schemas.microsoft.com/office/powerpoint/2010/main" val="15691590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Best Practices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US" sz="2000" b="1" dirty="0"/>
              <a:t>Clear Function Naming</a:t>
            </a:r>
          </a:p>
          <a:p>
            <a:pPr lvl="1"/>
            <a:r>
              <a:rPr lang="en-US" sz="1600" dirty="0"/>
              <a:t>Use descriptive function names that reflect the operation performed.</a:t>
            </a:r>
          </a:p>
          <a:p>
            <a:pPr lvl="1"/>
            <a:r>
              <a:rPr lang="en-US" sz="1600" dirty="0"/>
              <a:t>This improves code readability and maintainability.</a:t>
            </a:r>
          </a:p>
          <a:p>
            <a:pPr marL="0" indent="0">
              <a:buNone/>
            </a:pPr>
            <a:endParaRPr lang="en-US" sz="2000" dirty="0"/>
          </a:p>
          <a:p>
            <a:pPr marL="0" indent="0">
              <a:buNone/>
            </a:pPr>
            <a:r>
              <a:rPr lang="en-US" sz="2000" b="1" dirty="0"/>
              <a:t>Example</a:t>
            </a:r>
            <a:r>
              <a:rPr lang="en-US" sz="2000" dirty="0"/>
              <a:t>: </a:t>
            </a:r>
          </a:p>
          <a:p>
            <a:pPr marL="0" indent="0">
              <a:buNone/>
            </a:pPr>
            <a:endParaRPr lang="en-US" sz="2000" dirty="0"/>
          </a:p>
        </p:txBody>
      </p:sp>
      <p:pic>
        <p:nvPicPr>
          <p:cNvPr id="4" name="Picture 3">
            <a:extLst>
              <a:ext uri="{FF2B5EF4-FFF2-40B4-BE49-F238E27FC236}">
                <a16:creationId xmlns:a16="http://schemas.microsoft.com/office/drawing/2014/main" id="{09A4BA63-7F71-9679-3A9F-679F687698CF}"/>
              </a:ext>
            </a:extLst>
          </p:cNvPr>
          <p:cNvPicPr>
            <a:picLocks noChangeAspect="1"/>
          </p:cNvPicPr>
          <p:nvPr/>
        </p:nvPicPr>
        <p:blipFill>
          <a:blip r:embed="rId3"/>
          <a:stretch>
            <a:fillRect/>
          </a:stretch>
        </p:blipFill>
        <p:spPr>
          <a:xfrm>
            <a:off x="1355153" y="4046220"/>
            <a:ext cx="6539393" cy="1012661"/>
          </a:xfrm>
          <a:prstGeom prst="rect">
            <a:avLst/>
          </a:prstGeom>
        </p:spPr>
      </p:pic>
    </p:spTree>
    <p:extLst>
      <p:ext uri="{BB962C8B-B14F-4D97-AF65-F5344CB8AC3E}">
        <p14:creationId xmlns:p14="http://schemas.microsoft.com/office/powerpoint/2010/main" val="39951228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Best Practices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2"/>
            </a:pPr>
            <a:r>
              <a:rPr lang="en-US" sz="2000" b="1" dirty="0"/>
              <a:t>Consistent Error Handling</a:t>
            </a:r>
          </a:p>
          <a:p>
            <a:pPr lvl="1"/>
            <a:r>
              <a:rPr lang="en-US" sz="1600" dirty="0"/>
              <a:t>Employ try-catch blocks to handle potential exceptions.</a:t>
            </a:r>
          </a:p>
          <a:p>
            <a:pPr lvl="1"/>
            <a:r>
              <a:rPr lang="en-US" sz="1600" dirty="0"/>
              <a:t>Provide informative error messages.</a:t>
            </a:r>
          </a:p>
          <a:p>
            <a:pPr lvl="1"/>
            <a:r>
              <a:rPr lang="en-US" sz="1600" dirty="0"/>
              <a:t>Consider using custom error types for better error handling.</a:t>
            </a:r>
          </a:p>
          <a:p>
            <a:pPr marL="0" indent="0">
              <a:buNone/>
            </a:pPr>
            <a:endParaRPr lang="en-US" sz="2000" dirty="0"/>
          </a:p>
          <a:p>
            <a:pPr marL="0" indent="0">
              <a:buNone/>
            </a:pPr>
            <a:r>
              <a:rPr lang="en-US" sz="2000" b="1" dirty="0"/>
              <a:t>Example</a:t>
            </a:r>
            <a:r>
              <a:rPr lang="en-US" sz="2000" dirty="0"/>
              <a:t>: </a:t>
            </a:r>
          </a:p>
          <a:p>
            <a:pPr marL="0" indent="0">
              <a:buNone/>
            </a:pPr>
            <a:endParaRPr lang="en-US" sz="2000" dirty="0"/>
          </a:p>
        </p:txBody>
      </p:sp>
      <p:pic>
        <p:nvPicPr>
          <p:cNvPr id="7" name="Picture 6">
            <a:extLst>
              <a:ext uri="{FF2B5EF4-FFF2-40B4-BE49-F238E27FC236}">
                <a16:creationId xmlns:a16="http://schemas.microsoft.com/office/drawing/2014/main" id="{17A42C38-76E4-6713-6D6B-7F13D20C2CF8}"/>
              </a:ext>
            </a:extLst>
          </p:cNvPr>
          <p:cNvPicPr>
            <a:picLocks noChangeAspect="1"/>
          </p:cNvPicPr>
          <p:nvPr/>
        </p:nvPicPr>
        <p:blipFill>
          <a:blip r:embed="rId3"/>
          <a:stretch>
            <a:fillRect/>
          </a:stretch>
        </p:blipFill>
        <p:spPr>
          <a:xfrm>
            <a:off x="1344600" y="4360389"/>
            <a:ext cx="6850710" cy="1671242"/>
          </a:xfrm>
          <a:prstGeom prst="rect">
            <a:avLst/>
          </a:prstGeom>
        </p:spPr>
      </p:pic>
    </p:spTree>
    <p:extLst>
      <p:ext uri="{BB962C8B-B14F-4D97-AF65-F5344CB8AC3E}">
        <p14:creationId xmlns:p14="http://schemas.microsoft.com/office/powerpoint/2010/main" val="16725492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Best Practices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3"/>
            </a:pPr>
            <a:r>
              <a:rPr lang="en-US" sz="2000" b="1" dirty="0"/>
              <a:t>Breaking Down Complex Operations</a:t>
            </a:r>
          </a:p>
          <a:p>
            <a:pPr lvl="1"/>
            <a:r>
              <a:rPr lang="en-US" sz="1600" dirty="0"/>
              <a:t>For long or complex asynchronous tasks, consider breaking them down into smaller functions.</a:t>
            </a:r>
          </a:p>
          <a:p>
            <a:pPr lvl="1"/>
            <a:r>
              <a:rPr lang="en-US" sz="1600" dirty="0"/>
              <a:t>This improves code organization and reusability.</a:t>
            </a:r>
          </a:p>
          <a:p>
            <a:pPr marL="0" indent="0">
              <a:buNone/>
            </a:pPr>
            <a:endParaRPr lang="en-US" sz="2000" b="1" dirty="0"/>
          </a:p>
          <a:p>
            <a:pPr marL="0" indent="0">
              <a:buNone/>
            </a:pPr>
            <a:r>
              <a:rPr lang="en-US" sz="2000" b="1" dirty="0"/>
              <a:t>Example</a:t>
            </a:r>
            <a:r>
              <a:rPr lang="en-US" sz="2000" dirty="0"/>
              <a: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Note</a:t>
            </a:r>
            <a:r>
              <a:rPr lang="en-US" sz="2000" dirty="0"/>
              <a:t>: </a:t>
            </a:r>
            <a:r>
              <a:rPr lang="en-US" sz="2000" i="1" dirty="0" err="1"/>
              <a:t>processRawData</a:t>
            </a:r>
            <a:r>
              <a:rPr lang="en-US" sz="2000" dirty="0"/>
              <a:t> method parses the </a:t>
            </a:r>
            <a:r>
              <a:rPr lang="en-US" sz="2000" dirty="0" err="1"/>
              <a:t>rawData</a:t>
            </a:r>
            <a:r>
              <a:rPr lang="en-US" sz="2000" dirty="0"/>
              <a:t> into a certain data types.</a:t>
            </a:r>
          </a:p>
          <a:p>
            <a:pPr marL="0" indent="0">
              <a:buNone/>
            </a:pPr>
            <a:endParaRPr lang="en-US" sz="2000" dirty="0"/>
          </a:p>
          <a:p>
            <a:pPr marL="0" indent="0">
              <a:buNone/>
            </a:pPr>
            <a:endParaRPr lang="en-US" sz="2000" dirty="0"/>
          </a:p>
        </p:txBody>
      </p:sp>
      <p:pic>
        <p:nvPicPr>
          <p:cNvPr id="4" name="Picture 3">
            <a:extLst>
              <a:ext uri="{FF2B5EF4-FFF2-40B4-BE49-F238E27FC236}">
                <a16:creationId xmlns:a16="http://schemas.microsoft.com/office/drawing/2014/main" id="{119CCEA4-CA74-3ABA-EAEA-5B72236C4298}"/>
              </a:ext>
            </a:extLst>
          </p:cNvPr>
          <p:cNvPicPr>
            <a:picLocks noChangeAspect="1"/>
          </p:cNvPicPr>
          <p:nvPr/>
        </p:nvPicPr>
        <p:blipFill>
          <a:blip r:embed="rId3"/>
          <a:stretch>
            <a:fillRect/>
          </a:stretch>
        </p:blipFill>
        <p:spPr>
          <a:xfrm>
            <a:off x="1356985" y="4103370"/>
            <a:ext cx="8661241" cy="1393560"/>
          </a:xfrm>
          <a:prstGeom prst="rect">
            <a:avLst/>
          </a:prstGeom>
        </p:spPr>
      </p:pic>
    </p:spTree>
    <p:extLst>
      <p:ext uri="{BB962C8B-B14F-4D97-AF65-F5344CB8AC3E}">
        <p14:creationId xmlns:p14="http://schemas.microsoft.com/office/powerpoint/2010/main" val="36912110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Best Practices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4"/>
            </a:pPr>
            <a:r>
              <a:rPr lang="en-US" sz="2000" b="1" dirty="0"/>
              <a:t>Leveraging async/await for Readability</a:t>
            </a:r>
          </a:p>
          <a:p>
            <a:pPr lvl="1"/>
            <a:r>
              <a:rPr lang="en-US" sz="1600" dirty="0"/>
              <a:t>Use async/await to write sequential asynchronous code in a synchronous-like style.</a:t>
            </a:r>
          </a:p>
          <a:p>
            <a:pPr lvl="1"/>
            <a:r>
              <a:rPr lang="en-US" sz="1600" dirty="0"/>
              <a:t>Avoid excessive nesting of then chains.</a:t>
            </a:r>
          </a:p>
          <a:p>
            <a:pPr marL="0" indent="0">
              <a:buNone/>
            </a:pPr>
            <a:endParaRPr lang="en-US" sz="2000" b="1" dirty="0"/>
          </a:p>
          <a:p>
            <a:pPr marL="0" indent="0">
              <a:buNone/>
            </a:pPr>
            <a:r>
              <a:rPr lang="en-US" sz="2000" b="1" dirty="0"/>
              <a:t>Example</a:t>
            </a:r>
            <a:r>
              <a:rPr lang="en-US" sz="2000" dirty="0"/>
              <a: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pic>
        <p:nvPicPr>
          <p:cNvPr id="7" name="Picture 6">
            <a:extLst>
              <a:ext uri="{FF2B5EF4-FFF2-40B4-BE49-F238E27FC236}">
                <a16:creationId xmlns:a16="http://schemas.microsoft.com/office/drawing/2014/main" id="{14C977B6-C76C-D3E5-7DA4-889EBC3A0767}"/>
              </a:ext>
            </a:extLst>
          </p:cNvPr>
          <p:cNvPicPr>
            <a:picLocks noChangeAspect="1"/>
          </p:cNvPicPr>
          <p:nvPr/>
        </p:nvPicPr>
        <p:blipFill>
          <a:blip r:embed="rId3"/>
          <a:stretch>
            <a:fillRect/>
          </a:stretch>
        </p:blipFill>
        <p:spPr>
          <a:xfrm>
            <a:off x="1382721" y="4194810"/>
            <a:ext cx="9847185" cy="1061118"/>
          </a:xfrm>
          <a:prstGeom prst="rect">
            <a:avLst/>
          </a:prstGeom>
        </p:spPr>
      </p:pic>
    </p:spTree>
    <p:extLst>
      <p:ext uri="{BB962C8B-B14F-4D97-AF65-F5344CB8AC3E}">
        <p14:creationId xmlns:p14="http://schemas.microsoft.com/office/powerpoint/2010/main" val="553561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t>Best Practices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934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5"/>
            </a:pPr>
            <a:r>
              <a:rPr lang="en-US" sz="2000" b="1" dirty="0"/>
              <a:t>Consider Performance Implications</a:t>
            </a:r>
          </a:p>
          <a:p>
            <a:pPr lvl="1"/>
            <a:r>
              <a:rPr lang="en-US" sz="1600" dirty="0"/>
              <a:t>While async/await is convenient, excessive use can impact performance.</a:t>
            </a:r>
          </a:p>
          <a:p>
            <a:pPr lvl="1"/>
            <a:r>
              <a:rPr lang="en-US" sz="1600" dirty="0"/>
              <a:t>For performance-critical sections, explore alternative approaches like </a:t>
            </a:r>
            <a:r>
              <a:rPr lang="en-US" sz="1600" dirty="0" err="1"/>
              <a:t>Future.then</a:t>
            </a:r>
            <a:r>
              <a:rPr lang="en-US" sz="1600" dirty="0"/>
              <a:t> or Stream</a:t>
            </a:r>
          </a:p>
          <a:p>
            <a:pPr lvl="1"/>
            <a:endParaRPr lang="en-US" sz="2000" b="1" dirty="0"/>
          </a:p>
          <a:p>
            <a:pPr marL="457200" indent="-457200">
              <a:buFont typeface="+mj-lt"/>
              <a:buAutoNum type="arabicPeriod" startAt="5"/>
            </a:pPr>
            <a:r>
              <a:rPr lang="en-US" sz="2000" b="1" dirty="0"/>
              <a:t>Using </a:t>
            </a:r>
            <a:r>
              <a:rPr lang="en-US" sz="2000" b="1" dirty="0" err="1"/>
              <a:t>FutureBuilder</a:t>
            </a:r>
            <a:r>
              <a:rPr lang="en-US" sz="2000" b="1" dirty="0"/>
              <a:t> for UI Updates</a:t>
            </a:r>
          </a:p>
          <a:p>
            <a:pPr lvl="1"/>
            <a:r>
              <a:rPr lang="en-US" sz="1600" dirty="0"/>
              <a:t>Employ </a:t>
            </a:r>
            <a:r>
              <a:rPr lang="en-US" sz="1600" dirty="0" err="1"/>
              <a:t>FutureBuilder</a:t>
            </a:r>
            <a:r>
              <a:rPr lang="en-US" sz="1600" dirty="0"/>
              <a:t> to update the UI based on the Future's state.</a:t>
            </a:r>
          </a:p>
          <a:p>
            <a:pPr lvl="1"/>
            <a:r>
              <a:rPr lang="en-US" sz="1600" dirty="0"/>
              <a:t>Handle loading, error, and success states appropriately.</a:t>
            </a:r>
          </a:p>
          <a:p>
            <a:pPr marL="0" indent="0">
              <a:buNone/>
            </a:pPr>
            <a:r>
              <a:rPr lang="en-US" sz="2000" b="1" dirty="0"/>
              <a:t>Example:</a:t>
            </a:r>
          </a:p>
          <a:p>
            <a:pPr lvl="1"/>
            <a:endParaRPr lang="en-US" sz="1600" dirty="0"/>
          </a:p>
          <a:p>
            <a:pPr marL="457200" indent="-457200">
              <a:buFont typeface="+mj-lt"/>
              <a:buAutoNum type="arabicPeriod" startAt="5"/>
            </a:pPr>
            <a:endParaRPr lang="en-US" sz="2000" b="1" dirty="0"/>
          </a:p>
          <a:p>
            <a:pPr lvl="1"/>
            <a:endParaRPr lang="en-US" sz="1600" dirty="0"/>
          </a:p>
          <a:p>
            <a:pPr marL="0" indent="0">
              <a:buNone/>
            </a:pPr>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pic>
        <p:nvPicPr>
          <p:cNvPr id="5" name="Picture 4">
            <a:extLst>
              <a:ext uri="{FF2B5EF4-FFF2-40B4-BE49-F238E27FC236}">
                <a16:creationId xmlns:a16="http://schemas.microsoft.com/office/drawing/2014/main" id="{556D568A-66BF-93B5-5859-FF86E494C08B}"/>
              </a:ext>
            </a:extLst>
          </p:cNvPr>
          <p:cNvPicPr>
            <a:picLocks noChangeAspect="1"/>
          </p:cNvPicPr>
          <p:nvPr/>
        </p:nvPicPr>
        <p:blipFill>
          <a:blip r:embed="rId3"/>
          <a:stretch>
            <a:fillRect/>
          </a:stretch>
        </p:blipFill>
        <p:spPr>
          <a:xfrm>
            <a:off x="2217971" y="4699311"/>
            <a:ext cx="6651709" cy="2073833"/>
          </a:xfrm>
          <a:prstGeom prst="rect">
            <a:avLst/>
          </a:prstGeom>
        </p:spPr>
      </p:pic>
    </p:spTree>
    <p:extLst>
      <p:ext uri="{BB962C8B-B14F-4D97-AF65-F5344CB8AC3E}">
        <p14:creationId xmlns:p14="http://schemas.microsoft.com/office/powerpoint/2010/main" val="15331186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a:bodyPr>
          <a:lstStyle/>
          <a:p>
            <a:r>
              <a:rPr lang="en-US" sz="7000" i="0" u="none" strike="noStrike" dirty="0">
                <a:solidFill>
                  <a:srgbClr val="32418C"/>
                </a:solidFill>
                <a:effectLst/>
                <a:latin typeface="Aptos" panose="020B0004020202020204" pitchFamily="34" charset="0"/>
              </a:rPr>
              <a:t>API</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PH" dirty="0"/>
              <a:t>Understanding APIs in Flutter</a:t>
            </a:r>
            <a:endParaRPr lang="en-US" dirty="0"/>
          </a:p>
        </p:txBody>
      </p:sp>
    </p:spTree>
    <p:extLst>
      <p:ext uri="{BB962C8B-B14F-4D97-AF65-F5344CB8AC3E}">
        <p14:creationId xmlns:p14="http://schemas.microsoft.com/office/powerpoint/2010/main" val="40644607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Traditional Web Applications</a:t>
            </a:r>
          </a:p>
        </p:txBody>
      </p:sp>
      <p:pic>
        <p:nvPicPr>
          <p:cNvPr id="5" name="Picture 4">
            <a:extLst>
              <a:ext uri="{FF2B5EF4-FFF2-40B4-BE49-F238E27FC236}">
                <a16:creationId xmlns:a16="http://schemas.microsoft.com/office/drawing/2014/main" id="{70439E50-800D-4E03-29ED-DB545BB90B12}"/>
              </a:ext>
            </a:extLst>
          </p:cNvPr>
          <p:cNvPicPr>
            <a:picLocks noChangeAspect="1"/>
          </p:cNvPicPr>
          <p:nvPr/>
        </p:nvPicPr>
        <p:blipFill>
          <a:blip r:embed="rId3"/>
          <a:stretch>
            <a:fillRect/>
          </a:stretch>
        </p:blipFill>
        <p:spPr>
          <a:xfrm>
            <a:off x="2009054" y="1910764"/>
            <a:ext cx="8173892" cy="4562970"/>
          </a:xfrm>
          <a:prstGeom prst="rect">
            <a:avLst/>
          </a:prstGeom>
        </p:spPr>
      </p:pic>
    </p:spTree>
    <p:extLst>
      <p:ext uri="{BB962C8B-B14F-4D97-AF65-F5344CB8AC3E}">
        <p14:creationId xmlns:p14="http://schemas.microsoft.com/office/powerpoint/2010/main" val="7774969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Traditional Web Applications</a:t>
            </a:r>
          </a:p>
        </p:txBody>
      </p:sp>
      <p:sp>
        <p:nvSpPr>
          <p:cNvPr id="3" name="Content Placeholder 2">
            <a:extLst>
              <a:ext uri="{FF2B5EF4-FFF2-40B4-BE49-F238E27FC236}">
                <a16:creationId xmlns:a16="http://schemas.microsoft.com/office/drawing/2014/main" id="{A701517C-2C8B-A981-AB5C-8C0EF58D00D7}"/>
              </a:ext>
            </a:extLst>
          </p:cNvPr>
          <p:cNvSpPr txBox="1">
            <a:spLocks/>
          </p:cNvSpPr>
          <p:nvPr/>
        </p:nvSpPr>
        <p:spPr>
          <a:xfrm>
            <a:off x="838200" y="2286869"/>
            <a:ext cx="1072119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interface is built on HTML &amp; HTTP.</a:t>
            </a:r>
          </a:p>
          <a:p>
            <a:r>
              <a:rPr lang="en-US" dirty="0"/>
              <a:t>Drawbacks:</a:t>
            </a:r>
          </a:p>
          <a:p>
            <a:pPr lvl="1"/>
            <a:r>
              <a:rPr lang="en-US" sz="2000" dirty="0"/>
              <a:t>The client must understand both HTTP and HTML.</a:t>
            </a:r>
          </a:p>
          <a:p>
            <a:pPr lvl="1"/>
            <a:r>
              <a:rPr lang="en-US" sz="2000" dirty="0"/>
              <a:t>The entire webpage is replaced with another one.</a:t>
            </a:r>
          </a:p>
          <a:p>
            <a:pPr lvl="2"/>
            <a:r>
              <a:rPr lang="en-US" sz="1600" dirty="0"/>
              <a:t>No way to animate transitions between webpages.</a:t>
            </a:r>
          </a:p>
          <a:p>
            <a:r>
              <a:rPr lang="en-US" dirty="0"/>
              <a:t>Same data is usually sent in multiple responses.</a:t>
            </a:r>
          </a:p>
          <a:p>
            <a:pPr lvl="1"/>
            <a:r>
              <a:rPr lang="en-US" sz="2000" dirty="0"/>
              <a:t>E.g. HTML code for the layout.</a:t>
            </a:r>
            <a:endParaRPr lang="en-US" sz="1600" dirty="0"/>
          </a:p>
        </p:txBody>
      </p:sp>
    </p:spTree>
    <p:extLst>
      <p:ext uri="{BB962C8B-B14F-4D97-AF65-F5344CB8AC3E}">
        <p14:creationId xmlns:p14="http://schemas.microsoft.com/office/powerpoint/2010/main" val="42444258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Traditional Web Applications</a:t>
            </a:r>
          </a:p>
        </p:txBody>
      </p:sp>
      <p:pic>
        <p:nvPicPr>
          <p:cNvPr id="4" name="Picture 3">
            <a:extLst>
              <a:ext uri="{FF2B5EF4-FFF2-40B4-BE49-F238E27FC236}">
                <a16:creationId xmlns:a16="http://schemas.microsoft.com/office/drawing/2014/main" id="{6A77B26D-DDCE-F846-808A-D38547E9B181}"/>
              </a:ext>
            </a:extLst>
          </p:cNvPr>
          <p:cNvPicPr>
            <a:picLocks noChangeAspect="1"/>
          </p:cNvPicPr>
          <p:nvPr/>
        </p:nvPicPr>
        <p:blipFill>
          <a:blip r:embed="rId3"/>
          <a:stretch>
            <a:fillRect/>
          </a:stretch>
        </p:blipFill>
        <p:spPr>
          <a:xfrm>
            <a:off x="1756757" y="2151932"/>
            <a:ext cx="8678486" cy="4458322"/>
          </a:xfrm>
          <a:prstGeom prst="rect">
            <a:avLst/>
          </a:prstGeom>
        </p:spPr>
      </p:pic>
    </p:spTree>
    <p:extLst>
      <p:ext uri="{BB962C8B-B14F-4D97-AF65-F5344CB8AC3E}">
        <p14:creationId xmlns:p14="http://schemas.microsoft.com/office/powerpoint/2010/main" val="7718998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API</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acts as a middleman, enabling communication and data exchange between different software applications. Imagine it as a waiter in a restaurant: you (the user) provide your request (order), the waiter (API) sends it to the kitchen (backend system), and then delivers the response (dish) back to you.</a:t>
            </a:r>
          </a:p>
          <a:p>
            <a:pPr marL="0" indent="0">
              <a:buNone/>
            </a:pPr>
            <a:endParaRPr lang="en-US" sz="2000" dirty="0"/>
          </a:p>
          <a:p>
            <a:r>
              <a:rPr lang="en-US" sz="2000" b="1" dirty="0"/>
              <a:t>Structure</a:t>
            </a:r>
            <a:r>
              <a:rPr lang="en-US" sz="2000" dirty="0"/>
              <a:t>:</a:t>
            </a:r>
          </a:p>
          <a:p>
            <a:pPr lvl="1"/>
            <a:r>
              <a:rPr lang="en-US" sz="1600" b="1" dirty="0"/>
              <a:t>Endpoints</a:t>
            </a:r>
            <a:r>
              <a:rPr lang="en-US" sz="1600" dirty="0"/>
              <a:t>: Specific URLs that applications use to access API functionality. Imagine them as different sections of the restaurant menu.</a:t>
            </a:r>
          </a:p>
          <a:p>
            <a:pPr lvl="1"/>
            <a:r>
              <a:rPr lang="en-US" sz="1600" b="1" dirty="0"/>
              <a:t>Requests</a:t>
            </a:r>
            <a:r>
              <a:rPr lang="en-US" sz="1600" dirty="0"/>
              <a:t>: Messages sent by applications to an API, specifying what data or action they need. These are like your order to the waiter.</a:t>
            </a:r>
          </a:p>
          <a:p>
            <a:pPr lvl="1"/>
            <a:r>
              <a:rPr lang="en-US" sz="1600" b="1" dirty="0"/>
              <a:t>Responses</a:t>
            </a:r>
            <a:r>
              <a:rPr lang="en-US" sz="1600" dirty="0"/>
              <a:t>: Data sent back by the API in response to a request, containing the requested information or indicating success/failure. Think of this as the food you receive from the kitchen.</a:t>
            </a:r>
          </a:p>
        </p:txBody>
      </p:sp>
    </p:spTree>
    <p:extLst>
      <p:ext uri="{BB962C8B-B14F-4D97-AF65-F5344CB8AC3E}">
        <p14:creationId xmlns:p14="http://schemas.microsoft.com/office/powerpoint/2010/main" val="25017251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API</a:t>
            </a:r>
          </a:p>
        </p:txBody>
      </p:sp>
      <p:pic>
        <p:nvPicPr>
          <p:cNvPr id="5" name="Picture 4">
            <a:extLst>
              <a:ext uri="{FF2B5EF4-FFF2-40B4-BE49-F238E27FC236}">
                <a16:creationId xmlns:a16="http://schemas.microsoft.com/office/drawing/2014/main" id="{B96DEF7F-316C-5229-1D99-3DBA108DC9A9}"/>
              </a:ext>
            </a:extLst>
          </p:cNvPr>
          <p:cNvPicPr>
            <a:picLocks noChangeAspect="1"/>
          </p:cNvPicPr>
          <p:nvPr/>
        </p:nvPicPr>
        <p:blipFill>
          <a:blip r:embed="rId3"/>
          <a:stretch>
            <a:fillRect/>
          </a:stretch>
        </p:blipFill>
        <p:spPr>
          <a:xfrm>
            <a:off x="2804653" y="2829382"/>
            <a:ext cx="6582694" cy="1876687"/>
          </a:xfrm>
          <a:prstGeom prst="rect">
            <a:avLst/>
          </a:prstGeom>
        </p:spPr>
      </p:pic>
      <p:sp>
        <p:nvSpPr>
          <p:cNvPr id="10" name="Content Placeholder 2">
            <a:extLst>
              <a:ext uri="{FF2B5EF4-FFF2-40B4-BE49-F238E27FC236}">
                <a16:creationId xmlns:a16="http://schemas.microsoft.com/office/drawing/2014/main" id="{99882DED-3F57-FE51-D094-7495F95F5107}"/>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GUI is an interface for Human ↔ Machine communication</a:t>
            </a:r>
          </a:p>
          <a:p>
            <a:endParaRPr lang="en-US" sz="2000" b="1" dirty="0"/>
          </a:p>
          <a:p>
            <a:endParaRPr lang="en-US" sz="2000" b="1" dirty="0"/>
          </a:p>
          <a:p>
            <a:endParaRPr lang="en-US" sz="2000" b="1" dirty="0"/>
          </a:p>
          <a:p>
            <a:endParaRPr lang="en-US" sz="2000" b="1" dirty="0"/>
          </a:p>
          <a:p>
            <a:endParaRPr lang="en-US" sz="2000" b="1" dirty="0"/>
          </a:p>
          <a:p>
            <a:pPr marL="0" indent="0">
              <a:buNone/>
            </a:pPr>
            <a:endParaRPr lang="en-US" sz="2000" dirty="0"/>
          </a:p>
          <a:p>
            <a:pPr marL="0" indent="0">
              <a:buNone/>
            </a:pPr>
            <a:r>
              <a:rPr lang="en-US" sz="2000" dirty="0"/>
              <a:t>An API is an interface for Machine ↔ Machine communication.</a:t>
            </a:r>
          </a:p>
          <a:p>
            <a:r>
              <a:rPr lang="en-US" sz="2000" dirty="0"/>
              <a:t>An API making use of HTTP is called a Web API</a:t>
            </a:r>
            <a:endParaRPr lang="en-US" sz="1600" dirty="0"/>
          </a:p>
        </p:txBody>
      </p:sp>
    </p:spTree>
    <p:extLst>
      <p:ext uri="{BB962C8B-B14F-4D97-AF65-F5344CB8AC3E}">
        <p14:creationId xmlns:p14="http://schemas.microsoft.com/office/powerpoint/2010/main" val="20002495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DIFFERENT TYPES OF WEB APIs</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Remote Procedure Call, RPC.</a:t>
            </a:r>
          </a:p>
          <a:p>
            <a:r>
              <a:rPr lang="en-US" sz="2000" dirty="0"/>
              <a:t>Clients can call functions on the server.</a:t>
            </a:r>
          </a:p>
          <a:p>
            <a:pPr marL="0" indent="0">
              <a:buNone/>
            </a:pPr>
            <a:r>
              <a:rPr lang="en-US" sz="2000" dirty="0"/>
              <a:t>Remote Method Invocation, RMI.</a:t>
            </a:r>
          </a:p>
          <a:p>
            <a:r>
              <a:rPr lang="en-US" sz="2000" dirty="0"/>
              <a:t>Clients can call methods on objects on the server.</a:t>
            </a:r>
          </a:p>
          <a:p>
            <a:pPr marL="0" indent="0">
              <a:buNone/>
            </a:pPr>
            <a:r>
              <a:rPr lang="en-US" sz="2000" dirty="0"/>
              <a:t>Representational State Transfer, REST.</a:t>
            </a:r>
          </a:p>
          <a:p>
            <a:r>
              <a:rPr lang="en-US" sz="2000" dirty="0"/>
              <a:t> Clients can apply CRUD operations on resources on the server.</a:t>
            </a:r>
            <a:endParaRPr lang="en-US" sz="1600" dirty="0"/>
          </a:p>
        </p:txBody>
      </p:sp>
    </p:spTree>
    <p:extLst>
      <p:ext uri="{BB962C8B-B14F-4D97-AF65-F5344CB8AC3E}">
        <p14:creationId xmlns:p14="http://schemas.microsoft.com/office/powerpoint/2010/main" val="33887747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WHAT IS REST?</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An architectural style for distributed hypermedia systems described by Roy Thomas Fielding in his doctoral dissertation 2000.</a:t>
            </a:r>
          </a:p>
          <a:p>
            <a:endParaRPr lang="en-US" sz="2000" dirty="0"/>
          </a:p>
          <a:p>
            <a:pPr marL="0" indent="0">
              <a:buNone/>
            </a:pPr>
            <a:r>
              <a:rPr lang="en-US" sz="2000" b="1" dirty="0"/>
              <a:t>Consists of constraints:</a:t>
            </a:r>
          </a:p>
          <a:p>
            <a:pPr marL="0" indent="0">
              <a:buNone/>
            </a:pPr>
            <a:r>
              <a:rPr lang="en-US" sz="2000" dirty="0"/>
              <a:t> 1. Client - Server</a:t>
            </a:r>
          </a:p>
          <a:p>
            <a:pPr marL="0" indent="0">
              <a:buNone/>
            </a:pPr>
            <a:r>
              <a:rPr lang="en-US" sz="2000" dirty="0"/>
              <a:t> 2. Stateless</a:t>
            </a:r>
          </a:p>
          <a:p>
            <a:pPr marL="0" indent="0">
              <a:buNone/>
            </a:pPr>
            <a:r>
              <a:rPr lang="en-US" sz="2000" dirty="0"/>
              <a:t> 3. Cache</a:t>
            </a:r>
          </a:p>
          <a:p>
            <a:pPr marL="0" indent="0">
              <a:buNone/>
            </a:pPr>
            <a:r>
              <a:rPr lang="en-US" sz="2000" dirty="0"/>
              <a:t> 4. Uniform Interface</a:t>
            </a:r>
          </a:p>
          <a:p>
            <a:pPr marL="0" indent="0">
              <a:buNone/>
            </a:pPr>
            <a:r>
              <a:rPr lang="en-US" sz="2000" dirty="0"/>
              <a:t> 5. Layered System</a:t>
            </a:r>
          </a:p>
          <a:p>
            <a:pPr marL="0" indent="0">
              <a:buNone/>
            </a:pPr>
            <a:r>
              <a:rPr lang="en-US" sz="2000" dirty="0"/>
              <a:t> 6. Code-On-Demand</a:t>
            </a:r>
            <a:endParaRPr lang="en-US" sz="1600" dirty="0"/>
          </a:p>
        </p:txBody>
      </p:sp>
      <p:pic>
        <p:nvPicPr>
          <p:cNvPr id="4" name="Picture 3">
            <a:extLst>
              <a:ext uri="{FF2B5EF4-FFF2-40B4-BE49-F238E27FC236}">
                <a16:creationId xmlns:a16="http://schemas.microsoft.com/office/drawing/2014/main" id="{32C925F1-151D-6D47-7FF8-E7EDA1466EF7}"/>
              </a:ext>
            </a:extLst>
          </p:cNvPr>
          <p:cNvPicPr>
            <a:picLocks noChangeAspect="1"/>
          </p:cNvPicPr>
          <p:nvPr/>
        </p:nvPicPr>
        <p:blipFill>
          <a:blip r:embed="rId3"/>
          <a:stretch>
            <a:fillRect/>
          </a:stretch>
        </p:blipFill>
        <p:spPr>
          <a:xfrm>
            <a:off x="4323369" y="3168370"/>
            <a:ext cx="7030431" cy="3143689"/>
          </a:xfrm>
          <a:prstGeom prst="rect">
            <a:avLst/>
          </a:prstGeom>
        </p:spPr>
      </p:pic>
    </p:spTree>
    <p:extLst>
      <p:ext uri="{BB962C8B-B14F-4D97-AF65-F5344CB8AC3E}">
        <p14:creationId xmlns:p14="http://schemas.microsoft.com/office/powerpoint/2010/main" val="12697494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PH" dirty="0">
                <a:solidFill>
                  <a:srgbClr val="32418C"/>
                </a:solidFill>
              </a:rPr>
              <a:t>WHAT DOES REST MEAN?</a:t>
            </a:r>
            <a:endParaRPr lang="en-US" dirty="0">
              <a:solidFill>
                <a:srgbClr val="32418C"/>
              </a:solidFill>
            </a:endParaRP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i="1" dirty="0"/>
              <a:t>The name "Representational State Transfer" is intended to evoke an image of how a well-designed Web application behaves: a network of web pages (a virtual state-machine), where the user progresses through the application by selecting links (state transitions), resulting in the next page (representing the next state of the application) being transferred to the user and rendered for their use. </a:t>
            </a:r>
          </a:p>
          <a:p>
            <a:pPr marL="0" indent="0">
              <a:buNone/>
            </a:pPr>
            <a:endParaRPr lang="en-US" sz="2000" dirty="0"/>
          </a:p>
          <a:p>
            <a:pPr marL="0" indent="0">
              <a:buNone/>
            </a:pPr>
            <a:r>
              <a:rPr lang="en-US" sz="2000" dirty="0"/>
              <a:t>From Roy's dissertation</a:t>
            </a:r>
          </a:p>
        </p:txBody>
      </p:sp>
    </p:spTree>
    <p:extLst>
      <p:ext uri="{BB962C8B-B14F-4D97-AF65-F5344CB8AC3E}">
        <p14:creationId xmlns:p14="http://schemas.microsoft.com/office/powerpoint/2010/main" val="15819956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PH" dirty="0">
                <a:solidFill>
                  <a:srgbClr val="32418C"/>
                </a:solidFill>
              </a:rPr>
              <a:t>WHAT DOES REST MEAN?</a:t>
            </a:r>
            <a:endParaRPr lang="en-US" dirty="0">
              <a:solidFill>
                <a:srgbClr val="32418C"/>
              </a:solidFill>
            </a:endParaRPr>
          </a:p>
        </p:txBody>
      </p:sp>
      <p:grpSp>
        <p:nvGrpSpPr>
          <p:cNvPr id="10" name="Group 9">
            <a:extLst>
              <a:ext uri="{FF2B5EF4-FFF2-40B4-BE49-F238E27FC236}">
                <a16:creationId xmlns:a16="http://schemas.microsoft.com/office/drawing/2014/main" id="{818CCC03-E51E-59CB-8261-E29E5759138F}"/>
              </a:ext>
            </a:extLst>
          </p:cNvPr>
          <p:cNvGrpSpPr/>
          <p:nvPr/>
        </p:nvGrpSpPr>
        <p:grpSpPr>
          <a:xfrm>
            <a:off x="579987" y="1489150"/>
            <a:ext cx="11032026" cy="5075551"/>
            <a:chOff x="562152" y="1489150"/>
            <a:chExt cx="11032026" cy="5075551"/>
          </a:xfrm>
        </p:grpSpPr>
        <p:pic>
          <p:nvPicPr>
            <p:cNvPr id="4" name="Picture 3">
              <a:extLst>
                <a:ext uri="{FF2B5EF4-FFF2-40B4-BE49-F238E27FC236}">
                  <a16:creationId xmlns:a16="http://schemas.microsoft.com/office/drawing/2014/main" id="{80E1BD7E-AEE4-D836-07A8-856C50FA5AB7}"/>
                </a:ext>
              </a:extLst>
            </p:cNvPr>
            <p:cNvPicPr>
              <a:picLocks noChangeAspect="1"/>
            </p:cNvPicPr>
            <p:nvPr/>
          </p:nvPicPr>
          <p:blipFill>
            <a:blip r:embed="rId3"/>
            <a:stretch>
              <a:fillRect/>
            </a:stretch>
          </p:blipFill>
          <p:spPr>
            <a:xfrm>
              <a:off x="562152" y="1986090"/>
              <a:ext cx="8219536" cy="4578611"/>
            </a:xfrm>
            <a:prstGeom prst="rect">
              <a:avLst/>
            </a:prstGeom>
          </p:spPr>
        </p:pic>
        <p:pic>
          <p:nvPicPr>
            <p:cNvPr id="9" name="Picture 8">
              <a:extLst>
                <a:ext uri="{FF2B5EF4-FFF2-40B4-BE49-F238E27FC236}">
                  <a16:creationId xmlns:a16="http://schemas.microsoft.com/office/drawing/2014/main" id="{32FD3450-1652-D9D7-63E3-A63F994A5017}"/>
                </a:ext>
              </a:extLst>
            </p:cNvPr>
            <p:cNvPicPr>
              <a:picLocks noChangeAspect="1"/>
            </p:cNvPicPr>
            <p:nvPr/>
          </p:nvPicPr>
          <p:blipFill>
            <a:blip r:embed="rId4"/>
            <a:stretch>
              <a:fillRect/>
            </a:stretch>
          </p:blipFill>
          <p:spPr>
            <a:xfrm>
              <a:off x="8879174" y="1489150"/>
              <a:ext cx="2715004" cy="3124636"/>
            </a:xfrm>
            <a:prstGeom prst="rect">
              <a:avLst/>
            </a:prstGeom>
          </p:spPr>
        </p:pic>
      </p:grpSp>
    </p:spTree>
    <p:extLst>
      <p:ext uri="{BB962C8B-B14F-4D97-AF65-F5344CB8AC3E}">
        <p14:creationId xmlns:p14="http://schemas.microsoft.com/office/powerpoint/2010/main" val="1616962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USING HTTP AS THE UNIFORM INTERFACE</a:t>
            </a:r>
          </a:p>
        </p:txBody>
      </p:sp>
      <p:sp>
        <p:nvSpPr>
          <p:cNvPr id="6" name="Content Placeholder 2">
            <a:extLst>
              <a:ext uri="{FF2B5EF4-FFF2-40B4-BE49-F238E27FC236}">
                <a16:creationId xmlns:a16="http://schemas.microsoft.com/office/drawing/2014/main" id="{D3F8028E-BB5E-9E6F-F162-98DA428DD104}"/>
              </a:ext>
            </a:extLst>
          </p:cNvPr>
          <p:cNvSpPr txBox="1">
            <a:spLocks/>
          </p:cNvSpPr>
          <p:nvPr/>
        </p:nvSpPr>
        <p:spPr>
          <a:xfrm>
            <a:off x="838199" y="3899140"/>
            <a:ext cx="10515600" cy="27390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Use URIs to identify resources. </a:t>
            </a:r>
          </a:p>
          <a:p>
            <a:r>
              <a:rPr lang="en-US" sz="2000" dirty="0"/>
              <a:t>Use HTTP methods to specify operation:</a:t>
            </a:r>
          </a:p>
          <a:p>
            <a:pPr lvl="1"/>
            <a:r>
              <a:rPr lang="en-US" sz="1600" dirty="0"/>
              <a:t>Create: POST (or PUT) </a:t>
            </a:r>
          </a:p>
          <a:p>
            <a:pPr lvl="1"/>
            <a:r>
              <a:rPr lang="en-US" sz="1600" dirty="0"/>
              <a:t>Retrieve: GET</a:t>
            </a:r>
          </a:p>
          <a:p>
            <a:pPr lvl="1"/>
            <a:r>
              <a:rPr lang="en-US" sz="1600" dirty="0"/>
              <a:t>Update: PUT (or PATCH)</a:t>
            </a:r>
          </a:p>
          <a:p>
            <a:pPr lvl="1"/>
            <a:r>
              <a:rPr lang="en-US" sz="1600" dirty="0"/>
              <a:t>Delete: DELETE Bad POST /login POST /create-book GET /get-top-10-books </a:t>
            </a:r>
          </a:p>
          <a:p>
            <a:r>
              <a:rPr lang="en-US" sz="2000" dirty="0"/>
              <a:t>Use HTTP headers </a:t>
            </a:r>
            <a:r>
              <a:rPr lang="en-US" sz="2000" i="1" dirty="0"/>
              <a:t>Content-Type </a:t>
            </a:r>
            <a:r>
              <a:rPr lang="en-US" sz="2000" dirty="0"/>
              <a:t>and </a:t>
            </a:r>
            <a:r>
              <a:rPr lang="en-US" sz="2000" i="1" dirty="0"/>
              <a:t>Accept</a:t>
            </a:r>
            <a:r>
              <a:rPr lang="en-US" sz="2000" dirty="0"/>
              <a:t> to specify data format for the resources. </a:t>
            </a:r>
          </a:p>
          <a:p>
            <a:r>
              <a:rPr lang="en-US" sz="2000" dirty="0"/>
              <a:t>Use HTTP status code to indicate success/failure.</a:t>
            </a:r>
          </a:p>
        </p:txBody>
      </p:sp>
      <p:pic>
        <p:nvPicPr>
          <p:cNvPr id="4" name="Picture 3">
            <a:extLst>
              <a:ext uri="{FF2B5EF4-FFF2-40B4-BE49-F238E27FC236}">
                <a16:creationId xmlns:a16="http://schemas.microsoft.com/office/drawing/2014/main" id="{FA43A633-2FF9-936C-B662-01FBD0B2AE96}"/>
              </a:ext>
            </a:extLst>
          </p:cNvPr>
          <p:cNvPicPr>
            <a:picLocks noChangeAspect="1"/>
          </p:cNvPicPr>
          <p:nvPr/>
        </p:nvPicPr>
        <p:blipFill>
          <a:blip r:embed="rId3"/>
          <a:stretch>
            <a:fillRect/>
          </a:stretch>
        </p:blipFill>
        <p:spPr>
          <a:xfrm>
            <a:off x="2533152" y="1993904"/>
            <a:ext cx="7125694" cy="1676634"/>
          </a:xfrm>
          <a:prstGeom prst="rect">
            <a:avLst/>
          </a:prstGeom>
        </p:spPr>
      </p:pic>
    </p:spTree>
    <p:extLst>
      <p:ext uri="{BB962C8B-B14F-4D97-AF65-F5344CB8AC3E}">
        <p14:creationId xmlns:p14="http://schemas.microsoft.com/office/powerpoint/2010/main" val="28118179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USING HTTP AS THE UNIFORM INTERFACE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REST is an architectural style, not a specification.</a:t>
            </a:r>
          </a:p>
          <a:p>
            <a:r>
              <a:rPr lang="en-US" sz="2000" dirty="0"/>
              <a:t>In practice, it can be used in many different ways.</a:t>
            </a:r>
          </a:p>
          <a:p>
            <a:pPr lvl="1"/>
            <a:r>
              <a:rPr lang="en-US" sz="1600" dirty="0"/>
              <a:t>But some are better than others.</a:t>
            </a:r>
          </a:p>
          <a:p>
            <a:pPr marL="457200" lvl="1" indent="0">
              <a:buNone/>
            </a:pPr>
            <a:endParaRPr lang="en-US" sz="1600" dirty="0"/>
          </a:p>
          <a:p>
            <a:pPr marL="0" indent="0">
              <a:buNone/>
            </a:pPr>
            <a:r>
              <a:rPr lang="en-US" sz="2000" dirty="0"/>
              <a:t>Good recommendations:</a:t>
            </a:r>
          </a:p>
          <a:p>
            <a:r>
              <a:rPr lang="en-US" sz="2000" dirty="0"/>
              <a:t>Web API Design - Crafting Interfaces that Developers Love</a:t>
            </a:r>
          </a:p>
          <a:p>
            <a:pPr lvl="1"/>
            <a:r>
              <a:rPr lang="en-US" sz="1600" dirty="0"/>
              <a:t>https://pages.apigee.com/rs/apigee/images/api-design-ebook-2012-03.pdf</a:t>
            </a:r>
          </a:p>
        </p:txBody>
      </p:sp>
    </p:spTree>
    <p:extLst>
      <p:ext uri="{BB962C8B-B14F-4D97-AF65-F5344CB8AC3E}">
        <p14:creationId xmlns:p14="http://schemas.microsoft.com/office/powerpoint/2010/main" val="7386672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GET method is used to retrieve resources.</a:t>
            </a:r>
          </a:p>
          <a:p>
            <a:endParaRPr lang="en-US" sz="1600" dirty="0"/>
          </a:p>
        </p:txBody>
      </p:sp>
      <p:graphicFrame>
        <p:nvGraphicFramePr>
          <p:cNvPr id="4" name="Table 3">
            <a:extLst>
              <a:ext uri="{FF2B5EF4-FFF2-40B4-BE49-F238E27FC236}">
                <a16:creationId xmlns:a16="http://schemas.microsoft.com/office/drawing/2014/main" id="{4AC2B701-E421-C1CC-BA44-6D08DB55DD38}"/>
              </a:ext>
            </a:extLst>
          </p:cNvPr>
          <p:cNvGraphicFramePr>
            <a:graphicFrameLocks noGrp="1"/>
          </p:cNvGraphicFramePr>
          <p:nvPr/>
        </p:nvGraphicFramePr>
        <p:xfrm>
          <a:off x="1283970" y="3082925"/>
          <a:ext cx="10496549" cy="3117215"/>
        </p:xfrm>
        <a:graphic>
          <a:graphicData uri="http://schemas.openxmlformats.org/drawingml/2006/table">
            <a:tbl>
              <a:tblPr firstRow="1" bandRow="1">
                <a:tableStyleId>{2D5ABB26-0587-4C30-8999-92F81FD0307C}</a:tableStyleId>
              </a:tblPr>
              <a:tblGrid>
                <a:gridCol w="900430">
                  <a:extLst>
                    <a:ext uri="{9D8B030D-6E8A-4147-A177-3AD203B41FA5}">
                      <a16:colId xmlns:a16="http://schemas.microsoft.com/office/drawing/2014/main" val="1023513138"/>
                    </a:ext>
                  </a:extLst>
                </a:gridCol>
                <a:gridCol w="3823970">
                  <a:extLst>
                    <a:ext uri="{9D8B030D-6E8A-4147-A177-3AD203B41FA5}">
                      <a16:colId xmlns:a16="http://schemas.microsoft.com/office/drawing/2014/main" val="3780974642"/>
                    </a:ext>
                  </a:extLst>
                </a:gridCol>
                <a:gridCol w="720089">
                  <a:extLst>
                    <a:ext uri="{9D8B030D-6E8A-4147-A177-3AD203B41FA5}">
                      <a16:colId xmlns:a16="http://schemas.microsoft.com/office/drawing/2014/main" val="702440719"/>
                    </a:ext>
                  </a:extLst>
                </a:gridCol>
                <a:gridCol w="5052060">
                  <a:extLst>
                    <a:ext uri="{9D8B030D-6E8A-4147-A177-3AD203B41FA5}">
                      <a16:colId xmlns:a16="http://schemas.microsoft.com/office/drawing/2014/main" val="3099542687"/>
                    </a:ext>
                  </a:extLst>
                </a:gridCol>
              </a:tblGrid>
              <a:tr h="380365">
                <a:tc>
                  <a:txBody>
                    <a:bodyPr/>
                    <a:lstStyle/>
                    <a:p>
                      <a:pPr marL="259715" indent="-227965">
                        <a:lnSpc>
                          <a:spcPts val="2655"/>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655"/>
                        </a:lnSpc>
                      </a:pPr>
                      <a:r>
                        <a:rPr sz="2400" spc="-10" dirty="0">
                          <a:solidFill>
                            <a:schemeClr val="tx1"/>
                          </a:solidFill>
                          <a:latin typeface="+mn-lt"/>
                          <a:cs typeface="Courier New"/>
                        </a:rPr>
                        <a:t>/users</a:t>
                      </a:r>
                      <a:endParaRPr sz="2400">
                        <a:solidFill>
                          <a:schemeClr val="tx1"/>
                        </a:solidFill>
                        <a:latin typeface="+mn-lt"/>
                        <a:cs typeface="Courier New"/>
                      </a:endParaRPr>
                    </a:p>
                  </a:txBody>
                  <a:tcPr marL="0" marR="0" marT="0" marB="0"/>
                </a:tc>
                <a:tc rowSpan="2" gridSpan="2">
                  <a:txBody>
                    <a:bodyPr/>
                    <a:lstStyle/>
                    <a:p>
                      <a:pPr>
                        <a:lnSpc>
                          <a:spcPct val="100000"/>
                        </a:lnSpc>
                      </a:pPr>
                      <a:endParaRPr sz="2500">
                        <a:solidFill>
                          <a:schemeClr val="tx1"/>
                        </a:solidFill>
                        <a:latin typeface="+mn-lt"/>
                        <a:cs typeface="Times New Roman"/>
                      </a:endParaRPr>
                    </a:p>
                  </a:txBody>
                  <a:tcPr marL="0" marR="0" marT="0" marB="0"/>
                </a:tc>
                <a:tc rowSpan="2" hMerge="1">
                  <a:txBody>
                    <a:bodyPr/>
                    <a:lstStyle/>
                    <a:p>
                      <a:endParaRPr/>
                    </a:p>
                  </a:txBody>
                  <a:tcPr marL="0" marR="0" marT="0" marB="0"/>
                </a:tc>
                <a:extLst>
                  <a:ext uri="{0D108BD9-81ED-4DB2-BD59-A6C34878D82A}">
                    <a16:rowId xmlns:a16="http://schemas.microsoft.com/office/drawing/2014/main" val="338403999"/>
                  </a:ext>
                </a:extLst>
              </a:tr>
              <a:tr h="393700">
                <a:tc>
                  <a:txBody>
                    <a:bodyPr/>
                    <a:lstStyle/>
                    <a:p>
                      <a:pPr marL="259715" indent="-227965">
                        <a:lnSpc>
                          <a:spcPts val="2755"/>
                        </a:lnSpc>
                        <a:buFont typeface="Arial MT"/>
                        <a:buChar char="•"/>
                        <a:tabLst>
                          <a:tab pos="259715" algn="l"/>
                        </a:tabLst>
                      </a:pPr>
                      <a:r>
                        <a:rPr sz="2400" spc="-25" dirty="0">
                          <a:solidFill>
                            <a:schemeClr val="tx1"/>
                          </a:solidFill>
                          <a:latin typeface="+mn-lt"/>
                          <a:cs typeface="Courier New"/>
                        </a:rPr>
                        <a:t>GET</a:t>
                      </a:r>
                      <a:endParaRPr sz="2400" dirty="0">
                        <a:solidFill>
                          <a:schemeClr val="tx1"/>
                        </a:solidFill>
                        <a:latin typeface="+mn-lt"/>
                        <a:cs typeface="Courier New"/>
                      </a:endParaRPr>
                    </a:p>
                  </a:txBody>
                  <a:tcPr marL="0" marR="0" marT="0" marB="0"/>
                </a:tc>
                <a:tc>
                  <a:txBody>
                    <a:bodyPr/>
                    <a:lstStyle/>
                    <a:p>
                      <a:pPr marL="91440">
                        <a:lnSpc>
                          <a:spcPts val="2755"/>
                        </a:lnSpc>
                      </a:pPr>
                      <a:r>
                        <a:rPr sz="2400" spc="-10" dirty="0">
                          <a:solidFill>
                            <a:schemeClr val="tx1"/>
                          </a:solidFill>
                          <a:latin typeface="+mn-lt"/>
                          <a:cs typeface="Courier New"/>
                        </a:rPr>
                        <a:t>/users/2</a:t>
                      </a:r>
                      <a:endParaRPr sz="2400">
                        <a:solidFill>
                          <a:schemeClr val="tx1"/>
                        </a:solidFill>
                        <a:latin typeface="+mn-lt"/>
                        <a:cs typeface="Courier New"/>
                      </a:endParaRPr>
                    </a:p>
                  </a:txBody>
                  <a:tcPr marL="0" marR="0" marT="0" marB="0"/>
                </a:tc>
                <a:tc gridSpan="2"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933353457"/>
                  </a:ext>
                </a:extLst>
              </a:tr>
              <a:tr h="398145">
                <a:tc>
                  <a:txBody>
                    <a:bodyPr/>
                    <a:lstStyle/>
                    <a:p>
                      <a:pPr marL="259715" indent="-227965">
                        <a:lnSpc>
                          <a:spcPts val="2755"/>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755"/>
                        </a:lnSpc>
                      </a:pPr>
                      <a:r>
                        <a:rPr sz="2400" spc="-10" dirty="0">
                          <a:solidFill>
                            <a:schemeClr val="tx1"/>
                          </a:solidFill>
                          <a:latin typeface="+mn-lt"/>
                          <a:cs typeface="Courier New"/>
                        </a:rPr>
                        <a:t>/users/pages/1</a:t>
                      </a:r>
                      <a:endParaRPr sz="2400" dirty="0">
                        <a:solidFill>
                          <a:schemeClr val="tx1"/>
                        </a:solidFill>
                        <a:latin typeface="+mn-lt"/>
                        <a:cs typeface="Courier New"/>
                      </a:endParaRPr>
                    </a:p>
                  </a:txBody>
                  <a:tcPr marL="0" marR="0" marT="0" marB="0"/>
                </a:tc>
                <a:tc>
                  <a:txBody>
                    <a:bodyPr/>
                    <a:lstStyle/>
                    <a:p>
                      <a:pPr marR="3810" algn="ctr">
                        <a:lnSpc>
                          <a:spcPts val="2845"/>
                        </a:lnSpc>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0805">
                        <a:lnSpc>
                          <a:spcPts val="2845"/>
                        </a:lnSpc>
                      </a:pPr>
                      <a:r>
                        <a:rPr sz="2400" spc="-10" dirty="0">
                          <a:solidFill>
                            <a:schemeClr val="tx1"/>
                          </a:solidFill>
                          <a:latin typeface="+mn-lt"/>
                          <a:cs typeface="Courier New"/>
                        </a:rPr>
                        <a:t>/users?page=1</a:t>
                      </a:r>
                      <a:endParaRPr sz="2400">
                        <a:solidFill>
                          <a:schemeClr val="tx1"/>
                        </a:solidFill>
                        <a:latin typeface="+mn-lt"/>
                        <a:cs typeface="Courier New"/>
                      </a:endParaRPr>
                    </a:p>
                  </a:txBody>
                  <a:tcPr marL="0" marR="0" marT="0" marB="0"/>
                </a:tc>
                <a:extLst>
                  <a:ext uri="{0D108BD9-81ED-4DB2-BD59-A6C34878D82A}">
                    <a16:rowId xmlns:a16="http://schemas.microsoft.com/office/drawing/2014/main" val="757606711"/>
                  </a:ext>
                </a:extLst>
              </a:tr>
              <a:tr h="393065">
                <a:tc>
                  <a:txBody>
                    <a:bodyPr/>
                    <a:lstStyle/>
                    <a:p>
                      <a:pPr marL="259715" indent="-227965">
                        <a:lnSpc>
                          <a:spcPts val="2700"/>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700"/>
                        </a:lnSpc>
                      </a:pPr>
                      <a:r>
                        <a:rPr sz="2400" spc="-10" dirty="0">
                          <a:solidFill>
                            <a:schemeClr val="tx1"/>
                          </a:solidFill>
                          <a:latin typeface="+mn-lt"/>
                          <a:cs typeface="Courier New"/>
                        </a:rPr>
                        <a:t>/users/gender/female</a:t>
                      </a:r>
                      <a:endParaRPr sz="2400">
                        <a:solidFill>
                          <a:schemeClr val="tx1"/>
                        </a:solidFill>
                        <a:latin typeface="+mn-lt"/>
                        <a:cs typeface="Courier New"/>
                      </a:endParaRPr>
                    </a:p>
                  </a:txBody>
                  <a:tcPr marL="0" marR="0" marT="0" marB="0"/>
                </a:tc>
                <a:tc>
                  <a:txBody>
                    <a:bodyPr/>
                    <a:lstStyle/>
                    <a:p>
                      <a:pPr marR="3810" algn="ctr">
                        <a:lnSpc>
                          <a:spcPts val="2815"/>
                        </a:lnSpc>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815"/>
                        </a:lnSpc>
                      </a:pPr>
                      <a:r>
                        <a:rPr sz="2400" spc="-10" dirty="0">
                          <a:solidFill>
                            <a:schemeClr val="tx1"/>
                          </a:solidFill>
                          <a:latin typeface="+mn-lt"/>
                          <a:cs typeface="Courier New"/>
                        </a:rPr>
                        <a:t>/users?gender=female</a:t>
                      </a:r>
                      <a:endParaRPr sz="2400" dirty="0">
                        <a:solidFill>
                          <a:schemeClr val="tx1"/>
                        </a:solidFill>
                        <a:latin typeface="+mn-lt"/>
                        <a:cs typeface="Courier New"/>
                      </a:endParaRPr>
                    </a:p>
                  </a:txBody>
                  <a:tcPr marL="0" marR="0" marT="0" marB="0"/>
                </a:tc>
                <a:extLst>
                  <a:ext uri="{0D108BD9-81ED-4DB2-BD59-A6C34878D82A}">
                    <a16:rowId xmlns:a16="http://schemas.microsoft.com/office/drawing/2014/main" val="2643909337"/>
                  </a:ext>
                </a:extLst>
              </a:tr>
              <a:tr h="391160">
                <a:tc>
                  <a:txBody>
                    <a:bodyPr/>
                    <a:lstStyle/>
                    <a:p>
                      <a:pPr marL="259715" indent="-227965">
                        <a:lnSpc>
                          <a:spcPts val="2700"/>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0805">
                        <a:lnSpc>
                          <a:spcPts val="2700"/>
                        </a:lnSpc>
                      </a:pPr>
                      <a:r>
                        <a:rPr sz="2400" spc="-10" dirty="0">
                          <a:solidFill>
                            <a:schemeClr val="tx1"/>
                          </a:solidFill>
                          <a:latin typeface="+mn-lt"/>
                          <a:cs typeface="Courier New"/>
                        </a:rPr>
                        <a:t>/users/age/18</a:t>
                      </a:r>
                      <a:endParaRPr sz="2400">
                        <a:solidFill>
                          <a:schemeClr val="tx1"/>
                        </a:solidFill>
                        <a:latin typeface="+mn-lt"/>
                        <a:cs typeface="Courier New"/>
                      </a:endParaRPr>
                    </a:p>
                  </a:txBody>
                  <a:tcPr marL="0" marR="0" marT="0" marB="0"/>
                </a:tc>
                <a:tc>
                  <a:txBody>
                    <a:bodyPr/>
                    <a:lstStyle/>
                    <a:p>
                      <a:pPr marR="3810" algn="ctr">
                        <a:lnSpc>
                          <a:spcPts val="2795"/>
                        </a:lnSpc>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0805">
                        <a:lnSpc>
                          <a:spcPts val="2795"/>
                        </a:lnSpc>
                      </a:pPr>
                      <a:r>
                        <a:rPr sz="2400" spc="-10" dirty="0">
                          <a:solidFill>
                            <a:schemeClr val="tx1"/>
                          </a:solidFill>
                          <a:latin typeface="+mn-lt"/>
                          <a:cs typeface="Courier New"/>
                        </a:rPr>
                        <a:t>/users?age=18</a:t>
                      </a:r>
                      <a:endParaRPr sz="2400">
                        <a:solidFill>
                          <a:schemeClr val="tx1"/>
                        </a:solidFill>
                        <a:latin typeface="+mn-lt"/>
                        <a:cs typeface="Courier New"/>
                      </a:endParaRPr>
                    </a:p>
                  </a:txBody>
                  <a:tcPr marL="0" marR="0" marT="0" marB="0"/>
                </a:tc>
                <a:extLst>
                  <a:ext uri="{0D108BD9-81ED-4DB2-BD59-A6C34878D82A}">
                    <a16:rowId xmlns:a16="http://schemas.microsoft.com/office/drawing/2014/main" val="2715509065"/>
                  </a:ext>
                </a:extLst>
              </a:tr>
              <a:tr h="780415">
                <a:tc>
                  <a:txBody>
                    <a:bodyPr/>
                    <a:lstStyle/>
                    <a:p>
                      <a:pPr marL="259715" indent="-227965">
                        <a:lnSpc>
                          <a:spcPts val="2700"/>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p>
                      <a:pPr marL="259715" indent="-227965">
                        <a:lnSpc>
                          <a:spcPct val="100000"/>
                        </a:lnSpc>
                        <a:spcBef>
                          <a:spcPts val="220"/>
                        </a:spcBef>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700"/>
                        </a:lnSpc>
                      </a:pPr>
                      <a:r>
                        <a:rPr sz="2400" spc="-10" dirty="0">
                          <a:solidFill>
                            <a:schemeClr val="tx1"/>
                          </a:solidFill>
                          <a:latin typeface="+mn-lt"/>
                          <a:cs typeface="Courier New"/>
                        </a:rPr>
                        <a:t>/users/???</a:t>
                      </a:r>
                      <a:endParaRPr sz="2400">
                        <a:solidFill>
                          <a:schemeClr val="tx1"/>
                        </a:solidFill>
                        <a:latin typeface="+mn-lt"/>
                        <a:cs typeface="Courier New"/>
                      </a:endParaRPr>
                    </a:p>
                    <a:p>
                      <a:pPr marL="90805">
                        <a:lnSpc>
                          <a:spcPct val="100000"/>
                        </a:lnSpc>
                        <a:spcBef>
                          <a:spcPts val="220"/>
                        </a:spcBef>
                      </a:pPr>
                      <a:r>
                        <a:rPr sz="2400" spc="-10" dirty="0">
                          <a:solidFill>
                            <a:schemeClr val="tx1"/>
                          </a:solidFill>
                          <a:latin typeface="+mn-lt"/>
                          <a:cs typeface="Courier New"/>
                        </a:rPr>
                        <a:t>/users/2/name</a:t>
                      </a:r>
                      <a:endParaRPr sz="2400">
                        <a:solidFill>
                          <a:schemeClr val="tx1"/>
                        </a:solidFill>
                        <a:latin typeface="+mn-lt"/>
                        <a:cs typeface="Courier New"/>
                      </a:endParaRPr>
                    </a:p>
                  </a:txBody>
                  <a:tcPr marL="0" marR="0" marT="0" marB="0"/>
                </a:tc>
                <a:tc>
                  <a:txBody>
                    <a:bodyPr/>
                    <a:lstStyle/>
                    <a:p>
                      <a:pPr marR="3810" algn="ctr">
                        <a:lnSpc>
                          <a:spcPts val="2815"/>
                        </a:lnSpc>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815"/>
                        </a:lnSpc>
                      </a:pPr>
                      <a:r>
                        <a:rPr sz="2400" spc="-10" dirty="0">
                          <a:solidFill>
                            <a:schemeClr val="tx1"/>
                          </a:solidFill>
                          <a:latin typeface="+mn-lt"/>
                          <a:cs typeface="Courier New"/>
                        </a:rPr>
                        <a:t>/users?gender=female&amp;age=18</a:t>
                      </a:r>
                      <a:endParaRPr sz="2400">
                        <a:solidFill>
                          <a:schemeClr val="tx1"/>
                        </a:solidFill>
                        <a:latin typeface="+mn-lt"/>
                        <a:cs typeface="Courier New"/>
                      </a:endParaRPr>
                    </a:p>
                  </a:txBody>
                  <a:tcPr marL="0" marR="0" marT="0" marB="0"/>
                </a:tc>
                <a:extLst>
                  <a:ext uri="{0D108BD9-81ED-4DB2-BD59-A6C34878D82A}">
                    <a16:rowId xmlns:a16="http://schemas.microsoft.com/office/drawing/2014/main" val="2182529353"/>
                  </a:ext>
                </a:extLst>
              </a:tr>
              <a:tr h="380365">
                <a:tc>
                  <a:txBody>
                    <a:bodyPr/>
                    <a:lstStyle/>
                    <a:p>
                      <a:pPr marL="259715" indent="-227965">
                        <a:lnSpc>
                          <a:spcPts val="2755"/>
                        </a:lnSpc>
                        <a:buFont typeface="Arial MT"/>
                        <a:buChar char="•"/>
                        <a:tabLst>
                          <a:tab pos="259715" algn="l"/>
                        </a:tabLst>
                      </a:pPr>
                      <a:r>
                        <a:rPr sz="2400" spc="-25" dirty="0">
                          <a:solidFill>
                            <a:schemeClr val="tx1"/>
                          </a:solidFill>
                          <a:latin typeface="+mn-lt"/>
                          <a:cs typeface="Courier New"/>
                        </a:rPr>
                        <a:t>GET</a:t>
                      </a:r>
                      <a:endParaRPr sz="2400">
                        <a:solidFill>
                          <a:schemeClr val="tx1"/>
                        </a:solidFill>
                        <a:latin typeface="+mn-lt"/>
                        <a:cs typeface="Courier New"/>
                      </a:endParaRPr>
                    </a:p>
                  </a:txBody>
                  <a:tcPr marL="0" marR="0" marT="0" marB="0"/>
                </a:tc>
                <a:tc>
                  <a:txBody>
                    <a:bodyPr/>
                    <a:lstStyle/>
                    <a:p>
                      <a:pPr marL="91440">
                        <a:lnSpc>
                          <a:spcPts val="2755"/>
                        </a:lnSpc>
                      </a:pPr>
                      <a:r>
                        <a:rPr sz="2400" spc="-10" dirty="0">
                          <a:solidFill>
                            <a:schemeClr val="tx1"/>
                          </a:solidFill>
                          <a:latin typeface="+mn-lt"/>
                          <a:cs typeface="Courier New"/>
                        </a:rPr>
                        <a:t>/users/2/pets</a:t>
                      </a:r>
                      <a:endParaRPr sz="2400">
                        <a:solidFill>
                          <a:schemeClr val="tx1"/>
                        </a:solidFill>
                        <a:latin typeface="+mn-lt"/>
                        <a:cs typeface="Courier New"/>
                      </a:endParaRPr>
                    </a:p>
                  </a:txBody>
                  <a:tcPr marL="0" marR="0" marT="0" marB="0"/>
                </a:tc>
                <a:tc>
                  <a:txBody>
                    <a:bodyPr/>
                    <a:lstStyle/>
                    <a:p>
                      <a:pPr>
                        <a:lnSpc>
                          <a:spcPct val="100000"/>
                        </a:lnSpc>
                      </a:pPr>
                      <a:endParaRPr sz="2400">
                        <a:solidFill>
                          <a:schemeClr val="tx1"/>
                        </a:solidFill>
                        <a:latin typeface="+mn-lt"/>
                        <a:cs typeface="Times New Roman"/>
                      </a:endParaRPr>
                    </a:p>
                  </a:txBody>
                  <a:tcPr marL="0" marR="0" marT="0" marB="0"/>
                </a:tc>
                <a:tc>
                  <a:txBody>
                    <a:bodyPr/>
                    <a:lstStyle/>
                    <a:p>
                      <a:pPr>
                        <a:lnSpc>
                          <a:spcPct val="100000"/>
                        </a:lnSpc>
                      </a:pPr>
                      <a:endParaRPr sz="2400" dirty="0">
                        <a:solidFill>
                          <a:schemeClr val="tx1"/>
                        </a:solidFill>
                        <a:latin typeface="+mn-lt"/>
                        <a:cs typeface="Times New Roman"/>
                      </a:endParaRPr>
                    </a:p>
                  </a:txBody>
                  <a:tcPr marL="0" marR="0" marT="0" marB="0"/>
                </a:tc>
                <a:extLst>
                  <a:ext uri="{0D108BD9-81ED-4DB2-BD59-A6C34878D82A}">
                    <a16:rowId xmlns:a16="http://schemas.microsoft.com/office/drawing/2014/main" val="3324961857"/>
                  </a:ext>
                </a:extLst>
              </a:tr>
            </a:tbl>
          </a:graphicData>
        </a:graphic>
      </p:graphicFrame>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003178" y="934230"/>
            <a:ext cx="2350622" cy="2705277"/>
          </a:xfrm>
          <a:prstGeom prst="rect">
            <a:avLst/>
          </a:prstGeom>
        </p:spPr>
      </p:pic>
    </p:spTree>
    <p:extLst>
      <p:ext uri="{BB962C8B-B14F-4D97-AF65-F5344CB8AC3E}">
        <p14:creationId xmlns:p14="http://schemas.microsoft.com/office/powerpoint/2010/main" val="1548363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4">
            <a:extLst>
              <a:ext uri="{FF2B5EF4-FFF2-40B4-BE49-F238E27FC236}">
                <a16:creationId xmlns:a16="http://schemas.microsoft.com/office/drawing/2014/main" id="{D57DD6F0-D34D-0988-FCB7-A68688538480}"/>
              </a:ext>
            </a:extLst>
          </p:cNvPr>
          <p:cNvGrpSpPr/>
          <p:nvPr/>
        </p:nvGrpSpPr>
        <p:grpSpPr>
          <a:xfrm>
            <a:off x="838200" y="3429000"/>
            <a:ext cx="4661535" cy="1390015"/>
            <a:chOff x="1229360" y="3073400"/>
            <a:chExt cx="4661535" cy="1390015"/>
          </a:xfrm>
        </p:grpSpPr>
        <p:pic>
          <p:nvPicPr>
            <p:cNvPr id="6" name="object 5">
              <a:extLst>
                <a:ext uri="{FF2B5EF4-FFF2-40B4-BE49-F238E27FC236}">
                  <a16:creationId xmlns:a16="http://schemas.microsoft.com/office/drawing/2014/main" id="{7DE723FD-B82F-32C3-1675-E792E114E8F3}"/>
                </a:ext>
              </a:extLst>
            </p:cNvPr>
            <p:cNvPicPr/>
            <p:nvPr/>
          </p:nvPicPr>
          <p:blipFill>
            <a:blip r:embed="rId3" cstate="print"/>
            <a:stretch>
              <a:fillRect/>
            </a:stretch>
          </p:blipFill>
          <p:spPr>
            <a:xfrm>
              <a:off x="1229360" y="3073400"/>
              <a:ext cx="4661408" cy="1389888"/>
            </a:xfrm>
            <a:prstGeom prst="rect">
              <a:avLst/>
            </a:prstGeom>
          </p:spPr>
        </p:pic>
        <p:sp>
          <p:nvSpPr>
            <p:cNvPr id="7" name="object 6">
              <a:extLst>
                <a:ext uri="{FF2B5EF4-FFF2-40B4-BE49-F238E27FC236}">
                  <a16:creationId xmlns:a16="http://schemas.microsoft.com/office/drawing/2014/main" id="{B5844479-23BD-091B-ADDD-B0A678DDB564}"/>
                </a:ext>
              </a:extLst>
            </p:cNvPr>
            <p:cNvSpPr/>
            <p:nvPr/>
          </p:nvSpPr>
          <p:spPr>
            <a:xfrm>
              <a:off x="1374140" y="3218179"/>
              <a:ext cx="4376420" cy="1104900"/>
            </a:xfrm>
            <a:custGeom>
              <a:avLst/>
              <a:gdLst/>
              <a:ahLst/>
              <a:cxnLst/>
              <a:rect l="l" t="t" r="r" b="b"/>
              <a:pathLst>
                <a:path w="4376420" h="1104900">
                  <a:moveTo>
                    <a:pt x="4376420" y="0"/>
                  </a:moveTo>
                  <a:lnTo>
                    <a:pt x="0" y="0"/>
                  </a:lnTo>
                  <a:lnTo>
                    <a:pt x="0" y="1104900"/>
                  </a:lnTo>
                  <a:lnTo>
                    <a:pt x="4376420" y="1104900"/>
                  </a:lnTo>
                  <a:lnTo>
                    <a:pt x="4376420" y="0"/>
                  </a:lnTo>
                  <a:close/>
                </a:path>
              </a:pathLst>
            </a:custGeom>
            <a:solidFill>
              <a:srgbClr val="F1F1F1"/>
            </a:solidFill>
          </p:spPr>
          <p:txBody>
            <a:bodyPr wrap="square" lIns="0" tIns="0" rIns="0" bIns="0" rtlCol="0"/>
            <a:lstStyle/>
            <a:p>
              <a:endParaRPr/>
            </a:p>
          </p:txBody>
        </p:sp>
      </p:grpSp>
      <p:sp>
        <p:nvSpPr>
          <p:cNvPr id="8" name="object 7">
            <a:extLst>
              <a:ext uri="{FF2B5EF4-FFF2-40B4-BE49-F238E27FC236}">
                <a16:creationId xmlns:a16="http://schemas.microsoft.com/office/drawing/2014/main" id="{71E64224-283F-1AE0-9240-9B103BA52FD2}"/>
              </a:ext>
            </a:extLst>
          </p:cNvPr>
          <p:cNvSpPr txBox="1"/>
          <p:nvPr/>
        </p:nvSpPr>
        <p:spPr>
          <a:xfrm>
            <a:off x="1061339" y="3461131"/>
            <a:ext cx="3305810" cy="1148715"/>
          </a:xfrm>
          <a:prstGeom prst="rect">
            <a:avLst/>
          </a:prstGeom>
        </p:spPr>
        <p:txBody>
          <a:bodyPr vert="horz" wrap="square" lIns="0" tIns="11430" rIns="0" bIns="0" rtlCol="0">
            <a:spAutoFit/>
          </a:bodyPr>
          <a:lstStyle/>
          <a:p>
            <a:pPr marL="12700" marR="5080">
              <a:lnSpc>
                <a:spcPct val="136600"/>
              </a:lnSpc>
              <a:spcBef>
                <a:spcPts val="90"/>
              </a:spcBef>
            </a:pPr>
            <a:r>
              <a:rPr sz="1800" dirty="0">
                <a:latin typeface="Courier New"/>
                <a:cs typeface="Courier New"/>
              </a:rPr>
              <a:t>GET</a:t>
            </a:r>
            <a:r>
              <a:rPr sz="1800" spc="-45" dirty="0">
                <a:latin typeface="Courier New"/>
                <a:cs typeface="Courier New"/>
              </a:rPr>
              <a:t> </a:t>
            </a:r>
            <a:r>
              <a:rPr sz="1800" dirty="0">
                <a:latin typeface="Courier New"/>
                <a:cs typeface="Courier New"/>
              </a:rPr>
              <a:t>/users</a:t>
            </a:r>
            <a:r>
              <a:rPr sz="1800" spc="-45" dirty="0">
                <a:latin typeface="Courier New"/>
                <a:cs typeface="Courier New"/>
              </a:rPr>
              <a:t> </a:t>
            </a:r>
            <a:r>
              <a:rPr sz="1800" spc="-10" dirty="0">
                <a:latin typeface="Courier New"/>
                <a:cs typeface="Courier New"/>
              </a:rPr>
              <a:t>HTTP/1.1 </a:t>
            </a:r>
            <a:r>
              <a:rPr sz="1800" dirty="0">
                <a:latin typeface="Courier New"/>
                <a:cs typeface="Courier New"/>
              </a:rPr>
              <a:t>Host:</a:t>
            </a:r>
            <a:r>
              <a:rPr sz="1800" spc="-40" dirty="0">
                <a:latin typeface="Courier New"/>
                <a:cs typeface="Courier New"/>
              </a:rPr>
              <a:t> </a:t>
            </a:r>
            <a:r>
              <a:rPr sz="1800" spc="-10" dirty="0">
                <a:latin typeface="Courier New"/>
                <a:cs typeface="Courier New"/>
              </a:rPr>
              <a:t>the-website.com </a:t>
            </a:r>
            <a:r>
              <a:rPr sz="1800" dirty="0">
                <a:latin typeface="Courier New"/>
                <a:cs typeface="Courier New"/>
              </a:rPr>
              <a:t>Accept:</a:t>
            </a:r>
            <a:r>
              <a:rPr sz="1800" spc="-50" dirty="0">
                <a:latin typeface="Courier New"/>
                <a:cs typeface="Courier New"/>
              </a:rPr>
              <a:t> </a:t>
            </a:r>
            <a:r>
              <a:rPr sz="1800" spc="-10" dirty="0">
                <a:latin typeface="Courier New"/>
                <a:cs typeface="Courier New"/>
              </a:rPr>
              <a:t>application/json</a:t>
            </a:r>
            <a:endParaRPr sz="1800" dirty="0">
              <a:latin typeface="Courier New"/>
              <a:cs typeface="Courier New"/>
            </a:endParaRPr>
          </a:p>
        </p:txBody>
      </p:sp>
      <p:pic>
        <p:nvPicPr>
          <p:cNvPr id="10" name="object 8">
            <a:extLst>
              <a:ext uri="{FF2B5EF4-FFF2-40B4-BE49-F238E27FC236}">
                <a16:creationId xmlns:a16="http://schemas.microsoft.com/office/drawing/2014/main" id="{6F66F995-3662-1BEB-EE94-B224D949983D}"/>
              </a:ext>
            </a:extLst>
          </p:cNvPr>
          <p:cNvPicPr/>
          <p:nvPr/>
        </p:nvPicPr>
        <p:blipFill>
          <a:blip r:embed="rId4" cstate="print"/>
          <a:stretch>
            <a:fillRect/>
          </a:stretch>
        </p:blipFill>
        <p:spPr>
          <a:xfrm>
            <a:off x="5613399" y="3429000"/>
            <a:ext cx="5489447" cy="3269488"/>
          </a:xfrm>
          <a:prstGeom prst="rect">
            <a:avLst/>
          </a:prstGeom>
        </p:spPr>
      </p:pic>
      <p:sp>
        <p:nvSpPr>
          <p:cNvPr id="11" name="object 9">
            <a:extLst>
              <a:ext uri="{FF2B5EF4-FFF2-40B4-BE49-F238E27FC236}">
                <a16:creationId xmlns:a16="http://schemas.microsoft.com/office/drawing/2014/main" id="{7F613319-6F55-462B-DB3C-363C46229293}"/>
              </a:ext>
            </a:extLst>
          </p:cNvPr>
          <p:cNvSpPr txBox="1"/>
          <p:nvPr/>
        </p:nvSpPr>
        <p:spPr>
          <a:xfrm>
            <a:off x="5758180" y="3573779"/>
            <a:ext cx="5204460" cy="2984500"/>
          </a:xfrm>
          <a:prstGeom prst="rect">
            <a:avLst/>
          </a:prstGeom>
          <a:solidFill>
            <a:srgbClr val="F1F1F1"/>
          </a:solidFill>
        </p:spPr>
        <p:txBody>
          <a:bodyPr vert="horz" wrap="square" lIns="0" tIns="0" rIns="0" bIns="0" rtlCol="0">
            <a:spAutoFit/>
          </a:bodyPr>
          <a:lstStyle/>
          <a:p>
            <a:pPr marL="93345">
              <a:lnSpc>
                <a:spcPts val="2155"/>
              </a:lnSpc>
            </a:pPr>
            <a:r>
              <a:rPr sz="1800" dirty="0">
                <a:latin typeface="Courier New"/>
                <a:cs typeface="Courier New"/>
              </a:rPr>
              <a:t>HTTP/1.1</a:t>
            </a:r>
            <a:r>
              <a:rPr sz="1800" spc="-55" dirty="0">
                <a:latin typeface="Courier New"/>
                <a:cs typeface="Courier New"/>
              </a:rPr>
              <a:t> </a:t>
            </a:r>
            <a:r>
              <a:rPr sz="1800" dirty="0">
                <a:latin typeface="Courier New"/>
                <a:cs typeface="Courier New"/>
              </a:rPr>
              <a:t>200</a:t>
            </a:r>
            <a:r>
              <a:rPr sz="1800" spc="-40" dirty="0">
                <a:latin typeface="Courier New"/>
                <a:cs typeface="Courier New"/>
              </a:rPr>
              <a:t> </a:t>
            </a:r>
            <a:r>
              <a:rPr sz="1800" spc="-25" dirty="0">
                <a:latin typeface="Courier New"/>
                <a:cs typeface="Courier New"/>
              </a:rPr>
              <a:t>OK</a:t>
            </a:r>
            <a:endParaRPr sz="1800" dirty="0">
              <a:latin typeface="Courier New"/>
              <a:cs typeface="Courier New"/>
            </a:endParaRPr>
          </a:p>
          <a:p>
            <a:pPr marL="93345" marR="1005205">
              <a:lnSpc>
                <a:spcPts val="2960"/>
              </a:lnSpc>
              <a:spcBef>
                <a:spcPts val="210"/>
              </a:spcBef>
            </a:pPr>
            <a:r>
              <a:rPr sz="1800" spc="-10" dirty="0">
                <a:latin typeface="Courier New"/>
                <a:cs typeface="Courier New"/>
              </a:rPr>
              <a:t>Content-</a:t>
            </a:r>
            <a:r>
              <a:rPr sz="1800" dirty="0">
                <a:latin typeface="Courier New"/>
                <a:cs typeface="Courier New"/>
              </a:rPr>
              <a:t>Type:</a:t>
            </a:r>
            <a:r>
              <a:rPr sz="1800" spc="-40" dirty="0">
                <a:latin typeface="Courier New"/>
                <a:cs typeface="Courier New"/>
              </a:rPr>
              <a:t> </a:t>
            </a:r>
            <a:r>
              <a:rPr sz="1800" spc="-10" dirty="0">
                <a:latin typeface="Courier New"/>
                <a:cs typeface="Courier New"/>
              </a:rPr>
              <a:t>application/json Content-</a:t>
            </a:r>
            <a:r>
              <a:rPr sz="1800" dirty="0">
                <a:latin typeface="Courier New"/>
                <a:cs typeface="Courier New"/>
              </a:rPr>
              <a:t>Length:</a:t>
            </a:r>
            <a:r>
              <a:rPr sz="1800" spc="-45" dirty="0">
                <a:latin typeface="Courier New"/>
                <a:cs typeface="Courier New"/>
              </a:rPr>
              <a:t> </a:t>
            </a:r>
            <a:r>
              <a:rPr sz="1800" spc="-25" dirty="0">
                <a:latin typeface="Courier New"/>
                <a:cs typeface="Courier New"/>
              </a:rPr>
              <a:t>66</a:t>
            </a:r>
            <a:endParaRPr sz="1800" dirty="0">
              <a:latin typeface="Courier New"/>
              <a:cs typeface="Courier New"/>
            </a:endParaRPr>
          </a:p>
          <a:p>
            <a:pPr>
              <a:lnSpc>
                <a:spcPct val="100000"/>
              </a:lnSpc>
            </a:pPr>
            <a:endParaRPr sz="2000" dirty="0">
              <a:latin typeface="Courier New"/>
              <a:cs typeface="Courier New"/>
            </a:endParaRPr>
          </a:p>
          <a:p>
            <a:pPr marL="93345">
              <a:lnSpc>
                <a:spcPct val="100000"/>
              </a:lnSpc>
              <a:spcBef>
                <a:spcPts val="1230"/>
              </a:spcBef>
            </a:pPr>
            <a:r>
              <a:rPr sz="1800" dirty="0">
                <a:latin typeface="Courier New"/>
                <a:cs typeface="Courier New"/>
              </a:rPr>
              <a:t>[</a:t>
            </a:r>
          </a:p>
          <a:p>
            <a:pPr marL="367665">
              <a:lnSpc>
                <a:spcPct val="100000"/>
              </a:lnSpc>
              <a:spcBef>
                <a:spcPts val="780"/>
              </a:spcBef>
            </a:pPr>
            <a:r>
              <a:rPr sz="1800" dirty="0">
                <a:latin typeface="Courier New"/>
                <a:cs typeface="Courier New"/>
              </a:rPr>
              <a:t>{"id":</a:t>
            </a:r>
            <a:r>
              <a:rPr sz="1800" spc="-55" dirty="0">
                <a:latin typeface="Courier New"/>
                <a:cs typeface="Courier New"/>
              </a:rPr>
              <a:t> </a:t>
            </a:r>
            <a:r>
              <a:rPr sz="1800" dirty="0">
                <a:latin typeface="Courier New"/>
                <a:cs typeface="Courier New"/>
              </a:rPr>
              <a:t>1,</a:t>
            </a:r>
            <a:r>
              <a:rPr sz="1800" spc="-55" dirty="0">
                <a:latin typeface="Courier New"/>
                <a:cs typeface="Courier New"/>
              </a:rPr>
              <a:t> </a:t>
            </a:r>
            <a:r>
              <a:rPr sz="1800" dirty="0">
                <a:latin typeface="Courier New"/>
                <a:cs typeface="Courier New"/>
              </a:rPr>
              <a:t>"name":</a:t>
            </a:r>
            <a:r>
              <a:rPr sz="1800" spc="-75" dirty="0">
                <a:latin typeface="Courier New"/>
                <a:cs typeface="Courier New"/>
              </a:rPr>
              <a:t> </a:t>
            </a:r>
            <a:r>
              <a:rPr sz="1800" spc="-10" dirty="0">
                <a:latin typeface="Courier New"/>
                <a:cs typeface="Courier New"/>
              </a:rPr>
              <a:t>"Alice"},</a:t>
            </a:r>
            <a:endParaRPr sz="1800" dirty="0">
              <a:latin typeface="Courier New"/>
              <a:cs typeface="Courier New"/>
            </a:endParaRPr>
          </a:p>
          <a:p>
            <a:pPr marL="367665">
              <a:lnSpc>
                <a:spcPct val="100000"/>
              </a:lnSpc>
              <a:spcBef>
                <a:spcPts val="780"/>
              </a:spcBef>
            </a:pPr>
            <a:r>
              <a:rPr sz="1800" dirty="0">
                <a:latin typeface="Courier New"/>
                <a:cs typeface="Courier New"/>
              </a:rPr>
              <a:t>{"id":</a:t>
            </a:r>
            <a:r>
              <a:rPr sz="1800" spc="-50" dirty="0">
                <a:latin typeface="Courier New"/>
                <a:cs typeface="Courier New"/>
              </a:rPr>
              <a:t> </a:t>
            </a:r>
            <a:r>
              <a:rPr sz="1800" dirty="0">
                <a:latin typeface="Courier New"/>
                <a:cs typeface="Courier New"/>
              </a:rPr>
              <a:t>2,</a:t>
            </a:r>
            <a:r>
              <a:rPr sz="1800" spc="-45" dirty="0">
                <a:latin typeface="Courier New"/>
                <a:cs typeface="Courier New"/>
              </a:rPr>
              <a:t> </a:t>
            </a:r>
            <a:r>
              <a:rPr sz="1800" dirty="0">
                <a:latin typeface="Courier New"/>
                <a:cs typeface="Courier New"/>
              </a:rPr>
              <a:t>"name":</a:t>
            </a:r>
            <a:r>
              <a:rPr sz="1800" spc="-60" dirty="0">
                <a:latin typeface="Courier New"/>
                <a:cs typeface="Courier New"/>
              </a:rPr>
              <a:t> </a:t>
            </a:r>
            <a:r>
              <a:rPr sz="1800" spc="-10" dirty="0">
                <a:latin typeface="Courier New"/>
                <a:cs typeface="Courier New"/>
              </a:rPr>
              <a:t>"Bob"}</a:t>
            </a:r>
            <a:endParaRPr sz="1800" dirty="0">
              <a:latin typeface="Courier New"/>
              <a:cs typeface="Courier New"/>
            </a:endParaRPr>
          </a:p>
          <a:p>
            <a:pPr marL="93345">
              <a:lnSpc>
                <a:spcPct val="100000"/>
              </a:lnSpc>
              <a:spcBef>
                <a:spcPts val="800"/>
              </a:spcBef>
            </a:pPr>
            <a:r>
              <a:rPr sz="1800" dirty="0">
                <a:latin typeface="Courier New"/>
                <a:cs typeface="Courier New"/>
              </a:rPr>
              <a:t>]</a:t>
            </a:r>
          </a:p>
        </p:txBody>
      </p:sp>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GET method is used to retrieve resources.</a:t>
            </a:r>
          </a:p>
          <a:p>
            <a:pPr lvl="1"/>
            <a:r>
              <a:rPr lang="en-US" sz="1600" dirty="0"/>
              <a:t>Which data format? Specified by the </a:t>
            </a:r>
            <a:r>
              <a:rPr lang="en-US" sz="1600" i="1" dirty="0"/>
              <a:t>Accept</a:t>
            </a:r>
            <a:r>
              <a:rPr lang="en-US" sz="1600" dirty="0"/>
              <a:t> header!</a:t>
            </a:r>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5"/>
          <a:stretch>
            <a:fillRect/>
          </a:stretch>
        </p:blipFill>
        <p:spPr>
          <a:xfrm>
            <a:off x="9384718" y="934231"/>
            <a:ext cx="1969081" cy="2266170"/>
          </a:xfrm>
          <a:prstGeom prst="rect">
            <a:avLst/>
          </a:prstGeom>
        </p:spPr>
      </p:pic>
      <p:grpSp>
        <p:nvGrpSpPr>
          <p:cNvPr id="12" name="object 10">
            <a:extLst>
              <a:ext uri="{FF2B5EF4-FFF2-40B4-BE49-F238E27FC236}">
                <a16:creationId xmlns:a16="http://schemas.microsoft.com/office/drawing/2014/main" id="{3EBCEE27-3286-B8DE-6C85-83C559D9442C}"/>
              </a:ext>
            </a:extLst>
          </p:cNvPr>
          <p:cNvGrpSpPr/>
          <p:nvPr/>
        </p:nvGrpSpPr>
        <p:grpSpPr>
          <a:xfrm>
            <a:off x="2153571" y="4491989"/>
            <a:ext cx="3024219" cy="1935099"/>
            <a:chOff x="2153571" y="4268089"/>
            <a:chExt cx="3453765" cy="2159000"/>
          </a:xfrm>
        </p:grpSpPr>
        <p:pic>
          <p:nvPicPr>
            <p:cNvPr id="13" name="object 11">
              <a:extLst>
                <a:ext uri="{FF2B5EF4-FFF2-40B4-BE49-F238E27FC236}">
                  <a16:creationId xmlns:a16="http://schemas.microsoft.com/office/drawing/2014/main" id="{7DDD8856-154D-3987-DD7C-92A792442BF1}"/>
                </a:ext>
              </a:extLst>
            </p:cNvPr>
            <p:cNvPicPr/>
            <p:nvPr/>
          </p:nvPicPr>
          <p:blipFill>
            <a:blip r:embed="rId6" cstate="print"/>
            <a:stretch>
              <a:fillRect/>
            </a:stretch>
          </p:blipFill>
          <p:spPr>
            <a:xfrm>
              <a:off x="3765168" y="4274439"/>
              <a:ext cx="174370" cy="277494"/>
            </a:xfrm>
            <a:prstGeom prst="rect">
              <a:avLst/>
            </a:prstGeom>
          </p:spPr>
        </p:pic>
        <p:sp>
          <p:nvSpPr>
            <p:cNvPr id="14" name="object 12">
              <a:extLst>
                <a:ext uri="{FF2B5EF4-FFF2-40B4-BE49-F238E27FC236}">
                  <a16:creationId xmlns:a16="http://schemas.microsoft.com/office/drawing/2014/main" id="{220D0A47-9E9B-C836-E3F8-0349BD32AD97}"/>
                </a:ext>
              </a:extLst>
            </p:cNvPr>
            <p:cNvSpPr/>
            <p:nvPr/>
          </p:nvSpPr>
          <p:spPr>
            <a:xfrm>
              <a:off x="2159914" y="4567681"/>
              <a:ext cx="3441065" cy="1852930"/>
            </a:xfrm>
            <a:custGeom>
              <a:avLst/>
              <a:gdLst/>
              <a:ahLst/>
              <a:cxnLst/>
              <a:rect l="l" t="t" r="r" b="b"/>
              <a:pathLst>
                <a:path w="3441065" h="1852929">
                  <a:moveTo>
                    <a:pt x="1829028" y="130810"/>
                  </a:moveTo>
                  <a:lnTo>
                    <a:pt x="1818741" y="79895"/>
                  </a:lnTo>
                  <a:lnTo>
                    <a:pt x="1790712" y="38315"/>
                  </a:lnTo>
                  <a:lnTo>
                    <a:pt x="1749132" y="10287"/>
                  </a:lnTo>
                  <a:lnTo>
                    <a:pt x="1698218" y="0"/>
                  </a:lnTo>
                  <a:lnTo>
                    <a:pt x="1647291" y="10287"/>
                  </a:lnTo>
                  <a:lnTo>
                    <a:pt x="1605711" y="38315"/>
                  </a:lnTo>
                  <a:lnTo>
                    <a:pt x="1577682" y="79895"/>
                  </a:lnTo>
                  <a:lnTo>
                    <a:pt x="1567408" y="130810"/>
                  </a:lnTo>
                  <a:lnTo>
                    <a:pt x="1577682" y="181737"/>
                  </a:lnTo>
                  <a:lnTo>
                    <a:pt x="1605711" y="223316"/>
                  </a:lnTo>
                  <a:lnTo>
                    <a:pt x="1647291" y="251345"/>
                  </a:lnTo>
                  <a:lnTo>
                    <a:pt x="1698218" y="261620"/>
                  </a:lnTo>
                  <a:lnTo>
                    <a:pt x="1749132" y="251345"/>
                  </a:lnTo>
                  <a:lnTo>
                    <a:pt x="1790712" y="223316"/>
                  </a:lnTo>
                  <a:lnTo>
                    <a:pt x="1818741" y="181737"/>
                  </a:lnTo>
                  <a:lnTo>
                    <a:pt x="1829028" y="130810"/>
                  </a:lnTo>
                  <a:close/>
                </a:path>
                <a:path w="3441065" h="1852929">
                  <a:moveTo>
                    <a:pt x="3441039" y="1050150"/>
                  </a:moveTo>
                  <a:lnTo>
                    <a:pt x="3430549" y="976718"/>
                  </a:lnTo>
                  <a:lnTo>
                    <a:pt x="3415423" y="940638"/>
                  </a:lnTo>
                  <a:lnTo>
                    <a:pt x="3393617" y="905433"/>
                  </a:lnTo>
                  <a:lnTo>
                    <a:pt x="3365042" y="871474"/>
                  </a:lnTo>
                  <a:lnTo>
                    <a:pt x="3329660" y="839089"/>
                  </a:lnTo>
                  <a:lnTo>
                    <a:pt x="3335223" y="830567"/>
                  </a:lnTo>
                  <a:lnTo>
                    <a:pt x="3361093" y="765987"/>
                  </a:lnTo>
                  <a:lnTo>
                    <a:pt x="3363912" y="727824"/>
                  </a:lnTo>
                  <a:lnTo>
                    <a:pt x="3357981" y="690460"/>
                  </a:lnTo>
                  <a:lnTo>
                    <a:pt x="3343770" y="654367"/>
                  </a:lnTo>
                  <a:lnTo>
                    <a:pt x="3321735" y="620064"/>
                  </a:lnTo>
                  <a:lnTo>
                    <a:pt x="3292348" y="588060"/>
                  </a:lnTo>
                  <a:lnTo>
                    <a:pt x="3256064" y="558850"/>
                  </a:lnTo>
                  <a:lnTo>
                    <a:pt x="3213341" y="532917"/>
                  </a:lnTo>
                  <a:lnTo>
                    <a:pt x="3164636" y="510794"/>
                  </a:lnTo>
                  <a:lnTo>
                    <a:pt x="3110420" y="492963"/>
                  </a:lnTo>
                  <a:lnTo>
                    <a:pt x="3051149" y="479933"/>
                  </a:lnTo>
                  <a:lnTo>
                    <a:pt x="3033687" y="439991"/>
                  </a:lnTo>
                  <a:lnTo>
                    <a:pt x="3005645" y="402767"/>
                  </a:lnTo>
                  <a:lnTo>
                    <a:pt x="2967736" y="369049"/>
                  </a:lnTo>
                  <a:lnTo>
                    <a:pt x="2920720" y="339598"/>
                  </a:lnTo>
                  <a:lnTo>
                    <a:pt x="2878429" y="320268"/>
                  </a:lnTo>
                  <a:lnTo>
                    <a:pt x="2833420" y="304990"/>
                  </a:lnTo>
                  <a:lnTo>
                    <a:pt x="2786329" y="293712"/>
                  </a:lnTo>
                  <a:lnTo>
                    <a:pt x="2737815" y="286423"/>
                  </a:lnTo>
                  <a:lnTo>
                    <a:pt x="2688513" y="283083"/>
                  </a:lnTo>
                  <a:lnTo>
                    <a:pt x="2639098" y="283667"/>
                  </a:lnTo>
                  <a:lnTo>
                    <a:pt x="2590177" y="288124"/>
                  </a:lnTo>
                  <a:lnTo>
                    <a:pt x="2542438" y="296430"/>
                  </a:lnTo>
                  <a:lnTo>
                    <a:pt x="2496515" y="308559"/>
                  </a:lnTo>
                  <a:lnTo>
                    <a:pt x="2453055" y="324485"/>
                  </a:lnTo>
                  <a:lnTo>
                    <a:pt x="2412720" y="344157"/>
                  </a:lnTo>
                  <a:lnTo>
                    <a:pt x="2376144" y="367538"/>
                  </a:lnTo>
                  <a:lnTo>
                    <a:pt x="2350325" y="348780"/>
                  </a:lnTo>
                  <a:lnTo>
                    <a:pt x="2289429" y="317449"/>
                  </a:lnTo>
                  <a:lnTo>
                    <a:pt x="2202561" y="292087"/>
                  </a:lnTo>
                  <a:lnTo>
                    <a:pt x="2148878" y="284581"/>
                  </a:lnTo>
                  <a:lnTo>
                    <a:pt x="2094903" y="282460"/>
                  </a:lnTo>
                  <a:lnTo>
                    <a:pt x="2041575" y="285546"/>
                  </a:lnTo>
                  <a:lnTo>
                    <a:pt x="1989886" y="293624"/>
                  </a:lnTo>
                  <a:lnTo>
                    <a:pt x="1940763" y="306514"/>
                  </a:lnTo>
                  <a:lnTo>
                    <a:pt x="1895182" y="324002"/>
                  </a:lnTo>
                  <a:lnTo>
                    <a:pt x="1854098" y="345884"/>
                  </a:lnTo>
                  <a:lnTo>
                    <a:pt x="1818474" y="371983"/>
                  </a:lnTo>
                  <a:lnTo>
                    <a:pt x="1789277" y="402082"/>
                  </a:lnTo>
                  <a:lnTo>
                    <a:pt x="1766633" y="389191"/>
                  </a:lnTo>
                  <a:lnTo>
                    <a:pt x="1717281" y="366674"/>
                  </a:lnTo>
                  <a:lnTo>
                    <a:pt x="1642173" y="343395"/>
                  </a:lnTo>
                  <a:lnTo>
                    <a:pt x="1592402" y="333730"/>
                  </a:lnTo>
                  <a:lnTo>
                    <a:pt x="1541919" y="328028"/>
                  </a:lnTo>
                  <a:lnTo>
                    <a:pt x="1491284" y="326186"/>
                  </a:lnTo>
                  <a:lnTo>
                    <a:pt x="1441018" y="328091"/>
                  </a:lnTo>
                  <a:lnTo>
                    <a:pt x="1391666" y="333654"/>
                  </a:lnTo>
                  <a:lnTo>
                    <a:pt x="1343774" y="342773"/>
                  </a:lnTo>
                  <a:lnTo>
                    <a:pt x="1297863" y="355346"/>
                  </a:lnTo>
                  <a:lnTo>
                    <a:pt x="1254493" y="371259"/>
                  </a:lnTo>
                  <a:lnTo>
                    <a:pt x="1214183" y="390423"/>
                  </a:lnTo>
                  <a:lnTo>
                    <a:pt x="1177493" y="412724"/>
                  </a:lnTo>
                  <a:lnTo>
                    <a:pt x="1144930" y="438061"/>
                  </a:lnTo>
                  <a:lnTo>
                    <a:pt x="1117053" y="466344"/>
                  </a:lnTo>
                  <a:lnTo>
                    <a:pt x="1071587" y="451573"/>
                  </a:lnTo>
                  <a:lnTo>
                    <a:pt x="1024318" y="439623"/>
                  </a:lnTo>
                  <a:lnTo>
                    <a:pt x="975601" y="430517"/>
                  </a:lnTo>
                  <a:lnTo>
                    <a:pt x="925766" y="424332"/>
                  </a:lnTo>
                  <a:lnTo>
                    <a:pt x="875169" y="421093"/>
                  </a:lnTo>
                  <a:lnTo>
                    <a:pt x="824141" y="420865"/>
                  </a:lnTo>
                  <a:lnTo>
                    <a:pt x="773023" y="423672"/>
                  </a:lnTo>
                  <a:lnTo>
                    <a:pt x="715441" y="430504"/>
                  </a:lnTo>
                  <a:lnTo>
                    <a:pt x="660488" y="440944"/>
                  </a:lnTo>
                  <a:lnTo>
                    <a:pt x="608457" y="454736"/>
                  </a:lnTo>
                  <a:lnTo>
                    <a:pt x="559612" y="471678"/>
                  </a:lnTo>
                  <a:lnTo>
                    <a:pt x="514235" y="491528"/>
                  </a:lnTo>
                  <a:lnTo>
                    <a:pt x="472617" y="514057"/>
                  </a:lnTo>
                  <a:lnTo>
                    <a:pt x="435025" y="539038"/>
                  </a:lnTo>
                  <a:lnTo>
                    <a:pt x="401751" y="566242"/>
                  </a:lnTo>
                  <a:lnTo>
                    <a:pt x="373062" y="595426"/>
                  </a:lnTo>
                  <a:lnTo>
                    <a:pt x="349262" y="626376"/>
                  </a:lnTo>
                  <a:lnTo>
                    <a:pt x="317385" y="692632"/>
                  </a:lnTo>
                  <a:lnTo>
                    <a:pt x="308381" y="763168"/>
                  </a:lnTo>
                  <a:lnTo>
                    <a:pt x="313156" y="799465"/>
                  </a:lnTo>
                  <a:lnTo>
                    <a:pt x="310235" y="804418"/>
                  </a:lnTo>
                  <a:lnTo>
                    <a:pt x="256616" y="810552"/>
                  </a:lnTo>
                  <a:lnTo>
                    <a:pt x="205816" y="821740"/>
                  </a:lnTo>
                  <a:lnTo>
                    <a:pt x="158661" y="837641"/>
                  </a:lnTo>
                  <a:lnTo>
                    <a:pt x="115989" y="857885"/>
                  </a:lnTo>
                  <a:lnTo>
                    <a:pt x="78638" y="882154"/>
                  </a:lnTo>
                  <a:lnTo>
                    <a:pt x="47472" y="910082"/>
                  </a:lnTo>
                  <a:lnTo>
                    <a:pt x="20866" y="945362"/>
                  </a:lnTo>
                  <a:lnTo>
                    <a:pt x="5156" y="981989"/>
                  </a:lnTo>
                  <a:lnTo>
                    <a:pt x="0" y="1019111"/>
                  </a:lnTo>
                  <a:lnTo>
                    <a:pt x="5041" y="1055890"/>
                  </a:lnTo>
                  <a:lnTo>
                    <a:pt x="19939" y="1091526"/>
                  </a:lnTo>
                  <a:lnTo>
                    <a:pt x="44348" y="1125143"/>
                  </a:lnTo>
                  <a:lnTo>
                    <a:pt x="77889" y="1155941"/>
                  </a:lnTo>
                  <a:lnTo>
                    <a:pt x="120243" y="1183068"/>
                  </a:lnTo>
                  <a:lnTo>
                    <a:pt x="171043" y="1205687"/>
                  </a:lnTo>
                  <a:lnTo>
                    <a:pt x="125691" y="1243228"/>
                  </a:lnTo>
                  <a:lnTo>
                    <a:pt x="94805" y="1285455"/>
                  </a:lnTo>
                  <a:lnTo>
                    <a:pt x="79209" y="1330807"/>
                  </a:lnTo>
                  <a:lnTo>
                    <a:pt x="79730" y="1377708"/>
                  </a:lnTo>
                  <a:lnTo>
                    <a:pt x="110083" y="1443939"/>
                  </a:lnTo>
                  <a:lnTo>
                    <a:pt x="136766" y="1473060"/>
                  </a:lnTo>
                  <a:lnTo>
                    <a:pt x="170091" y="1499006"/>
                  </a:lnTo>
                  <a:lnTo>
                    <a:pt x="209232" y="1521383"/>
                  </a:lnTo>
                  <a:lnTo>
                    <a:pt x="253415" y="1539811"/>
                  </a:lnTo>
                  <a:lnTo>
                    <a:pt x="301840" y="1553895"/>
                  </a:lnTo>
                  <a:lnTo>
                    <a:pt x="353720" y="1563255"/>
                  </a:lnTo>
                  <a:lnTo>
                    <a:pt x="408254" y="1567497"/>
                  </a:lnTo>
                  <a:lnTo>
                    <a:pt x="464667" y="1566214"/>
                  </a:lnTo>
                  <a:lnTo>
                    <a:pt x="471144" y="1573110"/>
                  </a:lnTo>
                  <a:lnTo>
                    <a:pt x="500367" y="1600720"/>
                  </a:lnTo>
                  <a:lnTo>
                    <a:pt x="532714" y="1626247"/>
                  </a:lnTo>
                  <a:lnTo>
                    <a:pt x="567931" y="1649653"/>
                  </a:lnTo>
                  <a:lnTo>
                    <a:pt x="605739" y="1670913"/>
                  </a:lnTo>
                  <a:lnTo>
                    <a:pt x="645909" y="1689963"/>
                  </a:lnTo>
                  <a:lnTo>
                    <a:pt x="688187" y="1706778"/>
                  </a:lnTo>
                  <a:lnTo>
                    <a:pt x="732307" y="1721319"/>
                  </a:lnTo>
                  <a:lnTo>
                    <a:pt x="778027" y="1733550"/>
                  </a:lnTo>
                  <a:lnTo>
                    <a:pt x="825093" y="1743430"/>
                  </a:lnTo>
                  <a:lnTo>
                    <a:pt x="873239" y="1750910"/>
                  </a:lnTo>
                  <a:lnTo>
                    <a:pt x="922223" y="1755965"/>
                  </a:lnTo>
                  <a:lnTo>
                    <a:pt x="971804" y="1758543"/>
                  </a:lnTo>
                  <a:lnTo>
                    <a:pt x="1021702" y="1758607"/>
                  </a:lnTo>
                  <a:lnTo>
                    <a:pt x="1071689" y="1756130"/>
                  </a:lnTo>
                  <a:lnTo>
                    <a:pt x="1121486" y="1751050"/>
                  </a:lnTo>
                  <a:lnTo>
                    <a:pt x="1170863" y="1743354"/>
                  </a:lnTo>
                  <a:lnTo>
                    <a:pt x="1219568" y="1732978"/>
                  </a:lnTo>
                  <a:lnTo>
                    <a:pt x="1267333" y="1719910"/>
                  </a:lnTo>
                  <a:lnTo>
                    <a:pt x="1313916" y="1704073"/>
                  </a:lnTo>
                  <a:lnTo>
                    <a:pt x="1351191" y="1734845"/>
                  </a:lnTo>
                  <a:lnTo>
                    <a:pt x="1393609" y="1762569"/>
                  </a:lnTo>
                  <a:lnTo>
                    <a:pt x="1440675" y="1787004"/>
                  </a:lnTo>
                  <a:lnTo>
                    <a:pt x="1491894" y="1807959"/>
                  </a:lnTo>
                  <a:lnTo>
                    <a:pt x="1546796" y="1825193"/>
                  </a:lnTo>
                  <a:lnTo>
                    <a:pt x="1604873" y="1838464"/>
                  </a:lnTo>
                  <a:lnTo>
                    <a:pt x="1658213" y="1846732"/>
                  </a:lnTo>
                  <a:lnTo>
                    <a:pt x="1711604" y="1851507"/>
                  </a:lnTo>
                  <a:lnTo>
                    <a:pt x="1764703" y="1852917"/>
                  </a:lnTo>
                  <a:lnTo>
                    <a:pt x="1817154" y="1851050"/>
                  </a:lnTo>
                  <a:lnTo>
                    <a:pt x="1868639" y="1846033"/>
                  </a:lnTo>
                  <a:lnTo>
                    <a:pt x="1918817" y="1837982"/>
                  </a:lnTo>
                  <a:lnTo>
                    <a:pt x="1967357" y="1827009"/>
                  </a:lnTo>
                  <a:lnTo>
                    <a:pt x="2013902" y="1813217"/>
                  </a:lnTo>
                  <a:lnTo>
                    <a:pt x="2058136" y="1796719"/>
                  </a:lnTo>
                  <a:lnTo>
                    <a:pt x="2099703" y="1777631"/>
                  </a:lnTo>
                  <a:lnTo>
                    <a:pt x="2138286" y="1756067"/>
                  </a:lnTo>
                  <a:lnTo>
                    <a:pt x="2173541" y="1732140"/>
                  </a:lnTo>
                  <a:lnTo>
                    <a:pt x="2205139" y="1705965"/>
                  </a:lnTo>
                  <a:lnTo>
                    <a:pt x="2232723" y="1677644"/>
                  </a:lnTo>
                  <a:lnTo>
                    <a:pt x="2255964" y="1647291"/>
                  </a:lnTo>
                  <a:lnTo>
                    <a:pt x="2274544" y="1615020"/>
                  </a:lnTo>
                  <a:lnTo>
                    <a:pt x="2318994" y="1630222"/>
                  </a:lnTo>
                  <a:lnTo>
                    <a:pt x="2365667" y="1642237"/>
                  </a:lnTo>
                  <a:lnTo>
                    <a:pt x="2414117" y="1650987"/>
                  </a:lnTo>
                  <a:lnTo>
                    <a:pt x="2463889" y="1656397"/>
                  </a:lnTo>
                  <a:lnTo>
                    <a:pt x="2514574" y="1658378"/>
                  </a:lnTo>
                  <a:lnTo>
                    <a:pt x="2572321" y="1656448"/>
                  </a:lnTo>
                  <a:lnTo>
                    <a:pt x="2627985" y="1650225"/>
                  </a:lnTo>
                  <a:lnTo>
                    <a:pt x="2681135" y="1639976"/>
                  </a:lnTo>
                  <a:lnTo>
                    <a:pt x="2731338" y="1625968"/>
                  </a:lnTo>
                  <a:lnTo>
                    <a:pt x="2778150" y="1608480"/>
                  </a:lnTo>
                  <a:lnTo>
                    <a:pt x="2821140" y="1587766"/>
                  </a:lnTo>
                  <a:lnTo>
                    <a:pt x="2859875" y="1564093"/>
                  </a:lnTo>
                  <a:lnTo>
                    <a:pt x="2893923" y="1537728"/>
                  </a:lnTo>
                  <a:lnTo>
                    <a:pt x="2922828" y="1508950"/>
                  </a:lnTo>
                  <a:lnTo>
                    <a:pt x="2946184" y="1477987"/>
                  </a:lnTo>
                  <a:lnTo>
                    <a:pt x="2974454" y="1410665"/>
                  </a:lnTo>
                  <a:lnTo>
                    <a:pt x="2978505" y="1374825"/>
                  </a:lnTo>
                  <a:lnTo>
                    <a:pt x="3032861" y="1368209"/>
                  </a:lnTo>
                  <a:lnTo>
                    <a:pt x="3085630" y="1358201"/>
                  </a:lnTo>
                  <a:lnTo>
                    <a:pt x="3136417" y="1344904"/>
                  </a:lnTo>
                  <a:lnTo>
                    <a:pt x="3184829" y="1328432"/>
                  </a:lnTo>
                  <a:lnTo>
                    <a:pt x="3230473" y="1308874"/>
                  </a:lnTo>
                  <a:lnTo>
                    <a:pt x="3278111" y="1283296"/>
                  </a:lnTo>
                  <a:lnTo>
                    <a:pt x="3319805" y="1255077"/>
                  </a:lnTo>
                  <a:lnTo>
                    <a:pt x="3355492" y="1224572"/>
                  </a:lnTo>
                  <a:lnTo>
                    <a:pt x="3385083" y="1192136"/>
                  </a:lnTo>
                  <a:lnTo>
                    <a:pt x="3408502" y="1158125"/>
                  </a:lnTo>
                  <a:lnTo>
                    <a:pt x="3425685" y="1122895"/>
                  </a:lnTo>
                  <a:lnTo>
                    <a:pt x="3436556" y="1086777"/>
                  </a:lnTo>
                  <a:lnTo>
                    <a:pt x="3441039" y="1050150"/>
                  </a:lnTo>
                  <a:close/>
                </a:path>
              </a:pathLst>
            </a:custGeom>
            <a:solidFill>
              <a:srgbClr val="009CDE"/>
            </a:solidFill>
          </p:spPr>
          <p:txBody>
            <a:bodyPr wrap="square" lIns="0" tIns="0" rIns="0" bIns="0" rtlCol="0"/>
            <a:lstStyle/>
            <a:p>
              <a:endParaRPr/>
            </a:p>
          </p:txBody>
        </p:sp>
        <p:sp>
          <p:nvSpPr>
            <p:cNvPr id="15" name="object 13">
              <a:extLst>
                <a:ext uri="{FF2B5EF4-FFF2-40B4-BE49-F238E27FC236}">
                  <a16:creationId xmlns:a16="http://schemas.microsoft.com/office/drawing/2014/main" id="{52D5DE76-AD9C-23BB-E38A-0447CA93E48D}"/>
                </a:ext>
              </a:extLst>
            </p:cNvPr>
            <p:cNvSpPr/>
            <p:nvPr/>
          </p:nvSpPr>
          <p:spPr>
            <a:xfrm>
              <a:off x="2159921" y="4850140"/>
              <a:ext cx="3441065" cy="1570990"/>
            </a:xfrm>
            <a:custGeom>
              <a:avLst/>
              <a:gdLst/>
              <a:ahLst/>
              <a:cxnLst/>
              <a:rect l="l" t="t" r="r" b="b"/>
              <a:pathLst>
                <a:path w="3441065" h="1570989">
                  <a:moveTo>
                    <a:pt x="313149" y="517006"/>
                  </a:moveTo>
                  <a:lnTo>
                    <a:pt x="308379" y="480709"/>
                  </a:lnTo>
                  <a:lnTo>
                    <a:pt x="309886" y="445021"/>
                  </a:lnTo>
                  <a:lnTo>
                    <a:pt x="317388" y="410173"/>
                  </a:lnTo>
                  <a:lnTo>
                    <a:pt x="349259" y="343915"/>
                  </a:lnTo>
                  <a:lnTo>
                    <a:pt x="373066" y="312965"/>
                  </a:lnTo>
                  <a:lnTo>
                    <a:pt x="401747" y="283775"/>
                  </a:lnTo>
                  <a:lnTo>
                    <a:pt x="435023" y="256575"/>
                  </a:lnTo>
                  <a:lnTo>
                    <a:pt x="472611" y="231595"/>
                  </a:lnTo>
                  <a:lnTo>
                    <a:pt x="514232" y="209064"/>
                  </a:lnTo>
                  <a:lnTo>
                    <a:pt x="559605" y="189214"/>
                  </a:lnTo>
                  <a:lnTo>
                    <a:pt x="608451" y="172273"/>
                  </a:lnTo>
                  <a:lnTo>
                    <a:pt x="660488" y="158473"/>
                  </a:lnTo>
                  <a:lnTo>
                    <a:pt x="715436" y="148043"/>
                  </a:lnTo>
                  <a:lnTo>
                    <a:pt x="773016" y="141213"/>
                  </a:lnTo>
                  <a:lnTo>
                    <a:pt x="824137" y="138399"/>
                  </a:lnTo>
                  <a:lnTo>
                    <a:pt x="875168" y="138632"/>
                  </a:lnTo>
                  <a:lnTo>
                    <a:pt x="925768" y="141866"/>
                  </a:lnTo>
                  <a:lnTo>
                    <a:pt x="975596" y="148056"/>
                  </a:lnTo>
                  <a:lnTo>
                    <a:pt x="1024315" y="157153"/>
                  </a:lnTo>
                  <a:lnTo>
                    <a:pt x="1071582" y="169112"/>
                  </a:lnTo>
                  <a:lnTo>
                    <a:pt x="1117059" y="183885"/>
                  </a:lnTo>
                  <a:lnTo>
                    <a:pt x="1144931" y="155602"/>
                  </a:lnTo>
                  <a:lnTo>
                    <a:pt x="1177486" y="130258"/>
                  </a:lnTo>
                  <a:lnTo>
                    <a:pt x="1214185" y="107954"/>
                  </a:lnTo>
                  <a:lnTo>
                    <a:pt x="1254492" y="88793"/>
                  </a:lnTo>
                  <a:lnTo>
                    <a:pt x="1297866" y="72878"/>
                  </a:lnTo>
                  <a:lnTo>
                    <a:pt x="1343770" y="60310"/>
                  </a:lnTo>
                  <a:lnTo>
                    <a:pt x="1391666" y="51192"/>
                  </a:lnTo>
                  <a:lnTo>
                    <a:pt x="1441015" y="45627"/>
                  </a:lnTo>
                  <a:lnTo>
                    <a:pt x="1491278" y="43716"/>
                  </a:lnTo>
                  <a:lnTo>
                    <a:pt x="1541919" y="45562"/>
                  </a:lnTo>
                  <a:lnTo>
                    <a:pt x="1592398" y="51268"/>
                  </a:lnTo>
                  <a:lnTo>
                    <a:pt x="1642177" y="60935"/>
                  </a:lnTo>
                  <a:lnTo>
                    <a:pt x="1690718" y="74665"/>
                  </a:lnTo>
                  <a:lnTo>
                    <a:pt x="1742613" y="94906"/>
                  </a:lnTo>
                  <a:lnTo>
                    <a:pt x="1789270" y="119623"/>
                  </a:lnTo>
                  <a:lnTo>
                    <a:pt x="1818477" y="89519"/>
                  </a:lnTo>
                  <a:lnTo>
                    <a:pt x="1854102" y="63423"/>
                  </a:lnTo>
                  <a:lnTo>
                    <a:pt x="1895183" y="41534"/>
                  </a:lnTo>
                  <a:lnTo>
                    <a:pt x="1940763" y="24048"/>
                  </a:lnTo>
                  <a:lnTo>
                    <a:pt x="1989882" y="11165"/>
                  </a:lnTo>
                  <a:lnTo>
                    <a:pt x="2041580" y="3083"/>
                  </a:lnTo>
                  <a:lnTo>
                    <a:pt x="2094898" y="0"/>
                  </a:lnTo>
                  <a:lnTo>
                    <a:pt x="2148877" y="2113"/>
                  </a:lnTo>
                  <a:lnTo>
                    <a:pt x="2202557" y="9621"/>
                  </a:lnTo>
                  <a:lnTo>
                    <a:pt x="2254979" y="22722"/>
                  </a:lnTo>
                  <a:lnTo>
                    <a:pt x="2321320" y="49567"/>
                  </a:lnTo>
                  <a:lnTo>
                    <a:pt x="2376137" y="85079"/>
                  </a:lnTo>
                  <a:lnTo>
                    <a:pt x="2412716" y="61688"/>
                  </a:lnTo>
                  <a:lnTo>
                    <a:pt x="2453059" y="42017"/>
                  </a:lnTo>
                  <a:lnTo>
                    <a:pt x="2496517" y="26100"/>
                  </a:lnTo>
                  <a:lnTo>
                    <a:pt x="2542441" y="13969"/>
                  </a:lnTo>
                  <a:lnTo>
                    <a:pt x="2590182" y="5657"/>
                  </a:lnTo>
                  <a:lnTo>
                    <a:pt x="2639090" y="1196"/>
                  </a:lnTo>
                  <a:lnTo>
                    <a:pt x="2688517" y="619"/>
                  </a:lnTo>
                  <a:lnTo>
                    <a:pt x="2737814" y="3959"/>
                  </a:lnTo>
                  <a:lnTo>
                    <a:pt x="2786331" y="11249"/>
                  </a:lnTo>
                  <a:lnTo>
                    <a:pt x="2833419" y="22520"/>
                  </a:lnTo>
                  <a:lnTo>
                    <a:pt x="2878429" y="37806"/>
                  </a:lnTo>
                  <a:lnTo>
                    <a:pt x="2920713" y="57139"/>
                  </a:lnTo>
                  <a:lnTo>
                    <a:pt x="2967738" y="86585"/>
                  </a:lnTo>
                  <a:lnTo>
                    <a:pt x="3005644" y="120306"/>
                  </a:lnTo>
                  <a:lnTo>
                    <a:pt x="3033691" y="157527"/>
                  </a:lnTo>
                  <a:lnTo>
                    <a:pt x="3051142" y="197474"/>
                  </a:lnTo>
                  <a:lnTo>
                    <a:pt x="3110419" y="210502"/>
                  </a:lnTo>
                  <a:lnTo>
                    <a:pt x="3164639" y="228330"/>
                  </a:lnTo>
                  <a:lnTo>
                    <a:pt x="3213341" y="250457"/>
                  </a:lnTo>
                  <a:lnTo>
                    <a:pt x="3256065" y="276380"/>
                  </a:lnTo>
                  <a:lnTo>
                    <a:pt x="3292351" y="305597"/>
                  </a:lnTo>
                  <a:lnTo>
                    <a:pt x="3321738" y="337606"/>
                  </a:lnTo>
                  <a:lnTo>
                    <a:pt x="3343766" y="371905"/>
                  </a:lnTo>
                  <a:lnTo>
                    <a:pt x="3357975" y="407992"/>
                  </a:lnTo>
                  <a:lnTo>
                    <a:pt x="3363905" y="445365"/>
                  </a:lnTo>
                  <a:lnTo>
                    <a:pt x="3361094" y="483521"/>
                  </a:lnTo>
                  <a:lnTo>
                    <a:pt x="3349084" y="521959"/>
                  </a:lnTo>
                  <a:lnTo>
                    <a:pt x="3329653" y="556630"/>
                  </a:lnTo>
                  <a:lnTo>
                    <a:pt x="3365047" y="589003"/>
                  </a:lnTo>
                  <a:lnTo>
                    <a:pt x="3393611" y="622966"/>
                  </a:lnTo>
                  <a:lnTo>
                    <a:pt x="3415418" y="658167"/>
                  </a:lnTo>
                  <a:lnTo>
                    <a:pt x="3430542" y="694255"/>
                  </a:lnTo>
                  <a:lnTo>
                    <a:pt x="3441037" y="767681"/>
                  </a:lnTo>
                  <a:lnTo>
                    <a:pt x="3436555" y="804315"/>
                  </a:lnTo>
                  <a:lnTo>
                    <a:pt x="3408502" y="875665"/>
                  </a:lnTo>
                  <a:lnTo>
                    <a:pt x="3385079" y="909676"/>
                  </a:lnTo>
                  <a:lnTo>
                    <a:pt x="3355490" y="942109"/>
                  </a:lnTo>
                  <a:lnTo>
                    <a:pt x="3319809" y="972612"/>
                  </a:lnTo>
                  <a:lnTo>
                    <a:pt x="3278109" y="1000831"/>
                  </a:lnTo>
                  <a:lnTo>
                    <a:pt x="3230466" y="1026416"/>
                  </a:lnTo>
                  <a:lnTo>
                    <a:pt x="3184827" y="1045967"/>
                  </a:lnTo>
                  <a:lnTo>
                    <a:pt x="3136414" y="1062442"/>
                  </a:lnTo>
                  <a:lnTo>
                    <a:pt x="3085625" y="1075736"/>
                  </a:lnTo>
                  <a:lnTo>
                    <a:pt x="3032854" y="1085746"/>
                  </a:lnTo>
                  <a:lnTo>
                    <a:pt x="2978498" y="1092367"/>
                  </a:lnTo>
                  <a:lnTo>
                    <a:pt x="2974449" y="1128206"/>
                  </a:lnTo>
                  <a:lnTo>
                    <a:pt x="2946180" y="1195528"/>
                  </a:lnTo>
                  <a:lnTo>
                    <a:pt x="2922830" y="1226479"/>
                  </a:lnTo>
                  <a:lnTo>
                    <a:pt x="2893917" y="1255270"/>
                  </a:lnTo>
                  <a:lnTo>
                    <a:pt x="2859875" y="1281633"/>
                  </a:lnTo>
                  <a:lnTo>
                    <a:pt x="2821141" y="1305305"/>
                  </a:lnTo>
                  <a:lnTo>
                    <a:pt x="2778150" y="1326019"/>
                  </a:lnTo>
                  <a:lnTo>
                    <a:pt x="2731336" y="1343509"/>
                  </a:lnTo>
                  <a:lnTo>
                    <a:pt x="2681136" y="1357510"/>
                  </a:lnTo>
                  <a:lnTo>
                    <a:pt x="2627984" y="1367756"/>
                  </a:lnTo>
                  <a:lnTo>
                    <a:pt x="2572316" y="1373981"/>
                  </a:lnTo>
                  <a:lnTo>
                    <a:pt x="2514567" y="1375920"/>
                  </a:lnTo>
                  <a:lnTo>
                    <a:pt x="2463891" y="1373931"/>
                  </a:lnTo>
                  <a:lnTo>
                    <a:pt x="2414111" y="1368520"/>
                  </a:lnTo>
                  <a:lnTo>
                    <a:pt x="2365666" y="1359768"/>
                  </a:lnTo>
                  <a:lnTo>
                    <a:pt x="2318995" y="1347755"/>
                  </a:lnTo>
                  <a:lnTo>
                    <a:pt x="2274537" y="1332562"/>
                  </a:lnTo>
                  <a:lnTo>
                    <a:pt x="2255965" y="1364827"/>
                  </a:lnTo>
                  <a:lnTo>
                    <a:pt x="2232718" y="1395176"/>
                  </a:lnTo>
                  <a:lnTo>
                    <a:pt x="2205132" y="1423496"/>
                  </a:lnTo>
                  <a:lnTo>
                    <a:pt x="2173544" y="1449677"/>
                  </a:lnTo>
                  <a:lnTo>
                    <a:pt x="2138290" y="1473604"/>
                  </a:lnTo>
                  <a:lnTo>
                    <a:pt x="2099707" y="1495167"/>
                  </a:lnTo>
                  <a:lnTo>
                    <a:pt x="2058131" y="1514252"/>
                  </a:lnTo>
                  <a:lnTo>
                    <a:pt x="2013901" y="1530747"/>
                  </a:lnTo>
                  <a:lnTo>
                    <a:pt x="1967351" y="1544541"/>
                  </a:lnTo>
                  <a:lnTo>
                    <a:pt x="1918820" y="1555520"/>
                  </a:lnTo>
                  <a:lnTo>
                    <a:pt x="1868643" y="1563573"/>
                  </a:lnTo>
                  <a:lnTo>
                    <a:pt x="1817158" y="1568586"/>
                  </a:lnTo>
                  <a:lnTo>
                    <a:pt x="1764701" y="1570449"/>
                  </a:lnTo>
                  <a:lnTo>
                    <a:pt x="1711609" y="1569048"/>
                  </a:lnTo>
                  <a:lnTo>
                    <a:pt x="1658218" y="1564271"/>
                  </a:lnTo>
                  <a:lnTo>
                    <a:pt x="1604866" y="1556006"/>
                  </a:lnTo>
                  <a:lnTo>
                    <a:pt x="1546792" y="1542724"/>
                  </a:lnTo>
                  <a:lnTo>
                    <a:pt x="1491897" y="1525496"/>
                  </a:lnTo>
                  <a:lnTo>
                    <a:pt x="1440670" y="1504546"/>
                  </a:lnTo>
                  <a:lnTo>
                    <a:pt x="1393603" y="1480099"/>
                  </a:lnTo>
                  <a:lnTo>
                    <a:pt x="1351186" y="1452380"/>
                  </a:lnTo>
                  <a:lnTo>
                    <a:pt x="1313909" y="1421615"/>
                  </a:lnTo>
                  <a:lnTo>
                    <a:pt x="1267330" y="1437439"/>
                  </a:lnTo>
                  <a:lnTo>
                    <a:pt x="1219566" y="1450517"/>
                  </a:lnTo>
                  <a:lnTo>
                    <a:pt x="1170867" y="1460887"/>
                  </a:lnTo>
                  <a:lnTo>
                    <a:pt x="1121488" y="1468589"/>
                  </a:lnTo>
                  <a:lnTo>
                    <a:pt x="1071682" y="1473661"/>
                  </a:lnTo>
                  <a:lnTo>
                    <a:pt x="1021700" y="1476144"/>
                  </a:lnTo>
                  <a:lnTo>
                    <a:pt x="971797" y="1476077"/>
                  </a:lnTo>
                  <a:lnTo>
                    <a:pt x="922225" y="1473499"/>
                  </a:lnTo>
                  <a:lnTo>
                    <a:pt x="873237" y="1468449"/>
                  </a:lnTo>
                  <a:lnTo>
                    <a:pt x="825086" y="1460966"/>
                  </a:lnTo>
                  <a:lnTo>
                    <a:pt x="778025" y="1451091"/>
                  </a:lnTo>
                  <a:lnTo>
                    <a:pt x="732307" y="1438861"/>
                  </a:lnTo>
                  <a:lnTo>
                    <a:pt x="688186" y="1424317"/>
                  </a:lnTo>
                  <a:lnTo>
                    <a:pt x="645913" y="1407498"/>
                  </a:lnTo>
                  <a:lnTo>
                    <a:pt x="605742" y="1388443"/>
                  </a:lnTo>
                  <a:lnTo>
                    <a:pt x="567926" y="1367192"/>
                  </a:lnTo>
                  <a:lnTo>
                    <a:pt x="532718" y="1343784"/>
                  </a:lnTo>
                  <a:lnTo>
                    <a:pt x="500370" y="1318257"/>
                  </a:lnTo>
                  <a:lnTo>
                    <a:pt x="471137" y="1290652"/>
                  </a:lnTo>
                  <a:lnTo>
                    <a:pt x="464660" y="1283756"/>
                  </a:lnTo>
                  <a:lnTo>
                    <a:pt x="408255" y="1285026"/>
                  </a:lnTo>
                  <a:lnTo>
                    <a:pt x="353717" y="1280790"/>
                  </a:lnTo>
                  <a:lnTo>
                    <a:pt x="301839" y="1271435"/>
                  </a:lnTo>
                  <a:lnTo>
                    <a:pt x="253413" y="1257350"/>
                  </a:lnTo>
                  <a:lnTo>
                    <a:pt x="209231" y="1238924"/>
                  </a:lnTo>
                  <a:lnTo>
                    <a:pt x="170086" y="1216543"/>
                  </a:lnTo>
                  <a:lnTo>
                    <a:pt x="136770" y="1190597"/>
                  </a:lnTo>
                  <a:lnTo>
                    <a:pt x="110076" y="1161474"/>
                  </a:lnTo>
                  <a:lnTo>
                    <a:pt x="79723" y="1095250"/>
                  </a:lnTo>
                  <a:lnTo>
                    <a:pt x="79203" y="1048344"/>
                  </a:lnTo>
                  <a:lnTo>
                    <a:pt x="94804" y="1002991"/>
                  </a:lnTo>
                  <a:lnTo>
                    <a:pt x="125693" y="960762"/>
                  </a:lnTo>
                  <a:lnTo>
                    <a:pt x="171036" y="923229"/>
                  </a:lnTo>
                  <a:lnTo>
                    <a:pt x="120237" y="900604"/>
                  </a:lnTo>
                  <a:lnTo>
                    <a:pt x="77889" y="873478"/>
                  </a:lnTo>
                  <a:lnTo>
                    <a:pt x="44341" y="842684"/>
                  </a:lnTo>
                  <a:lnTo>
                    <a:pt x="19944" y="809057"/>
                  </a:lnTo>
                  <a:lnTo>
                    <a:pt x="5046" y="773432"/>
                  </a:lnTo>
                  <a:lnTo>
                    <a:pt x="0" y="736641"/>
                  </a:lnTo>
                  <a:lnTo>
                    <a:pt x="5154" y="699520"/>
                  </a:lnTo>
                  <a:lnTo>
                    <a:pt x="20859" y="662903"/>
                  </a:lnTo>
                  <a:lnTo>
                    <a:pt x="47465" y="627623"/>
                  </a:lnTo>
                  <a:lnTo>
                    <a:pt x="78641" y="599688"/>
                  </a:lnTo>
                  <a:lnTo>
                    <a:pt x="115983" y="575422"/>
                  </a:lnTo>
                  <a:lnTo>
                    <a:pt x="158653" y="555170"/>
                  </a:lnTo>
                  <a:lnTo>
                    <a:pt x="205810" y="539278"/>
                  </a:lnTo>
                  <a:lnTo>
                    <a:pt x="256615" y="528093"/>
                  </a:lnTo>
                  <a:lnTo>
                    <a:pt x="310228" y="521959"/>
                  </a:lnTo>
                  <a:lnTo>
                    <a:pt x="313149" y="517006"/>
                  </a:lnTo>
                  <a:close/>
                </a:path>
              </a:pathLst>
            </a:custGeom>
            <a:ln w="12700">
              <a:solidFill>
                <a:srgbClr val="0070A2"/>
              </a:solidFill>
            </a:ln>
          </p:spPr>
          <p:txBody>
            <a:bodyPr wrap="square" lIns="0" tIns="0" rIns="0" bIns="0" rtlCol="0"/>
            <a:lstStyle/>
            <a:p>
              <a:endParaRPr/>
            </a:p>
          </p:txBody>
        </p:sp>
        <p:pic>
          <p:nvPicPr>
            <p:cNvPr id="16" name="object 14">
              <a:extLst>
                <a:ext uri="{FF2B5EF4-FFF2-40B4-BE49-F238E27FC236}">
                  <a16:creationId xmlns:a16="http://schemas.microsoft.com/office/drawing/2014/main" id="{1B7A1776-05BE-657A-BCFC-5E95667D2BB9}"/>
                </a:ext>
              </a:extLst>
            </p:cNvPr>
            <p:cNvPicPr/>
            <p:nvPr/>
          </p:nvPicPr>
          <p:blipFill>
            <a:blip r:embed="rId7" cstate="print"/>
            <a:stretch>
              <a:fillRect/>
            </a:stretch>
          </p:blipFill>
          <p:spPr>
            <a:xfrm>
              <a:off x="3758818" y="4268089"/>
              <a:ext cx="187070" cy="290194"/>
            </a:xfrm>
            <a:prstGeom prst="rect">
              <a:avLst/>
            </a:prstGeom>
          </p:spPr>
        </p:pic>
        <p:sp>
          <p:nvSpPr>
            <p:cNvPr id="17" name="object 15">
              <a:extLst>
                <a:ext uri="{FF2B5EF4-FFF2-40B4-BE49-F238E27FC236}">
                  <a16:creationId xmlns:a16="http://schemas.microsoft.com/office/drawing/2014/main" id="{164D0C0E-ED26-7DEF-BB51-BA0547253D7F}"/>
                </a:ext>
              </a:extLst>
            </p:cNvPr>
            <p:cNvSpPr/>
            <p:nvPr/>
          </p:nvSpPr>
          <p:spPr>
            <a:xfrm>
              <a:off x="2334640" y="4567682"/>
              <a:ext cx="3153410" cy="1697989"/>
            </a:xfrm>
            <a:custGeom>
              <a:avLst/>
              <a:gdLst/>
              <a:ahLst/>
              <a:cxnLst/>
              <a:rect l="l" t="t" r="r" b="b"/>
              <a:pathLst>
                <a:path w="3153410" h="1697989">
                  <a:moveTo>
                    <a:pt x="1654301" y="130810"/>
                  </a:moveTo>
                  <a:lnTo>
                    <a:pt x="1644024" y="181735"/>
                  </a:lnTo>
                  <a:lnTo>
                    <a:pt x="1615995" y="223313"/>
                  </a:lnTo>
                  <a:lnTo>
                    <a:pt x="1574417" y="251342"/>
                  </a:lnTo>
                  <a:lnTo>
                    <a:pt x="1523492" y="261620"/>
                  </a:lnTo>
                  <a:lnTo>
                    <a:pt x="1472566" y="251342"/>
                  </a:lnTo>
                  <a:lnTo>
                    <a:pt x="1430988" y="223313"/>
                  </a:lnTo>
                  <a:lnTo>
                    <a:pt x="1402959" y="181735"/>
                  </a:lnTo>
                  <a:lnTo>
                    <a:pt x="1392682" y="130810"/>
                  </a:lnTo>
                  <a:lnTo>
                    <a:pt x="1402959" y="79884"/>
                  </a:lnTo>
                  <a:lnTo>
                    <a:pt x="1430988" y="38306"/>
                  </a:lnTo>
                  <a:lnTo>
                    <a:pt x="1472566" y="10277"/>
                  </a:lnTo>
                  <a:lnTo>
                    <a:pt x="1523492" y="0"/>
                  </a:lnTo>
                  <a:lnTo>
                    <a:pt x="1574417" y="10277"/>
                  </a:lnTo>
                  <a:lnTo>
                    <a:pt x="1615995" y="38306"/>
                  </a:lnTo>
                  <a:lnTo>
                    <a:pt x="1644024" y="79884"/>
                  </a:lnTo>
                  <a:lnTo>
                    <a:pt x="1654301" y="130810"/>
                  </a:lnTo>
                  <a:close/>
                </a:path>
                <a:path w="3153410" h="1697989">
                  <a:moveTo>
                    <a:pt x="201548" y="1228534"/>
                  </a:moveTo>
                  <a:lnTo>
                    <a:pt x="148929" y="1228589"/>
                  </a:lnTo>
                  <a:lnTo>
                    <a:pt x="97202" y="1223695"/>
                  </a:lnTo>
                  <a:lnTo>
                    <a:pt x="47261" y="1213982"/>
                  </a:lnTo>
                  <a:lnTo>
                    <a:pt x="0" y="1199578"/>
                  </a:lnTo>
                </a:path>
                <a:path w="3153410" h="1697989">
                  <a:moveTo>
                    <a:pt x="379348" y="1545463"/>
                  </a:moveTo>
                  <a:lnTo>
                    <a:pt x="357878" y="1550271"/>
                  </a:lnTo>
                  <a:lnTo>
                    <a:pt x="335978" y="1554191"/>
                  </a:lnTo>
                  <a:lnTo>
                    <a:pt x="313697" y="1557210"/>
                  </a:lnTo>
                  <a:lnTo>
                    <a:pt x="291083" y="1559318"/>
                  </a:lnTo>
                </a:path>
                <a:path w="3153410" h="1697989">
                  <a:moveTo>
                    <a:pt x="1139062" y="1697748"/>
                  </a:moveTo>
                  <a:lnTo>
                    <a:pt x="1123729" y="1682621"/>
                  </a:lnTo>
                  <a:lnTo>
                    <a:pt x="1109741" y="1667017"/>
                  </a:lnTo>
                  <a:lnTo>
                    <a:pt x="1097111" y="1650971"/>
                  </a:lnTo>
                  <a:lnTo>
                    <a:pt x="1085849" y="1634515"/>
                  </a:lnTo>
                </a:path>
                <a:path w="3153410" h="1697989">
                  <a:moveTo>
                    <a:pt x="2121408" y="1540078"/>
                  </a:moveTo>
                  <a:lnTo>
                    <a:pt x="2118290" y="1557669"/>
                  </a:lnTo>
                  <a:lnTo>
                    <a:pt x="2113708" y="1575120"/>
                  </a:lnTo>
                  <a:lnTo>
                    <a:pt x="2107674" y="1592395"/>
                  </a:lnTo>
                  <a:lnTo>
                    <a:pt x="2100198" y="1609458"/>
                  </a:lnTo>
                </a:path>
                <a:path w="3153410" h="1697989">
                  <a:moveTo>
                    <a:pt x="2543174" y="1111427"/>
                  </a:moveTo>
                  <a:lnTo>
                    <a:pt x="2600145" y="1131902"/>
                  </a:lnTo>
                  <a:lnTo>
                    <a:pt x="2651087" y="1156802"/>
                  </a:lnTo>
                  <a:lnTo>
                    <a:pt x="2695495" y="1185619"/>
                  </a:lnTo>
                  <a:lnTo>
                    <a:pt x="2732865" y="1217847"/>
                  </a:lnTo>
                  <a:lnTo>
                    <a:pt x="2762692" y="1252977"/>
                  </a:lnTo>
                  <a:lnTo>
                    <a:pt x="2784473" y="1290503"/>
                  </a:lnTo>
                  <a:lnTo>
                    <a:pt x="2797701" y="1329917"/>
                  </a:lnTo>
                  <a:lnTo>
                    <a:pt x="2801873" y="1370711"/>
                  </a:lnTo>
                </a:path>
                <a:path w="3153410" h="1697989">
                  <a:moveTo>
                    <a:pt x="3153283" y="835279"/>
                  </a:moveTo>
                  <a:lnTo>
                    <a:pt x="3131373" y="862550"/>
                  </a:lnTo>
                  <a:lnTo>
                    <a:pt x="3104689" y="887999"/>
                  </a:lnTo>
                  <a:lnTo>
                    <a:pt x="3073505" y="911377"/>
                  </a:lnTo>
                  <a:lnTo>
                    <a:pt x="3038094" y="932434"/>
                  </a:lnTo>
                </a:path>
                <a:path w="3153410" h="1697989">
                  <a:moveTo>
                    <a:pt x="2876931" y="474472"/>
                  </a:moveTo>
                  <a:lnTo>
                    <a:pt x="2879740" y="485923"/>
                  </a:lnTo>
                  <a:lnTo>
                    <a:pt x="2881693" y="497411"/>
                  </a:lnTo>
                  <a:lnTo>
                    <a:pt x="2882788" y="508922"/>
                  </a:lnTo>
                  <a:lnTo>
                    <a:pt x="2883026" y="520446"/>
                  </a:lnTo>
                </a:path>
                <a:path w="3153410" h="1697989">
                  <a:moveTo>
                    <a:pt x="2141347" y="421005"/>
                  </a:moveTo>
                  <a:lnTo>
                    <a:pt x="2153503" y="405391"/>
                  </a:lnTo>
                  <a:lnTo>
                    <a:pt x="2167445" y="390398"/>
                  </a:lnTo>
                  <a:lnTo>
                    <a:pt x="2183102" y="376070"/>
                  </a:lnTo>
                  <a:lnTo>
                    <a:pt x="2200401" y="362458"/>
                  </a:lnTo>
                </a:path>
                <a:path w="3153410" h="1697989">
                  <a:moveTo>
                    <a:pt x="1589532" y="448818"/>
                  </a:moveTo>
                  <a:lnTo>
                    <a:pt x="1594764" y="435850"/>
                  </a:lnTo>
                  <a:lnTo>
                    <a:pt x="1601295" y="423084"/>
                  </a:lnTo>
                  <a:lnTo>
                    <a:pt x="1609088" y="410581"/>
                  </a:lnTo>
                  <a:lnTo>
                    <a:pt x="1618107" y="398399"/>
                  </a:lnTo>
                </a:path>
                <a:path w="3153410" h="1697989">
                  <a:moveTo>
                    <a:pt x="941832" y="465963"/>
                  </a:moveTo>
                  <a:lnTo>
                    <a:pt x="969470" y="476765"/>
                  </a:lnTo>
                  <a:lnTo>
                    <a:pt x="995965" y="488569"/>
                  </a:lnTo>
                  <a:lnTo>
                    <a:pt x="1021270" y="501324"/>
                  </a:lnTo>
                  <a:lnTo>
                    <a:pt x="1045336" y="514985"/>
                  </a:lnTo>
                </a:path>
                <a:path w="3153410" h="1697989">
                  <a:moveTo>
                    <a:pt x="156463" y="851027"/>
                  </a:moveTo>
                  <a:lnTo>
                    <a:pt x="150752" y="838364"/>
                  </a:lnTo>
                  <a:lnTo>
                    <a:pt x="145827" y="825547"/>
                  </a:lnTo>
                  <a:lnTo>
                    <a:pt x="141712" y="812611"/>
                  </a:lnTo>
                  <a:lnTo>
                    <a:pt x="138429" y="799592"/>
                  </a:lnTo>
                </a:path>
              </a:pathLst>
            </a:custGeom>
            <a:ln w="12700">
              <a:solidFill>
                <a:srgbClr val="0070A2"/>
              </a:solidFill>
            </a:ln>
          </p:spPr>
          <p:txBody>
            <a:bodyPr wrap="square" lIns="0" tIns="0" rIns="0" bIns="0" rtlCol="0"/>
            <a:lstStyle/>
            <a:p>
              <a:endParaRPr/>
            </a:p>
          </p:txBody>
        </p:sp>
      </p:grpSp>
      <p:sp>
        <p:nvSpPr>
          <p:cNvPr id="18" name="object 16">
            <a:extLst>
              <a:ext uri="{FF2B5EF4-FFF2-40B4-BE49-F238E27FC236}">
                <a16:creationId xmlns:a16="http://schemas.microsoft.com/office/drawing/2014/main" id="{FF1D01D3-1C5C-6138-DC75-9C32DC44ABFF}"/>
              </a:ext>
            </a:extLst>
          </p:cNvPr>
          <p:cNvSpPr txBox="1"/>
          <p:nvPr/>
        </p:nvSpPr>
        <p:spPr>
          <a:xfrm>
            <a:off x="2718054" y="5223210"/>
            <a:ext cx="1823761" cy="858633"/>
          </a:xfrm>
          <a:prstGeom prst="rect">
            <a:avLst/>
          </a:prstGeom>
        </p:spPr>
        <p:txBody>
          <a:bodyPr vert="horz" wrap="square" lIns="0" tIns="20320" rIns="0" bIns="0" rtlCol="0">
            <a:spAutoFit/>
          </a:bodyPr>
          <a:lstStyle/>
          <a:p>
            <a:pPr marL="12065" marR="5080" algn="ctr">
              <a:lnSpc>
                <a:spcPct val="102800"/>
              </a:lnSpc>
              <a:spcBef>
                <a:spcPts val="160"/>
              </a:spcBef>
            </a:pPr>
            <a:r>
              <a:rPr sz="1800" spc="-10" dirty="0">
                <a:solidFill>
                  <a:srgbClr val="FFFFFF"/>
                </a:solidFill>
                <a:latin typeface="Courier New"/>
                <a:cs typeface="Courier New"/>
              </a:rPr>
              <a:t>application/xml </a:t>
            </a:r>
            <a:r>
              <a:rPr sz="1800" dirty="0">
                <a:solidFill>
                  <a:srgbClr val="FFFFFF"/>
                </a:solidFill>
                <a:latin typeface="Georgia"/>
                <a:cs typeface="Georgia"/>
              </a:rPr>
              <a:t>was popular</a:t>
            </a:r>
            <a:r>
              <a:rPr sz="1800" spc="-15" dirty="0">
                <a:solidFill>
                  <a:srgbClr val="FFFFFF"/>
                </a:solidFill>
                <a:latin typeface="Georgia"/>
                <a:cs typeface="Georgia"/>
              </a:rPr>
              <a:t> </a:t>
            </a:r>
            <a:r>
              <a:rPr sz="1800" spc="-10" dirty="0">
                <a:solidFill>
                  <a:srgbClr val="FFFFFF"/>
                </a:solidFill>
                <a:latin typeface="Georgia"/>
                <a:cs typeface="Georgia"/>
              </a:rPr>
              <a:t>before JSON.</a:t>
            </a:r>
            <a:endParaRPr sz="1800" dirty="0">
              <a:latin typeface="Georgia"/>
              <a:cs typeface="Georgia"/>
            </a:endParaRPr>
          </a:p>
        </p:txBody>
      </p:sp>
    </p:spTree>
    <p:extLst>
      <p:ext uri="{BB962C8B-B14F-4D97-AF65-F5344CB8AC3E}">
        <p14:creationId xmlns:p14="http://schemas.microsoft.com/office/powerpoint/2010/main" val="7777228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POST method is used to create resources.</a:t>
            </a:r>
          </a:p>
          <a:p>
            <a:pPr lvl="1"/>
            <a:r>
              <a:rPr lang="en-US" sz="1600" dirty="0"/>
              <a:t>Which data format? Specified by the </a:t>
            </a:r>
            <a:r>
              <a:rPr lang="en-US" sz="1600" i="1" dirty="0"/>
              <a:t>Accept</a:t>
            </a:r>
            <a:r>
              <a:rPr lang="en-US" sz="1600" dirty="0"/>
              <a:t> and </a:t>
            </a:r>
            <a:r>
              <a:rPr lang="en-US" sz="1600" i="1" dirty="0"/>
              <a:t>Content-Type</a:t>
            </a:r>
            <a:r>
              <a:rPr lang="en-US" sz="1600" dirty="0"/>
              <a:t> header!</a:t>
            </a:r>
          </a:p>
          <a:p>
            <a:endParaRPr lang="en-US" sz="2000" dirty="0"/>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384718" y="934231"/>
            <a:ext cx="1969081" cy="2266170"/>
          </a:xfrm>
          <a:prstGeom prst="rect">
            <a:avLst/>
          </a:prstGeom>
        </p:spPr>
      </p:pic>
      <p:sp>
        <p:nvSpPr>
          <p:cNvPr id="18" name="object 16">
            <a:extLst>
              <a:ext uri="{FF2B5EF4-FFF2-40B4-BE49-F238E27FC236}">
                <a16:creationId xmlns:a16="http://schemas.microsoft.com/office/drawing/2014/main" id="{FF1D01D3-1C5C-6138-DC75-9C32DC44ABFF}"/>
              </a:ext>
            </a:extLst>
          </p:cNvPr>
          <p:cNvSpPr txBox="1"/>
          <p:nvPr/>
        </p:nvSpPr>
        <p:spPr>
          <a:xfrm>
            <a:off x="2718054" y="5223210"/>
            <a:ext cx="1823761" cy="858633"/>
          </a:xfrm>
          <a:prstGeom prst="rect">
            <a:avLst/>
          </a:prstGeom>
        </p:spPr>
        <p:txBody>
          <a:bodyPr vert="horz" wrap="square" lIns="0" tIns="20320" rIns="0" bIns="0" rtlCol="0">
            <a:spAutoFit/>
          </a:bodyPr>
          <a:lstStyle/>
          <a:p>
            <a:pPr marL="12065" marR="5080" algn="ctr">
              <a:lnSpc>
                <a:spcPct val="102800"/>
              </a:lnSpc>
              <a:spcBef>
                <a:spcPts val="160"/>
              </a:spcBef>
            </a:pPr>
            <a:r>
              <a:rPr sz="1800" spc="-10" dirty="0">
                <a:solidFill>
                  <a:srgbClr val="FFFFFF"/>
                </a:solidFill>
                <a:latin typeface="Courier New"/>
                <a:cs typeface="Courier New"/>
              </a:rPr>
              <a:t>application/xml </a:t>
            </a:r>
            <a:r>
              <a:rPr sz="1800" dirty="0">
                <a:solidFill>
                  <a:srgbClr val="FFFFFF"/>
                </a:solidFill>
                <a:latin typeface="Georgia"/>
                <a:cs typeface="Georgia"/>
              </a:rPr>
              <a:t>was popular</a:t>
            </a:r>
            <a:r>
              <a:rPr sz="1800" spc="-15" dirty="0">
                <a:solidFill>
                  <a:srgbClr val="FFFFFF"/>
                </a:solidFill>
                <a:latin typeface="Georgia"/>
                <a:cs typeface="Georgia"/>
              </a:rPr>
              <a:t> </a:t>
            </a:r>
            <a:r>
              <a:rPr sz="1800" spc="-10" dirty="0">
                <a:solidFill>
                  <a:srgbClr val="FFFFFF"/>
                </a:solidFill>
                <a:latin typeface="Georgia"/>
                <a:cs typeface="Georgia"/>
              </a:rPr>
              <a:t>before JSON.</a:t>
            </a:r>
            <a:endParaRPr sz="1800" dirty="0">
              <a:latin typeface="Georgia"/>
              <a:cs typeface="Georgia"/>
            </a:endParaRPr>
          </a:p>
        </p:txBody>
      </p:sp>
      <p:pic>
        <p:nvPicPr>
          <p:cNvPr id="4" name="object 5">
            <a:extLst>
              <a:ext uri="{FF2B5EF4-FFF2-40B4-BE49-F238E27FC236}">
                <a16:creationId xmlns:a16="http://schemas.microsoft.com/office/drawing/2014/main" id="{9B10199E-F4F9-642E-B345-CB9D096A16D4}"/>
              </a:ext>
            </a:extLst>
          </p:cNvPr>
          <p:cNvPicPr/>
          <p:nvPr/>
        </p:nvPicPr>
        <p:blipFill>
          <a:blip r:embed="rId4" cstate="print"/>
          <a:stretch>
            <a:fillRect/>
          </a:stretch>
        </p:blipFill>
        <p:spPr>
          <a:xfrm>
            <a:off x="1229360" y="3360421"/>
            <a:ext cx="4661408" cy="3426966"/>
          </a:xfrm>
          <a:prstGeom prst="rect">
            <a:avLst/>
          </a:prstGeom>
        </p:spPr>
      </p:pic>
      <p:sp>
        <p:nvSpPr>
          <p:cNvPr id="5" name="object 6">
            <a:extLst>
              <a:ext uri="{FF2B5EF4-FFF2-40B4-BE49-F238E27FC236}">
                <a16:creationId xmlns:a16="http://schemas.microsoft.com/office/drawing/2014/main" id="{1DE63FCF-EB03-808B-7CDE-10470BEA0835}"/>
              </a:ext>
            </a:extLst>
          </p:cNvPr>
          <p:cNvSpPr txBox="1"/>
          <p:nvPr/>
        </p:nvSpPr>
        <p:spPr>
          <a:xfrm>
            <a:off x="1371854" y="3496310"/>
            <a:ext cx="4376420" cy="3149580"/>
          </a:xfrm>
          <a:prstGeom prst="rect">
            <a:avLst/>
          </a:prstGeom>
          <a:solidFill>
            <a:srgbClr val="F1F1F1"/>
          </a:solidFill>
        </p:spPr>
        <p:txBody>
          <a:bodyPr vert="horz" wrap="square" lIns="0" tIns="0" rIns="0" bIns="0" rtlCol="0">
            <a:spAutoFit/>
          </a:bodyPr>
          <a:lstStyle/>
          <a:p>
            <a:pPr marL="90805">
              <a:lnSpc>
                <a:spcPts val="2150"/>
              </a:lnSpc>
            </a:pPr>
            <a:r>
              <a:rPr sz="1600" dirty="0">
                <a:latin typeface="Courier New"/>
                <a:cs typeface="Courier New"/>
              </a:rPr>
              <a:t>POST</a:t>
            </a:r>
            <a:r>
              <a:rPr sz="1600" spc="-40" dirty="0">
                <a:latin typeface="Courier New"/>
                <a:cs typeface="Courier New"/>
              </a:rPr>
              <a:t> </a:t>
            </a:r>
            <a:r>
              <a:rPr sz="1600" dirty="0">
                <a:latin typeface="Courier New"/>
                <a:cs typeface="Courier New"/>
              </a:rPr>
              <a:t>/users</a:t>
            </a:r>
            <a:r>
              <a:rPr sz="1600" spc="-40" dirty="0">
                <a:latin typeface="Courier New"/>
                <a:cs typeface="Courier New"/>
              </a:rPr>
              <a:t> </a:t>
            </a:r>
            <a:r>
              <a:rPr sz="1600" spc="-10" dirty="0">
                <a:latin typeface="Courier New"/>
                <a:cs typeface="Courier New"/>
              </a:rPr>
              <a:t>HTTP/1.1</a:t>
            </a:r>
            <a:endParaRPr sz="1600" dirty="0">
              <a:latin typeface="Courier New"/>
              <a:cs typeface="Courier New"/>
            </a:endParaRPr>
          </a:p>
          <a:p>
            <a:pPr marL="90805" marR="997585">
              <a:lnSpc>
                <a:spcPts val="2960"/>
              </a:lnSpc>
              <a:spcBef>
                <a:spcPts val="215"/>
              </a:spcBef>
            </a:pPr>
            <a:r>
              <a:rPr sz="1600" dirty="0">
                <a:latin typeface="Courier New"/>
                <a:cs typeface="Courier New"/>
              </a:rPr>
              <a:t>Host:</a:t>
            </a:r>
            <a:r>
              <a:rPr sz="1600" spc="-40" dirty="0">
                <a:latin typeface="Courier New"/>
                <a:cs typeface="Courier New"/>
              </a:rPr>
              <a:t> </a:t>
            </a:r>
            <a:r>
              <a:rPr sz="1600" spc="-10" dirty="0">
                <a:latin typeface="Courier New"/>
                <a:cs typeface="Courier New"/>
              </a:rPr>
              <a:t>the-website.com </a:t>
            </a:r>
            <a:r>
              <a:rPr sz="1600" dirty="0">
                <a:latin typeface="Courier New"/>
                <a:cs typeface="Courier New"/>
              </a:rPr>
              <a:t>Accept:</a:t>
            </a:r>
            <a:r>
              <a:rPr sz="1600" spc="-50" dirty="0">
                <a:latin typeface="Courier New"/>
                <a:cs typeface="Courier New"/>
              </a:rPr>
              <a:t> </a:t>
            </a:r>
            <a:r>
              <a:rPr sz="1600" spc="-10" dirty="0">
                <a:latin typeface="Courier New"/>
                <a:cs typeface="Courier New"/>
              </a:rPr>
              <a:t>application/json</a:t>
            </a:r>
            <a:endParaRPr sz="1600" dirty="0">
              <a:latin typeface="Courier New"/>
              <a:cs typeface="Courier New"/>
            </a:endParaRPr>
          </a:p>
          <a:p>
            <a:pPr marL="90805">
              <a:lnSpc>
                <a:spcPct val="100000"/>
              </a:lnSpc>
              <a:spcBef>
                <a:spcPts val="545"/>
              </a:spcBef>
            </a:pPr>
            <a:r>
              <a:rPr sz="1600" spc="-10" dirty="0">
                <a:latin typeface="Courier New"/>
                <a:cs typeface="Courier New"/>
              </a:rPr>
              <a:t>Content-</a:t>
            </a:r>
            <a:r>
              <a:rPr sz="1600" dirty="0">
                <a:latin typeface="Courier New"/>
                <a:cs typeface="Courier New"/>
              </a:rPr>
              <a:t>Type:</a:t>
            </a:r>
            <a:r>
              <a:rPr sz="1600" spc="-55" dirty="0">
                <a:latin typeface="Courier New"/>
                <a:cs typeface="Courier New"/>
              </a:rPr>
              <a:t> </a:t>
            </a:r>
            <a:r>
              <a:rPr sz="1600" spc="-10" dirty="0">
                <a:latin typeface="Courier New"/>
                <a:cs typeface="Courier New"/>
              </a:rPr>
              <a:t>application/xml</a:t>
            </a:r>
            <a:endParaRPr sz="1600" dirty="0">
              <a:latin typeface="Courier New"/>
              <a:cs typeface="Courier New"/>
            </a:endParaRPr>
          </a:p>
          <a:p>
            <a:pPr marL="90805">
              <a:lnSpc>
                <a:spcPct val="100000"/>
              </a:lnSpc>
              <a:spcBef>
                <a:spcPts val="785"/>
              </a:spcBef>
            </a:pPr>
            <a:r>
              <a:rPr sz="1600" spc="-10" dirty="0">
                <a:latin typeface="Courier New"/>
                <a:cs typeface="Courier New"/>
              </a:rPr>
              <a:t>Content-</a:t>
            </a:r>
            <a:r>
              <a:rPr sz="1600" dirty="0">
                <a:latin typeface="Courier New"/>
                <a:cs typeface="Courier New"/>
              </a:rPr>
              <a:t>Length:</a:t>
            </a:r>
            <a:r>
              <a:rPr sz="1600" spc="-45" dirty="0">
                <a:latin typeface="Courier New"/>
                <a:cs typeface="Courier New"/>
              </a:rPr>
              <a:t> </a:t>
            </a:r>
            <a:r>
              <a:rPr sz="1600" spc="-25" dirty="0">
                <a:latin typeface="Courier New"/>
                <a:cs typeface="Courier New"/>
              </a:rPr>
              <a:t>49</a:t>
            </a:r>
            <a:endParaRPr sz="1600" dirty="0">
              <a:latin typeface="Courier New"/>
              <a:cs typeface="Courier New"/>
            </a:endParaRPr>
          </a:p>
          <a:p>
            <a:pPr>
              <a:lnSpc>
                <a:spcPct val="100000"/>
              </a:lnSpc>
            </a:pPr>
            <a:endParaRPr dirty="0">
              <a:latin typeface="Courier New"/>
              <a:cs typeface="Courier New"/>
            </a:endParaRPr>
          </a:p>
          <a:p>
            <a:pPr marL="90805">
              <a:lnSpc>
                <a:spcPct val="100000"/>
              </a:lnSpc>
              <a:spcBef>
                <a:spcPts val="1455"/>
              </a:spcBef>
            </a:pPr>
            <a:r>
              <a:rPr sz="1600" spc="-10" dirty="0">
                <a:latin typeface="Courier New"/>
                <a:cs typeface="Courier New"/>
              </a:rPr>
              <a:t>&lt;user&gt;</a:t>
            </a:r>
            <a:endParaRPr sz="1600" dirty="0">
              <a:latin typeface="Courier New"/>
              <a:cs typeface="Courier New"/>
            </a:endParaRPr>
          </a:p>
          <a:p>
            <a:pPr marL="365125">
              <a:lnSpc>
                <a:spcPct val="100000"/>
              </a:lnSpc>
              <a:spcBef>
                <a:spcPts val="800"/>
              </a:spcBef>
            </a:pPr>
            <a:r>
              <a:rPr sz="1600" spc="-10" dirty="0">
                <a:latin typeface="Courier New"/>
                <a:cs typeface="Courier New"/>
              </a:rPr>
              <a:t>&lt;name&gt;Claire&lt;/name&gt;</a:t>
            </a:r>
            <a:endParaRPr sz="1600" dirty="0">
              <a:latin typeface="Courier New"/>
              <a:cs typeface="Courier New"/>
            </a:endParaRPr>
          </a:p>
          <a:p>
            <a:pPr marL="90805">
              <a:lnSpc>
                <a:spcPct val="100000"/>
              </a:lnSpc>
              <a:spcBef>
                <a:spcPts val="785"/>
              </a:spcBef>
            </a:pPr>
            <a:r>
              <a:rPr sz="1600" spc="-10" dirty="0">
                <a:latin typeface="Courier New"/>
                <a:cs typeface="Courier New"/>
              </a:rPr>
              <a:t>&lt;/user&gt;</a:t>
            </a:r>
            <a:endParaRPr sz="1600" dirty="0">
              <a:latin typeface="Courier New"/>
              <a:cs typeface="Courier New"/>
            </a:endParaRPr>
          </a:p>
        </p:txBody>
      </p:sp>
      <p:pic>
        <p:nvPicPr>
          <p:cNvPr id="6" name="object 7">
            <a:extLst>
              <a:ext uri="{FF2B5EF4-FFF2-40B4-BE49-F238E27FC236}">
                <a16:creationId xmlns:a16="http://schemas.microsoft.com/office/drawing/2014/main" id="{C05151BE-4AB9-281F-D485-31D1719F0D5B}"/>
              </a:ext>
            </a:extLst>
          </p:cNvPr>
          <p:cNvPicPr/>
          <p:nvPr/>
        </p:nvPicPr>
        <p:blipFill>
          <a:blip r:embed="rId5" cstate="print"/>
          <a:stretch>
            <a:fillRect/>
          </a:stretch>
        </p:blipFill>
        <p:spPr>
          <a:xfrm>
            <a:off x="6096000" y="3657600"/>
            <a:ext cx="5489447" cy="2515108"/>
          </a:xfrm>
          <a:prstGeom prst="rect">
            <a:avLst/>
          </a:prstGeom>
        </p:spPr>
      </p:pic>
      <p:sp>
        <p:nvSpPr>
          <p:cNvPr id="7" name="object 8">
            <a:extLst>
              <a:ext uri="{FF2B5EF4-FFF2-40B4-BE49-F238E27FC236}">
                <a16:creationId xmlns:a16="http://schemas.microsoft.com/office/drawing/2014/main" id="{13AD6E1F-E65C-14B6-97D1-44D723B3F125}"/>
              </a:ext>
            </a:extLst>
          </p:cNvPr>
          <p:cNvSpPr txBox="1"/>
          <p:nvPr/>
        </p:nvSpPr>
        <p:spPr>
          <a:xfrm>
            <a:off x="6240781" y="3802381"/>
            <a:ext cx="5204460" cy="2230120"/>
          </a:xfrm>
          <a:prstGeom prst="rect">
            <a:avLst/>
          </a:prstGeom>
          <a:solidFill>
            <a:srgbClr val="F1F1F1"/>
          </a:solidFill>
        </p:spPr>
        <p:txBody>
          <a:bodyPr vert="horz" wrap="square" lIns="0" tIns="0" rIns="0" bIns="0" rtlCol="0">
            <a:spAutoFit/>
          </a:bodyPr>
          <a:lstStyle/>
          <a:p>
            <a:pPr marL="93345">
              <a:lnSpc>
                <a:spcPts val="2150"/>
              </a:lnSpc>
            </a:pPr>
            <a:r>
              <a:rPr sz="1800" dirty="0">
                <a:latin typeface="Courier New"/>
                <a:cs typeface="Courier New"/>
              </a:rPr>
              <a:t>HTTP/1.1</a:t>
            </a:r>
            <a:r>
              <a:rPr sz="1800" spc="-45" dirty="0">
                <a:latin typeface="Courier New"/>
                <a:cs typeface="Courier New"/>
              </a:rPr>
              <a:t> </a:t>
            </a:r>
            <a:r>
              <a:rPr sz="1800" dirty="0">
                <a:latin typeface="Courier New"/>
                <a:cs typeface="Courier New"/>
              </a:rPr>
              <a:t>201</a:t>
            </a:r>
            <a:r>
              <a:rPr sz="1800" spc="-40" dirty="0">
                <a:latin typeface="Courier New"/>
                <a:cs typeface="Courier New"/>
              </a:rPr>
              <a:t> </a:t>
            </a:r>
            <a:r>
              <a:rPr sz="1800" spc="-10" dirty="0">
                <a:latin typeface="Courier New"/>
                <a:cs typeface="Courier New"/>
              </a:rPr>
              <a:t>Created</a:t>
            </a:r>
            <a:endParaRPr sz="1800" dirty="0">
              <a:latin typeface="Courier New"/>
              <a:cs typeface="Courier New"/>
            </a:endParaRPr>
          </a:p>
          <a:p>
            <a:pPr marL="93345">
              <a:lnSpc>
                <a:spcPct val="100000"/>
              </a:lnSpc>
              <a:spcBef>
                <a:spcPts val="780"/>
              </a:spcBef>
            </a:pPr>
            <a:r>
              <a:rPr sz="1800" dirty="0">
                <a:latin typeface="Courier New"/>
                <a:cs typeface="Courier New"/>
              </a:rPr>
              <a:t>Location:</a:t>
            </a:r>
            <a:r>
              <a:rPr sz="1800" spc="-90" dirty="0">
                <a:latin typeface="Courier New"/>
                <a:cs typeface="Courier New"/>
              </a:rPr>
              <a:t> </a:t>
            </a:r>
            <a:r>
              <a:rPr sz="1800" spc="-10" dirty="0">
                <a:latin typeface="Courier New"/>
                <a:cs typeface="Courier New"/>
              </a:rPr>
              <a:t>/users/3</a:t>
            </a:r>
            <a:endParaRPr sz="1800" dirty="0">
              <a:latin typeface="Courier New"/>
              <a:cs typeface="Courier New"/>
            </a:endParaRPr>
          </a:p>
          <a:p>
            <a:pPr marL="93345">
              <a:lnSpc>
                <a:spcPct val="100000"/>
              </a:lnSpc>
              <a:spcBef>
                <a:spcPts val="800"/>
              </a:spcBef>
            </a:pPr>
            <a:r>
              <a:rPr sz="1800" spc="-10" dirty="0">
                <a:latin typeface="Courier New"/>
                <a:cs typeface="Courier New"/>
              </a:rPr>
              <a:t>Content-</a:t>
            </a:r>
            <a:r>
              <a:rPr sz="1800" dirty="0">
                <a:latin typeface="Courier New"/>
                <a:cs typeface="Courier New"/>
              </a:rPr>
              <a:t>Type:</a:t>
            </a:r>
            <a:r>
              <a:rPr sz="1800" spc="-40" dirty="0">
                <a:latin typeface="Courier New"/>
                <a:cs typeface="Courier New"/>
              </a:rPr>
              <a:t> </a:t>
            </a:r>
            <a:r>
              <a:rPr sz="1800" spc="-10" dirty="0">
                <a:latin typeface="Courier New"/>
                <a:cs typeface="Courier New"/>
              </a:rPr>
              <a:t>application/json</a:t>
            </a:r>
            <a:endParaRPr sz="1800" dirty="0">
              <a:latin typeface="Courier New"/>
              <a:cs typeface="Courier New"/>
            </a:endParaRPr>
          </a:p>
          <a:p>
            <a:pPr marL="93345">
              <a:lnSpc>
                <a:spcPct val="100000"/>
              </a:lnSpc>
              <a:spcBef>
                <a:spcPts val="780"/>
              </a:spcBef>
            </a:pPr>
            <a:r>
              <a:rPr sz="1800" spc="-10" dirty="0">
                <a:latin typeface="Courier New"/>
                <a:cs typeface="Courier New"/>
              </a:rPr>
              <a:t>Content-</a:t>
            </a:r>
            <a:r>
              <a:rPr sz="1800" dirty="0">
                <a:latin typeface="Courier New"/>
                <a:cs typeface="Courier New"/>
              </a:rPr>
              <a:t>Length:</a:t>
            </a:r>
            <a:r>
              <a:rPr sz="1800" spc="-65" dirty="0">
                <a:latin typeface="Courier New"/>
                <a:cs typeface="Courier New"/>
              </a:rPr>
              <a:t> </a:t>
            </a:r>
            <a:r>
              <a:rPr sz="1800" spc="-25" dirty="0">
                <a:latin typeface="Courier New"/>
                <a:cs typeface="Courier New"/>
              </a:rPr>
              <a:t>28</a:t>
            </a:r>
            <a:endParaRPr sz="1800" dirty="0">
              <a:latin typeface="Courier New"/>
              <a:cs typeface="Courier New"/>
            </a:endParaRPr>
          </a:p>
          <a:p>
            <a:pPr>
              <a:lnSpc>
                <a:spcPct val="100000"/>
              </a:lnSpc>
            </a:pPr>
            <a:endParaRPr sz="2000" dirty="0">
              <a:latin typeface="Courier New"/>
              <a:cs typeface="Courier New"/>
            </a:endParaRPr>
          </a:p>
          <a:p>
            <a:pPr marL="93345">
              <a:lnSpc>
                <a:spcPct val="100000"/>
              </a:lnSpc>
              <a:spcBef>
                <a:spcPts val="1460"/>
              </a:spcBef>
            </a:pPr>
            <a:r>
              <a:rPr sz="1800" dirty="0">
                <a:latin typeface="Courier New"/>
                <a:cs typeface="Courier New"/>
              </a:rPr>
              <a:t>{"id":</a:t>
            </a:r>
            <a:r>
              <a:rPr sz="1800" spc="-55" dirty="0">
                <a:latin typeface="Courier New"/>
                <a:cs typeface="Courier New"/>
              </a:rPr>
              <a:t> </a:t>
            </a:r>
            <a:r>
              <a:rPr sz="1800" dirty="0">
                <a:latin typeface="Courier New"/>
                <a:cs typeface="Courier New"/>
              </a:rPr>
              <a:t>3,</a:t>
            </a:r>
            <a:r>
              <a:rPr sz="1800" spc="-55" dirty="0">
                <a:latin typeface="Courier New"/>
                <a:cs typeface="Courier New"/>
              </a:rPr>
              <a:t> </a:t>
            </a:r>
            <a:r>
              <a:rPr sz="1800" dirty="0">
                <a:latin typeface="Courier New"/>
                <a:cs typeface="Courier New"/>
              </a:rPr>
              <a:t>"name":</a:t>
            </a:r>
            <a:r>
              <a:rPr sz="1800" spc="-55" dirty="0">
                <a:latin typeface="Courier New"/>
                <a:cs typeface="Courier New"/>
              </a:rPr>
              <a:t> </a:t>
            </a:r>
            <a:r>
              <a:rPr sz="1800" spc="-10" dirty="0">
                <a:latin typeface="Courier New"/>
                <a:cs typeface="Courier New"/>
              </a:rPr>
              <a:t>"Claire"}</a:t>
            </a:r>
            <a:endParaRPr sz="1800" dirty="0">
              <a:latin typeface="Courier New"/>
              <a:cs typeface="Courier New"/>
            </a:endParaRPr>
          </a:p>
        </p:txBody>
      </p:sp>
    </p:spTree>
    <p:extLst>
      <p:ext uri="{BB962C8B-B14F-4D97-AF65-F5344CB8AC3E}">
        <p14:creationId xmlns:p14="http://schemas.microsoft.com/office/powerpoint/2010/main" val="13971037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PUT method is used to update an entire resource</a:t>
            </a:r>
            <a:endParaRPr lang="en-US" sz="1600" dirty="0"/>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384718" y="934231"/>
            <a:ext cx="1969081" cy="2266170"/>
          </a:xfrm>
          <a:prstGeom prst="rect">
            <a:avLst/>
          </a:prstGeom>
        </p:spPr>
      </p:pic>
      <p:sp>
        <p:nvSpPr>
          <p:cNvPr id="18" name="object 16">
            <a:extLst>
              <a:ext uri="{FF2B5EF4-FFF2-40B4-BE49-F238E27FC236}">
                <a16:creationId xmlns:a16="http://schemas.microsoft.com/office/drawing/2014/main" id="{FF1D01D3-1C5C-6138-DC75-9C32DC44ABFF}"/>
              </a:ext>
            </a:extLst>
          </p:cNvPr>
          <p:cNvSpPr txBox="1"/>
          <p:nvPr/>
        </p:nvSpPr>
        <p:spPr>
          <a:xfrm>
            <a:off x="2718054" y="5223210"/>
            <a:ext cx="1823761" cy="858633"/>
          </a:xfrm>
          <a:prstGeom prst="rect">
            <a:avLst/>
          </a:prstGeom>
        </p:spPr>
        <p:txBody>
          <a:bodyPr vert="horz" wrap="square" lIns="0" tIns="20320" rIns="0" bIns="0" rtlCol="0">
            <a:spAutoFit/>
          </a:bodyPr>
          <a:lstStyle/>
          <a:p>
            <a:pPr marL="12065" marR="5080" algn="ctr">
              <a:lnSpc>
                <a:spcPct val="102800"/>
              </a:lnSpc>
              <a:spcBef>
                <a:spcPts val="160"/>
              </a:spcBef>
            </a:pPr>
            <a:r>
              <a:rPr sz="1800" spc="-10" dirty="0">
                <a:solidFill>
                  <a:srgbClr val="FFFFFF"/>
                </a:solidFill>
                <a:latin typeface="Courier New"/>
                <a:cs typeface="Courier New"/>
              </a:rPr>
              <a:t>application/xml </a:t>
            </a:r>
            <a:r>
              <a:rPr sz="1800" dirty="0">
                <a:solidFill>
                  <a:srgbClr val="FFFFFF"/>
                </a:solidFill>
                <a:latin typeface="Georgia"/>
                <a:cs typeface="Georgia"/>
              </a:rPr>
              <a:t>was popular</a:t>
            </a:r>
            <a:r>
              <a:rPr sz="1800" spc="-15" dirty="0">
                <a:solidFill>
                  <a:srgbClr val="FFFFFF"/>
                </a:solidFill>
                <a:latin typeface="Georgia"/>
                <a:cs typeface="Georgia"/>
              </a:rPr>
              <a:t> </a:t>
            </a:r>
            <a:r>
              <a:rPr sz="1800" spc="-10" dirty="0">
                <a:solidFill>
                  <a:srgbClr val="FFFFFF"/>
                </a:solidFill>
                <a:latin typeface="Georgia"/>
                <a:cs typeface="Georgia"/>
              </a:rPr>
              <a:t>before JSON.</a:t>
            </a:r>
            <a:endParaRPr sz="1800" dirty="0">
              <a:latin typeface="Georgia"/>
              <a:cs typeface="Georgia"/>
            </a:endParaRPr>
          </a:p>
        </p:txBody>
      </p:sp>
      <p:pic>
        <p:nvPicPr>
          <p:cNvPr id="27" name="object 4">
            <a:extLst>
              <a:ext uri="{FF2B5EF4-FFF2-40B4-BE49-F238E27FC236}">
                <a16:creationId xmlns:a16="http://schemas.microsoft.com/office/drawing/2014/main" id="{89415E2D-8474-A25E-2607-C24135DDCFA3}"/>
              </a:ext>
            </a:extLst>
          </p:cNvPr>
          <p:cNvPicPr/>
          <p:nvPr/>
        </p:nvPicPr>
        <p:blipFill>
          <a:blip r:embed="rId4" cstate="print"/>
          <a:stretch>
            <a:fillRect/>
          </a:stretch>
        </p:blipFill>
        <p:spPr>
          <a:xfrm>
            <a:off x="1089153" y="3061047"/>
            <a:ext cx="4661408" cy="3647948"/>
          </a:xfrm>
          <a:prstGeom prst="rect">
            <a:avLst/>
          </a:prstGeom>
        </p:spPr>
      </p:pic>
      <p:sp>
        <p:nvSpPr>
          <p:cNvPr id="28" name="object 5">
            <a:extLst>
              <a:ext uri="{FF2B5EF4-FFF2-40B4-BE49-F238E27FC236}">
                <a16:creationId xmlns:a16="http://schemas.microsoft.com/office/drawing/2014/main" id="{42D07B0B-CEB1-CE7F-F190-32D8FC48F7BD}"/>
              </a:ext>
            </a:extLst>
          </p:cNvPr>
          <p:cNvSpPr txBox="1"/>
          <p:nvPr/>
        </p:nvSpPr>
        <p:spPr>
          <a:xfrm>
            <a:off x="1233932" y="3205826"/>
            <a:ext cx="4376420" cy="3362960"/>
          </a:xfrm>
          <a:prstGeom prst="rect">
            <a:avLst/>
          </a:prstGeom>
          <a:solidFill>
            <a:srgbClr val="F1F1F1"/>
          </a:solidFill>
        </p:spPr>
        <p:txBody>
          <a:bodyPr vert="horz" wrap="square" lIns="0" tIns="0" rIns="0" bIns="0" rtlCol="0">
            <a:spAutoFit/>
          </a:bodyPr>
          <a:lstStyle/>
          <a:p>
            <a:pPr marL="90805">
              <a:lnSpc>
                <a:spcPts val="2155"/>
              </a:lnSpc>
            </a:pPr>
            <a:r>
              <a:rPr sz="1800" dirty="0">
                <a:latin typeface="Courier New"/>
                <a:cs typeface="Courier New"/>
              </a:rPr>
              <a:t>PUT</a:t>
            </a:r>
            <a:r>
              <a:rPr sz="1800" spc="-55" dirty="0">
                <a:latin typeface="Courier New"/>
                <a:cs typeface="Courier New"/>
              </a:rPr>
              <a:t> </a:t>
            </a:r>
            <a:r>
              <a:rPr sz="1800" dirty="0">
                <a:latin typeface="Courier New"/>
                <a:cs typeface="Courier New"/>
              </a:rPr>
              <a:t>/users/3</a:t>
            </a:r>
            <a:r>
              <a:rPr sz="1800" spc="-40" dirty="0">
                <a:latin typeface="Courier New"/>
                <a:cs typeface="Courier New"/>
              </a:rPr>
              <a:t> </a:t>
            </a:r>
            <a:r>
              <a:rPr sz="1800" spc="-10" dirty="0">
                <a:latin typeface="Courier New"/>
                <a:cs typeface="Courier New"/>
              </a:rPr>
              <a:t>HTTP/1.1</a:t>
            </a:r>
            <a:endParaRPr sz="1800" dirty="0">
              <a:latin typeface="Courier New"/>
              <a:cs typeface="Courier New"/>
            </a:endParaRPr>
          </a:p>
          <a:p>
            <a:pPr marL="90805">
              <a:lnSpc>
                <a:spcPct val="100000"/>
              </a:lnSpc>
              <a:spcBef>
                <a:spcPts val="780"/>
              </a:spcBef>
            </a:pPr>
            <a:r>
              <a:rPr sz="1800" dirty="0">
                <a:latin typeface="Courier New"/>
                <a:cs typeface="Courier New"/>
              </a:rPr>
              <a:t>Host:</a:t>
            </a:r>
            <a:r>
              <a:rPr sz="1800" spc="-40" dirty="0">
                <a:latin typeface="Courier New"/>
                <a:cs typeface="Courier New"/>
              </a:rPr>
              <a:t> </a:t>
            </a:r>
            <a:r>
              <a:rPr sz="1800" spc="-10" dirty="0">
                <a:latin typeface="Courier New"/>
                <a:cs typeface="Courier New"/>
              </a:rPr>
              <a:t>the-website.com</a:t>
            </a:r>
            <a:endParaRPr sz="1800" dirty="0">
              <a:latin typeface="Courier New"/>
              <a:cs typeface="Courier New"/>
            </a:endParaRPr>
          </a:p>
          <a:p>
            <a:pPr marL="90805" marR="314325">
              <a:lnSpc>
                <a:spcPct val="136100"/>
              </a:lnSpc>
              <a:spcBef>
                <a:spcPts val="20"/>
              </a:spcBef>
            </a:pPr>
            <a:r>
              <a:rPr sz="1800" spc="-10" dirty="0">
                <a:latin typeface="Courier New"/>
                <a:cs typeface="Courier New"/>
              </a:rPr>
              <a:t>Content-</a:t>
            </a:r>
            <a:r>
              <a:rPr sz="1800" dirty="0">
                <a:latin typeface="Courier New"/>
                <a:cs typeface="Courier New"/>
              </a:rPr>
              <a:t>Type:</a:t>
            </a:r>
            <a:r>
              <a:rPr sz="1800" spc="-30" dirty="0">
                <a:latin typeface="Courier New"/>
                <a:cs typeface="Courier New"/>
              </a:rPr>
              <a:t> </a:t>
            </a:r>
            <a:r>
              <a:rPr sz="1800" spc="-10" dirty="0">
                <a:latin typeface="Courier New"/>
                <a:cs typeface="Courier New"/>
              </a:rPr>
              <a:t>application/xml Content-</a:t>
            </a:r>
            <a:r>
              <a:rPr sz="1800" dirty="0">
                <a:latin typeface="Courier New"/>
                <a:cs typeface="Courier New"/>
              </a:rPr>
              <a:t>Length:</a:t>
            </a:r>
            <a:r>
              <a:rPr sz="1800" spc="-45" dirty="0">
                <a:latin typeface="Courier New"/>
                <a:cs typeface="Courier New"/>
              </a:rPr>
              <a:t> </a:t>
            </a:r>
            <a:r>
              <a:rPr sz="1800" spc="-25" dirty="0">
                <a:latin typeface="Courier New"/>
                <a:cs typeface="Courier New"/>
              </a:rPr>
              <a:t>52</a:t>
            </a:r>
            <a:endParaRPr sz="1800" dirty="0">
              <a:latin typeface="Courier New"/>
              <a:cs typeface="Courier New"/>
            </a:endParaRPr>
          </a:p>
          <a:p>
            <a:pPr>
              <a:lnSpc>
                <a:spcPct val="100000"/>
              </a:lnSpc>
            </a:pPr>
            <a:endParaRPr sz="2000" dirty="0">
              <a:latin typeface="Courier New"/>
              <a:cs typeface="Courier New"/>
            </a:endParaRPr>
          </a:p>
          <a:p>
            <a:pPr marL="90805">
              <a:lnSpc>
                <a:spcPct val="100000"/>
              </a:lnSpc>
              <a:spcBef>
                <a:spcPts val="1460"/>
              </a:spcBef>
            </a:pPr>
            <a:r>
              <a:rPr sz="1800" spc="-10" dirty="0">
                <a:latin typeface="Courier New"/>
                <a:cs typeface="Courier New"/>
              </a:rPr>
              <a:t>&lt;user&gt;</a:t>
            </a:r>
            <a:endParaRPr sz="1800" dirty="0">
              <a:latin typeface="Courier New"/>
              <a:cs typeface="Courier New"/>
            </a:endParaRPr>
          </a:p>
          <a:p>
            <a:pPr marL="365125">
              <a:lnSpc>
                <a:spcPct val="100000"/>
              </a:lnSpc>
              <a:spcBef>
                <a:spcPts val="780"/>
              </a:spcBef>
            </a:pPr>
            <a:r>
              <a:rPr sz="1800" spc="-10" dirty="0">
                <a:latin typeface="Courier New"/>
                <a:cs typeface="Courier New"/>
              </a:rPr>
              <a:t>&lt;id&gt;3&lt;/id&gt;</a:t>
            </a:r>
            <a:endParaRPr sz="1800" dirty="0">
              <a:latin typeface="Courier New"/>
              <a:cs typeface="Courier New"/>
            </a:endParaRPr>
          </a:p>
          <a:p>
            <a:pPr marL="365125">
              <a:lnSpc>
                <a:spcPct val="100000"/>
              </a:lnSpc>
              <a:spcBef>
                <a:spcPts val="800"/>
              </a:spcBef>
            </a:pPr>
            <a:r>
              <a:rPr sz="1800" spc="-10" dirty="0">
                <a:latin typeface="Courier New"/>
                <a:cs typeface="Courier New"/>
              </a:rPr>
              <a:t>&lt;name&gt;Cecilia&lt;/name&gt;</a:t>
            </a:r>
            <a:endParaRPr sz="1800" dirty="0">
              <a:latin typeface="Courier New"/>
              <a:cs typeface="Courier New"/>
            </a:endParaRPr>
          </a:p>
          <a:p>
            <a:pPr marL="90805">
              <a:lnSpc>
                <a:spcPct val="100000"/>
              </a:lnSpc>
              <a:spcBef>
                <a:spcPts val="780"/>
              </a:spcBef>
            </a:pPr>
            <a:r>
              <a:rPr sz="1800" spc="-10" dirty="0">
                <a:latin typeface="Courier New"/>
                <a:cs typeface="Courier New"/>
              </a:rPr>
              <a:t>&lt;/user&gt;</a:t>
            </a:r>
            <a:endParaRPr sz="1800" dirty="0">
              <a:latin typeface="Courier New"/>
              <a:cs typeface="Courier New"/>
            </a:endParaRPr>
          </a:p>
        </p:txBody>
      </p:sp>
      <p:pic>
        <p:nvPicPr>
          <p:cNvPr id="29" name="object 6">
            <a:extLst>
              <a:ext uri="{FF2B5EF4-FFF2-40B4-BE49-F238E27FC236}">
                <a16:creationId xmlns:a16="http://schemas.microsoft.com/office/drawing/2014/main" id="{0C55F4E5-0773-527D-B46E-00289B50A9F8}"/>
              </a:ext>
            </a:extLst>
          </p:cNvPr>
          <p:cNvPicPr/>
          <p:nvPr/>
        </p:nvPicPr>
        <p:blipFill>
          <a:blip r:embed="rId5" cstate="print"/>
          <a:stretch>
            <a:fillRect/>
          </a:stretch>
        </p:blipFill>
        <p:spPr>
          <a:xfrm>
            <a:off x="5864352" y="3358214"/>
            <a:ext cx="5489447" cy="632980"/>
          </a:xfrm>
          <a:prstGeom prst="rect">
            <a:avLst/>
          </a:prstGeom>
        </p:spPr>
      </p:pic>
      <p:sp>
        <p:nvSpPr>
          <p:cNvPr id="30" name="object 7">
            <a:extLst>
              <a:ext uri="{FF2B5EF4-FFF2-40B4-BE49-F238E27FC236}">
                <a16:creationId xmlns:a16="http://schemas.microsoft.com/office/drawing/2014/main" id="{1CAE6EBC-E6CD-066F-CAEF-C19D3E08C76D}"/>
              </a:ext>
            </a:extLst>
          </p:cNvPr>
          <p:cNvSpPr txBox="1"/>
          <p:nvPr/>
        </p:nvSpPr>
        <p:spPr>
          <a:xfrm>
            <a:off x="6009133" y="3503006"/>
            <a:ext cx="5204460" cy="347980"/>
          </a:xfrm>
          <a:prstGeom prst="rect">
            <a:avLst/>
          </a:prstGeom>
          <a:solidFill>
            <a:srgbClr val="F1F1F1"/>
          </a:solidFill>
        </p:spPr>
        <p:txBody>
          <a:bodyPr vert="horz" wrap="square" lIns="0" tIns="0" rIns="0" bIns="0" rtlCol="0">
            <a:spAutoFit/>
          </a:bodyPr>
          <a:lstStyle/>
          <a:p>
            <a:pPr marL="93345">
              <a:lnSpc>
                <a:spcPts val="2155"/>
              </a:lnSpc>
            </a:pPr>
            <a:r>
              <a:rPr sz="1800" dirty="0">
                <a:latin typeface="Courier New"/>
                <a:cs typeface="Courier New"/>
              </a:rPr>
              <a:t>HTTP/1.1</a:t>
            </a:r>
            <a:r>
              <a:rPr sz="1800" spc="-50" dirty="0">
                <a:latin typeface="Courier New"/>
                <a:cs typeface="Courier New"/>
              </a:rPr>
              <a:t> </a:t>
            </a:r>
            <a:r>
              <a:rPr sz="1800" dirty="0">
                <a:latin typeface="Courier New"/>
                <a:cs typeface="Courier New"/>
              </a:rPr>
              <a:t>204</a:t>
            </a:r>
            <a:r>
              <a:rPr sz="1800" spc="-35" dirty="0">
                <a:latin typeface="Courier New"/>
                <a:cs typeface="Courier New"/>
              </a:rPr>
              <a:t> </a:t>
            </a:r>
            <a:r>
              <a:rPr sz="1800" dirty="0">
                <a:latin typeface="Courier New"/>
                <a:cs typeface="Courier New"/>
              </a:rPr>
              <a:t>No</a:t>
            </a:r>
            <a:r>
              <a:rPr sz="1800" spc="-35" dirty="0">
                <a:latin typeface="Courier New"/>
                <a:cs typeface="Courier New"/>
              </a:rPr>
              <a:t> </a:t>
            </a:r>
            <a:r>
              <a:rPr sz="1800" spc="-10" dirty="0">
                <a:latin typeface="Courier New"/>
                <a:cs typeface="Courier New"/>
              </a:rPr>
              <a:t>Content</a:t>
            </a:r>
            <a:endParaRPr sz="1800">
              <a:latin typeface="Courier New"/>
              <a:cs typeface="Courier New"/>
            </a:endParaRPr>
          </a:p>
        </p:txBody>
      </p:sp>
      <p:grpSp>
        <p:nvGrpSpPr>
          <p:cNvPr id="31" name="object 8">
            <a:extLst>
              <a:ext uri="{FF2B5EF4-FFF2-40B4-BE49-F238E27FC236}">
                <a16:creationId xmlns:a16="http://schemas.microsoft.com/office/drawing/2014/main" id="{B9873F8B-5E4C-9A52-8078-6B1D19CEB611}"/>
              </a:ext>
            </a:extLst>
          </p:cNvPr>
          <p:cNvGrpSpPr/>
          <p:nvPr/>
        </p:nvGrpSpPr>
        <p:grpSpPr>
          <a:xfrm>
            <a:off x="6256804" y="4193213"/>
            <a:ext cx="4966970" cy="2112010"/>
            <a:chOff x="6397011" y="3451186"/>
            <a:chExt cx="4966970" cy="2112010"/>
          </a:xfrm>
        </p:grpSpPr>
        <p:sp>
          <p:nvSpPr>
            <p:cNvPr id="32" name="object 9">
              <a:extLst>
                <a:ext uri="{FF2B5EF4-FFF2-40B4-BE49-F238E27FC236}">
                  <a16:creationId xmlns:a16="http://schemas.microsoft.com/office/drawing/2014/main" id="{B3AFA13D-E11E-4751-FAA7-BA256D86C9D5}"/>
                </a:ext>
              </a:extLst>
            </p:cNvPr>
            <p:cNvSpPr/>
            <p:nvPr/>
          </p:nvSpPr>
          <p:spPr>
            <a:xfrm>
              <a:off x="6403361" y="3457536"/>
              <a:ext cx="4954270" cy="2099310"/>
            </a:xfrm>
            <a:custGeom>
              <a:avLst/>
              <a:gdLst/>
              <a:ahLst/>
              <a:cxnLst/>
              <a:rect l="l" t="t" r="r" b="b"/>
              <a:pathLst>
                <a:path w="4954270" h="2099310">
                  <a:moveTo>
                    <a:pt x="3041677" y="0"/>
                  </a:moveTo>
                  <a:lnTo>
                    <a:pt x="2990037" y="456"/>
                  </a:lnTo>
                  <a:lnTo>
                    <a:pt x="2939028" y="3964"/>
                  </a:lnTo>
                  <a:lnTo>
                    <a:pt x="2889057" y="10442"/>
                  </a:lnTo>
                  <a:lnTo>
                    <a:pt x="2840535" y="19811"/>
                  </a:lnTo>
                  <a:lnTo>
                    <a:pt x="2793870" y="31992"/>
                  </a:lnTo>
                  <a:lnTo>
                    <a:pt x="2749471" y="46906"/>
                  </a:lnTo>
                  <a:lnTo>
                    <a:pt x="2707748" y="64472"/>
                  </a:lnTo>
                  <a:lnTo>
                    <a:pt x="2669109" y="84612"/>
                  </a:lnTo>
                  <a:lnTo>
                    <a:pt x="2633964" y="107245"/>
                  </a:lnTo>
                  <a:lnTo>
                    <a:pt x="2602722" y="132294"/>
                  </a:lnTo>
                  <a:lnTo>
                    <a:pt x="2575792" y="159677"/>
                  </a:lnTo>
                  <a:lnTo>
                    <a:pt x="2543194" y="142468"/>
                  </a:lnTo>
                  <a:lnTo>
                    <a:pt x="2472046" y="112385"/>
                  </a:lnTo>
                  <a:lnTo>
                    <a:pt x="2433806" y="99606"/>
                  </a:lnTo>
                  <a:lnTo>
                    <a:pt x="2383533" y="85809"/>
                  </a:lnTo>
                  <a:lnTo>
                    <a:pt x="2332222" y="74866"/>
                  </a:lnTo>
                  <a:lnTo>
                    <a:pt x="2280166" y="66724"/>
                  </a:lnTo>
                  <a:lnTo>
                    <a:pt x="2227655" y="61332"/>
                  </a:lnTo>
                  <a:lnTo>
                    <a:pt x="2174981" y="58637"/>
                  </a:lnTo>
                  <a:lnTo>
                    <a:pt x="2122435" y="58590"/>
                  </a:lnTo>
                  <a:lnTo>
                    <a:pt x="2070308" y="61137"/>
                  </a:lnTo>
                  <a:lnTo>
                    <a:pt x="2018892" y="66227"/>
                  </a:lnTo>
                  <a:lnTo>
                    <a:pt x="1968478" y="73809"/>
                  </a:lnTo>
                  <a:lnTo>
                    <a:pt x="1919357" y="83831"/>
                  </a:lnTo>
                  <a:lnTo>
                    <a:pt x="1871822" y="96241"/>
                  </a:lnTo>
                  <a:lnTo>
                    <a:pt x="1826162" y="110989"/>
                  </a:lnTo>
                  <a:lnTo>
                    <a:pt x="1782671" y="128021"/>
                  </a:lnTo>
                  <a:lnTo>
                    <a:pt x="1741638" y="147287"/>
                  </a:lnTo>
                  <a:lnTo>
                    <a:pt x="1703356" y="168736"/>
                  </a:lnTo>
                  <a:lnTo>
                    <a:pt x="1668115" y="192314"/>
                  </a:lnTo>
                  <a:lnTo>
                    <a:pt x="1636208" y="217971"/>
                  </a:lnTo>
                  <a:lnTo>
                    <a:pt x="1607925" y="245656"/>
                  </a:lnTo>
                  <a:lnTo>
                    <a:pt x="1562393" y="231440"/>
                  </a:lnTo>
                  <a:lnTo>
                    <a:pt x="1515521" y="219059"/>
                  </a:lnTo>
                  <a:lnTo>
                    <a:pt x="1467480" y="208532"/>
                  </a:lnTo>
                  <a:lnTo>
                    <a:pt x="1418437" y="199881"/>
                  </a:lnTo>
                  <a:lnTo>
                    <a:pt x="1368561" y="193125"/>
                  </a:lnTo>
                  <a:lnTo>
                    <a:pt x="1318023" y="188286"/>
                  </a:lnTo>
                  <a:lnTo>
                    <a:pt x="1266991" y="185384"/>
                  </a:lnTo>
                  <a:lnTo>
                    <a:pt x="1215635" y="184440"/>
                  </a:lnTo>
                  <a:lnTo>
                    <a:pt x="1164123" y="185473"/>
                  </a:lnTo>
                  <a:lnTo>
                    <a:pt x="1112625" y="188506"/>
                  </a:lnTo>
                  <a:lnTo>
                    <a:pt x="1053042" y="194544"/>
                  </a:lnTo>
                  <a:lnTo>
                    <a:pt x="995333" y="203079"/>
                  </a:lnTo>
                  <a:lnTo>
                    <a:pt x="939644" y="213997"/>
                  </a:lnTo>
                  <a:lnTo>
                    <a:pt x="886123" y="227188"/>
                  </a:lnTo>
                  <a:lnTo>
                    <a:pt x="834916" y="242539"/>
                  </a:lnTo>
                  <a:lnTo>
                    <a:pt x="786171" y="259940"/>
                  </a:lnTo>
                  <a:lnTo>
                    <a:pt x="740035" y="279278"/>
                  </a:lnTo>
                  <a:lnTo>
                    <a:pt x="696655" y="300442"/>
                  </a:lnTo>
                  <a:lnTo>
                    <a:pt x="656178" y="323320"/>
                  </a:lnTo>
                  <a:lnTo>
                    <a:pt x="618751" y="347800"/>
                  </a:lnTo>
                  <a:lnTo>
                    <a:pt x="584521" y="373772"/>
                  </a:lnTo>
                  <a:lnTo>
                    <a:pt x="553636" y="401122"/>
                  </a:lnTo>
                  <a:lnTo>
                    <a:pt x="526243" y="429740"/>
                  </a:lnTo>
                  <a:lnTo>
                    <a:pt x="482519" y="490333"/>
                  </a:lnTo>
                  <a:lnTo>
                    <a:pt x="454528" y="554655"/>
                  </a:lnTo>
                  <a:lnTo>
                    <a:pt x="443444" y="621815"/>
                  </a:lnTo>
                  <a:lnTo>
                    <a:pt x="444611" y="656179"/>
                  </a:lnTo>
                  <a:lnTo>
                    <a:pt x="450447" y="690918"/>
                  </a:lnTo>
                  <a:lnTo>
                    <a:pt x="446256" y="697522"/>
                  </a:lnTo>
                  <a:lnTo>
                    <a:pt x="387999" y="703033"/>
                  </a:lnTo>
                  <a:lnTo>
                    <a:pt x="331866" y="712391"/>
                  </a:lnTo>
                  <a:lnTo>
                    <a:pt x="278362" y="725407"/>
                  </a:lnTo>
                  <a:lnTo>
                    <a:pt x="227990" y="741892"/>
                  </a:lnTo>
                  <a:lnTo>
                    <a:pt x="181256" y="761658"/>
                  </a:lnTo>
                  <a:lnTo>
                    <a:pt x="138664" y="784515"/>
                  </a:lnTo>
                  <a:lnTo>
                    <a:pt x="100718" y="810274"/>
                  </a:lnTo>
                  <a:lnTo>
                    <a:pt x="67923" y="838746"/>
                  </a:lnTo>
                  <a:lnTo>
                    <a:pt x="39714" y="871148"/>
                  </a:lnTo>
                  <a:lnTo>
                    <a:pt x="19103" y="904570"/>
                  </a:lnTo>
                  <a:lnTo>
                    <a:pt x="0" y="972994"/>
                  </a:lnTo>
                  <a:lnTo>
                    <a:pt x="1173" y="1007257"/>
                  </a:lnTo>
                  <a:lnTo>
                    <a:pt x="24133" y="1074040"/>
                  </a:lnTo>
                  <a:lnTo>
                    <a:pt x="45584" y="1105821"/>
                  </a:lnTo>
                  <a:lnTo>
                    <a:pt x="73459" y="1136036"/>
                  </a:lnTo>
                  <a:lnTo>
                    <a:pt x="107590" y="1164314"/>
                  </a:lnTo>
                  <a:lnTo>
                    <a:pt x="147811" y="1190288"/>
                  </a:lnTo>
                  <a:lnTo>
                    <a:pt x="193953" y="1213587"/>
                  </a:lnTo>
                  <a:lnTo>
                    <a:pt x="245850" y="1233843"/>
                  </a:lnTo>
                  <a:lnTo>
                    <a:pt x="200051" y="1266463"/>
                  </a:lnTo>
                  <a:lnTo>
                    <a:pt x="163347" y="1302188"/>
                  </a:lnTo>
                  <a:lnTo>
                    <a:pt x="136090" y="1340396"/>
                  </a:lnTo>
                  <a:lnTo>
                    <a:pt x="118633" y="1380467"/>
                  </a:lnTo>
                  <a:lnTo>
                    <a:pt x="111330" y="1421779"/>
                  </a:lnTo>
                  <a:lnTo>
                    <a:pt x="114532" y="1463713"/>
                  </a:lnTo>
                  <a:lnTo>
                    <a:pt x="140966" y="1528269"/>
                  </a:lnTo>
                  <a:lnTo>
                    <a:pt x="190515" y="1585833"/>
                  </a:lnTo>
                  <a:lnTo>
                    <a:pt x="222918" y="1611520"/>
                  </a:lnTo>
                  <a:lnTo>
                    <a:pt x="259853" y="1634890"/>
                  </a:lnTo>
                  <a:lnTo>
                    <a:pt x="300904" y="1655753"/>
                  </a:lnTo>
                  <a:lnTo>
                    <a:pt x="345657" y="1673920"/>
                  </a:lnTo>
                  <a:lnTo>
                    <a:pt x="393695" y="1689201"/>
                  </a:lnTo>
                  <a:lnTo>
                    <a:pt x="444604" y="1701406"/>
                  </a:lnTo>
                  <a:lnTo>
                    <a:pt x="497967" y="1710347"/>
                  </a:lnTo>
                  <a:lnTo>
                    <a:pt x="553370" y="1715833"/>
                  </a:lnTo>
                  <a:lnTo>
                    <a:pt x="610397" y="1717674"/>
                  </a:lnTo>
                  <a:lnTo>
                    <a:pt x="668633" y="1715681"/>
                  </a:lnTo>
                  <a:lnTo>
                    <a:pt x="678031" y="1724952"/>
                  </a:lnTo>
                  <a:lnTo>
                    <a:pt x="708330" y="1752180"/>
                  </a:lnTo>
                  <a:lnTo>
                    <a:pt x="741076" y="1777933"/>
                  </a:lnTo>
                  <a:lnTo>
                    <a:pt x="776125" y="1802190"/>
                  </a:lnTo>
                  <a:lnTo>
                    <a:pt x="813337" y="1824929"/>
                  </a:lnTo>
                  <a:lnTo>
                    <a:pt x="852568" y="1846132"/>
                  </a:lnTo>
                  <a:lnTo>
                    <a:pt x="893677" y="1865776"/>
                  </a:lnTo>
                  <a:lnTo>
                    <a:pt x="936522" y="1883843"/>
                  </a:lnTo>
                  <a:lnTo>
                    <a:pt x="980960" y="1900311"/>
                  </a:lnTo>
                  <a:lnTo>
                    <a:pt x="1026850" y="1915159"/>
                  </a:lnTo>
                  <a:lnTo>
                    <a:pt x="1074049" y="1928367"/>
                  </a:lnTo>
                  <a:lnTo>
                    <a:pt x="1122416" y="1939916"/>
                  </a:lnTo>
                  <a:lnTo>
                    <a:pt x="1171808" y="1949783"/>
                  </a:lnTo>
                  <a:lnTo>
                    <a:pt x="1222083" y="1957949"/>
                  </a:lnTo>
                  <a:lnTo>
                    <a:pt x="1273099" y="1964393"/>
                  </a:lnTo>
                  <a:lnTo>
                    <a:pt x="1324714" y="1969095"/>
                  </a:lnTo>
                  <a:lnTo>
                    <a:pt x="1376787" y="1972034"/>
                  </a:lnTo>
                  <a:lnTo>
                    <a:pt x="1429174" y="1973190"/>
                  </a:lnTo>
                  <a:lnTo>
                    <a:pt x="1481734" y="1972542"/>
                  </a:lnTo>
                  <a:lnTo>
                    <a:pt x="1534325" y="1970070"/>
                  </a:lnTo>
                  <a:lnTo>
                    <a:pt x="1586804" y="1965752"/>
                  </a:lnTo>
                  <a:lnTo>
                    <a:pt x="1639031" y="1959570"/>
                  </a:lnTo>
                  <a:lnTo>
                    <a:pt x="1690861" y="1951501"/>
                  </a:lnTo>
                  <a:lnTo>
                    <a:pt x="1742155" y="1941526"/>
                  </a:lnTo>
                  <a:lnTo>
                    <a:pt x="1792768" y="1929624"/>
                  </a:lnTo>
                  <a:lnTo>
                    <a:pt x="1842560" y="1915775"/>
                  </a:lnTo>
                  <a:lnTo>
                    <a:pt x="1891389" y="1899958"/>
                  </a:lnTo>
                  <a:lnTo>
                    <a:pt x="1926302" y="1927808"/>
                  </a:lnTo>
                  <a:lnTo>
                    <a:pt x="1964610" y="1953893"/>
                  </a:lnTo>
                  <a:lnTo>
                    <a:pt x="2006103" y="1978124"/>
                  </a:lnTo>
                  <a:lnTo>
                    <a:pt x="2050571" y="2000411"/>
                  </a:lnTo>
                  <a:lnTo>
                    <a:pt x="2097806" y="2020664"/>
                  </a:lnTo>
                  <a:lnTo>
                    <a:pt x="2147599" y="2038792"/>
                  </a:lnTo>
                  <a:lnTo>
                    <a:pt x="2199741" y="2054707"/>
                  </a:lnTo>
                  <a:lnTo>
                    <a:pt x="2254023" y="2068318"/>
                  </a:lnTo>
                  <a:lnTo>
                    <a:pt x="2310235" y="2079536"/>
                  </a:lnTo>
                  <a:lnTo>
                    <a:pt x="2366077" y="2088043"/>
                  </a:lnTo>
                  <a:lnTo>
                    <a:pt x="2422019" y="2094062"/>
                  </a:lnTo>
                  <a:lnTo>
                    <a:pt x="2477874" y="2097650"/>
                  </a:lnTo>
                  <a:lnTo>
                    <a:pt x="2533456" y="2098865"/>
                  </a:lnTo>
                  <a:lnTo>
                    <a:pt x="2588578" y="2097766"/>
                  </a:lnTo>
                  <a:lnTo>
                    <a:pt x="2643053" y="2094409"/>
                  </a:lnTo>
                  <a:lnTo>
                    <a:pt x="2696695" y="2088853"/>
                  </a:lnTo>
                  <a:lnTo>
                    <a:pt x="2749317" y="2081156"/>
                  </a:lnTo>
                  <a:lnTo>
                    <a:pt x="2800732" y="2071375"/>
                  </a:lnTo>
                  <a:lnTo>
                    <a:pt x="2850755" y="2059569"/>
                  </a:lnTo>
                  <a:lnTo>
                    <a:pt x="2899197" y="2045795"/>
                  </a:lnTo>
                  <a:lnTo>
                    <a:pt x="2945873" y="2030111"/>
                  </a:lnTo>
                  <a:lnTo>
                    <a:pt x="2990596" y="2012575"/>
                  </a:lnTo>
                  <a:lnTo>
                    <a:pt x="3033179" y="1993245"/>
                  </a:lnTo>
                  <a:lnTo>
                    <a:pt x="3073436" y="1972179"/>
                  </a:lnTo>
                  <a:lnTo>
                    <a:pt x="3111180" y="1949434"/>
                  </a:lnTo>
                  <a:lnTo>
                    <a:pt x="3146224" y="1925069"/>
                  </a:lnTo>
                  <a:lnTo>
                    <a:pt x="3178382" y="1899141"/>
                  </a:lnTo>
                  <a:lnTo>
                    <a:pt x="3207467" y="1871708"/>
                  </a:lnTo>
                  <a:lnTo>
                    <a:pt x="3233293" y="1842828"/>
                  </a:lnTo>
                  <a:lnTo>
                    <a:pt x="3274419" y="1780959"/>
                  </a:lnTo>
                  <a:lnTo>
                    <a:pt x="3319820" y="1795897"/>
                  </a:lnTo>
                  <a:lnTo>
                    <a:pt x="3366932" y="1808680"/>
                  </a:lnTo>
                  <a:lnTo>
                    <a:pt x="3415521" y="1819268"/>
                  </a:lnTo>
                  <a:lnTo>
                    <a:pt x="3465354" y="1827621"/>
                  </a:lnTo>
                  <a:lnTo>
                    <a:pt x="3516198" y="1833699"/>
                  </a:lnTo>
                  <a:lnTo>
                    <a:pt x="3567820" y="1837462"/>
                  </a:lnTo>
                  <a:lnTo>
                    <a:pt x="3619986" y="1838871"/>
                  </a:lnTo>
                  <a:lnTo>
                    <a:pt x="3680328" y="1837582"/>
                  </a:lnTo>
                  <a:lnTo>
                    <a:pt x="3739193" y="1833254"/>
                  </a:lnTo>
                  <a:lnTo>
                    <a:pt x="3796344" y="1826021"/>
                  </a:lnTo>
                  <a:lnTo>
                    <a:pt x="3851548" y="1816017"/>
                  </a:lnTo>
                  <a:lnTo>
                    <a:pt x="3904567" y="1803376"/>
                  </a:lnTo>
                  <a:lnTo>
                    <a:pt x="3955167" y="1788231"/>
                  </a:lnTo>
                  <a:lnTo>
                    <a:pt x="4003111" y="1770716"/>
                  </a:lnTo>
                  <a:lnTo>
                    <a:pt x="4048165" y="1750965"/>
                  </a:lnTo>
                  <a:lnTo>
                    <a:pt x="4090092" y="1729111"/>
                  </a:lnTo>
                  <a:lnTo>
                    <a:pt x="4128657" y="1705289"/>
                  </a:lnTo>
                  <a:lnTo>
                    <a:pt x="4163625" y="1679632"/>
                  </a:lnTo>
                  <a:lnTo>
                    <a:pt x="4194759" y="1652275"/>
                  </a:lnTo>
                  <a:lnTo>
                    <a:pt x="4221825" y="1623350"/>
                  </a:lnTo>
                  <a:lnTo>
                    <a:pt x="4262808" y="1561335"/>
                  </a:lnTo>
                  <a:lnTo>
                    <a:pt x="4284690" y="1494656"/>
                  </a:lnTo>
                  <a:lnTo>
                    <a:pt x="4287879" y="1459903"/>
                  </a:lnTo>
                  <a:lnTo>
                    <a:pt x="4344014" y="1454041"/>
                  </a:lnTo>
                  <a:lnTo>
                    <a:pt x="4399067" y="1445851"/>
                  </a:lnTo>
                  <a:lnTo>
                    <a:pt x="4452827" y="1435383"/>
                  </a:lnTo>
                  <a:lnTo>
                    <a:pt x="4505083" y="1422690"/>
                  </a:lnTo>
                  <a:lnTo>
                    <a:pt x="4555625" y="1407822"/>
                  </a:lnTo>
                  <a:lnTo>
                    <a:pt x="4604240" y="1390830"/>
                  </a:lnTo>
                  <a:lnTo>
                    <a:pt x="4650718" y="1371765"/>
                  </a:lnTo>
                  <a:lnTo>
                    <a:pt x="4702078" y="1346929"/>
                  </a:lnTo>
                  <a:lnTo>
                    <a:pt x="4748809" y="1320112"/>
                  </a:lnTo>
                  <a:lnTo>
                    <a:pt x="4790867" y="1291502"/>
                  </a:lnTo>
                  <a:lnTo>
                    <a:pt x="4828211" y="1261288"/>
                  </a:lnTo>
                  <a:lnTo>
                    <a:pt x="4860796" y="1229659"/>
                  </a:lnTo>
                  <a:lnTo>
                    <a:pt x="4888581" y="1196803"/>
                  </a:lnTo>
                  <a:lnTo>
                    <a:pt x="4911522" y="1162909"/>
                  </a:lnTo>
                  <a:lnTo>
                    <a:pt x="4929578" y="1128166"/>
                  </a:lnTo>
                  <a:lnTo>
                    <a:pt x="4950859" y="1056885"/>
                  </a:lnTo>
                  <a:lnTo>
                    <a:pt x="4953999" y="1020725"/>
                  </a:lnTo>
                  <a:lnTo>
                    <a:pt x="4952082" y="984471"/>
                  </a:lnTo>
                  <a:lnTo>
                    <a:pt x="4932905" y="912431"/>
                  </a:lnTo>
                  <a:lnTo>
                    <a:pt x="4915559" y="877024"/>
                  </a:lnTo>
                  <a:lnTo>
                    <a:pt x="4892985" y="842276"/>
                  </a:lnTo>
                  <a:lnTo>
                    <a:pt x="4865140" y="808376"/>
                  </a:lnTo>
                  <a:lnTo>
                    <a:pt x="4831981" y="775514"/>
                  </a:lnTo>
                  <a:lnTo>
                    <a:pt x="4793466" y="743877"/>
                  </a:lnTo>
                  <a:lnTo>
                    <a:pt x="4801510" y="732473"/>
                  </a:lnTo>
                  <a:lnTo>
                    <a:pt x="4821406" y="697522"/>
                  </a:lnTo>
                  <a:lnTo>
                    <a:pt x="4841779" y="626916"/>
                  </a:lnTo>
                  <a:lnTo>
                    <a:pt x="4842637" y="591956"/>
                  </a:lnTo>
                  <a:lnTo>
                    <a:pt x="4837564" y="557514"/>
                  </a:lnTo>
                  <a:lnTo>
                    <a:pt x="4810487" y="491056"/>
                  </a:lnTo>
                  <a:lnTo>
                    <a:pt x="4788913" y="459475"/>
                  </a:lnTo>
                  <a:lnTo>
                    <a:pt x="4762271" y="429282"/>
                  </a:lnTo>
                  <a:lnTo>
                    <a:pt x="4730776" y="400695"/>
                  </a:lnTo>
                  <a:lnTo>
                    <a:pt x="4694642" y="373931"/>
                  </a:lnTo>
                  <a:lnTo>
                    <a:pt x="4654087" y="349208"/>
                  </a:lnTo>
                  <a:lnTo>
                    <a:pt x="4609326" y="326743"/>
                  </a:lnTo>
                  <a:lnTo>
                    <a:pt x="4560573" y="306754"/>
                  </a:lnTo>
                  <a:lnTo>
                    <a:pt x="4508045" y="289459"/>
                  </a:lnTo>
                  <a:lnTo>
                    <a:pt x="4451958" y="275074"/>
                  </a:lnTo>
                  <a:lnTo>
                    <a:pt x="4392527" y="263817"/>
                  </a:lnTo>
                  <a:lnTo>
                    <a:pt x="4377520" y="227865"/>
                  </a:lnTo>
                  <a:lnTo>
                    <a:pt x="4355574" y="193374"/>
                  </a:lnTo>
                  <a:lnTo>
                    <a:pt x="4327010" y="160661"/>
                  </a:lnTo>
                  <a:lnTo>
                    <a:pt x="4292150" y="130043"/>
                  </a:lnTo>
                  <a:lnTo>
                    <a:pt x="4251313" y="101839"/>
                  </a:lnTo>
                  <a:lnTo>
                    <a:pt x="4204821" y="76365"/>
                  </a:lnTo>
                  <a:lnTo>
                    <a:pt x="4162293" y="57530"/>
                  </a:lnTo>
                  <a:lnTo>
                    <a:pt x="4117673" y="41400"/>
                  </a:lnTo>
                  <a:lnTo>
                    <a:pt x="4071290" y="27961"/>
                  </a:lnTo>
                  <a:lnTo>
                    <a:pt x="4023472" y="17196"/>
                  </a:lnTo>
                  <a:lnTo>
                    <a:pt x="3974548" y="9090"/>
                  </a:lnTo>
                  <a:lnTo>
                    <a:pt x="3924845" y="3627"/>
                  </a:lnTo>
                  <a:lnTo>
                    <a:pt x="3874693" y="793"/>
                  </a:lnTo>
                  <a:lnTo>
                    <a:pt x="3824421" y="571"/>
                  </a:lnTo>
                  <a:lnTo>
                    <a:pt x="3774355" y="2946"/>
                  </a:lnTo>
                  <a:lnTo>
                    <a:pt x="3724826" y="7902"/>
                  </a:lnTo>
                  <a:lnTo>
                    <a:pt x="3676161" y="15425"/>
                  </a:lnTo>
                  <a:lnTo>
                    <a:pt x="3628689" y="25498"/>
                  </a:lnTo>
                  <a:lnTo>
                    <a:pt x="3582739" y="38105"/>
                  </a:lnTo>
                  <a:lnTo>
                    <a:pt x="3538638" y="53233"/>
                  </a:lnTo>
                  <a:lnTo>
                    <a:pt x="3496717" y="70864"/>
                  </a:lnTo>
                  <a:lnTo>
                    <a:pt x="3457302" y="90983"/>
                  </a:lnTo>
                  <a:lnTo>
                    <a:pt x="3420723" y="113576"/>
                  </a:lnTo>
                  <a:lnTo>
                    <a:pt x="3383529" y="88485"/>
                  </a:lnTo>
                  <a:lnTo>
                    <a:pt x="3341776" y="66110"/>
                  </a:lnTo>
                  <a:lnTo>
                    <a:pt x="3295903" y="46639"/>
                  </a:lnTo>
                  <a:lnTo>
                    <a:pt x="3246352" y="30264"/>
                  </a:lnTo>
                  <a:lnTo>
                    <a:pt x="3196284" y="17725"/>
                  </a:lnTo>
                  <a:lnTo>
                    <a:pt x="3145209" y="8554"/>
                  </a:lnTo>
                  <a:lnTo>
                    <a:pt x="3093537" y="2672"/>
                  </a:lnTo>
                  <a:lnTo>
                    <a:pt x="3041677" y="0"/>
                  </a:lnTo>
                  <a:close/>
                </a:path>
              </a:pathLst>
            </a:custGeom>
            <a:solidFill>
              <a:srgbClr val="009CDE"/>
            </a:solidFill>
          </p:spPr>
          <p:txBody>
            <a:bodyPr wrap="square" lIns="0" tIns="0" rIns="0" bIns="0" rtlCol="0"/>
            <a:lstStyle/>
            <a:p>
              <a:endParaRPr/>
            </a:p>
          </p:txBody>
        </p:sp>
        <p:sp>
          <p:nvSpPr>
            <p:cNvPr id="33" name="object 10">
              <a:extLst>
                <a:ext uri="{FF2B5EF4-FFF2-40B4-BE49-F238E27FC236}">
                  <a16:creationId xmlns:a16="http://schemas.microsoft.com/office/drawing/2014/main" id="{6FC9CBC2-11F7-0E8A-DFEC-723DB152E99E}"/>
                </a:ext>
              </a:extLst>
            </p:cNvPr>
            <p:cNvSpPr/>
            <p:nvPr/>
          </p:nvSpPr>
          <p:spPr>
            <a:xfrm>
              <a:off x="6403361" y="3457536"/>
              <a:ext cx="4954270" cy="2099310"/>
            </a:xfrm>
            <a:custGeom>
              <a:avLst/>
              <a:gdLst/>
              <a:ahLst/>
              <a:cxnLst/>
              <a:rect l="l" t="t" r="r" b="b"/>
              <a:pathLst>
                <a:path w="4954270" h="2099310">
                  <a:moveTo>
                    <a:pt x="450447" y="690918"/>
                  </a:moveTo>
                  <a:lnTo>
                    <a:pt x="444611" y="656179"/>
                  </a:lnTo>
                  <a:lnTo>
                    <a:pt x="443444" y="621815"/>
                  </a:lnTo>
                  <a:lnTo>
                    <a:pt x="446799" y="587936"/>
                  </a:lnTo>
                  <a:lnTo>
                    <a:pt x="466483" y="522083"/>
                  </a:lnTo>
                  <a:lnTo>
                    <a:pt x="502488" y="459514"/>
                  </a:lnTo>
                  <a:lnTo>
                    <a:pt x="553636" y="401122"/>
                  </a:lnTo>
                  <a:lnTo>
                    <a:pt x="584521" y="373772"/>
                  </a:lnTo>
                  <a:lnTo>
                    <a:pt x="618751" y="347800"/>
                  </a:lnTo>
                  <a:lnTo>
                    <a:pt x="656178" y="323320"/>
                  </a:lnTo>
                  <a:lnTo>
                    <a:pt x="696655" y="300442"/>
                  </a:lnTo>
                  <a:lnTo>
                    <a:pt x="740035" y="279278"/>
                  </a:lnTo>
                  <a:lnTo>
                    <a:pt x="786171" y="259940"/>
                  </a:lnTo>
                  <a:lnTo>
                    <a:pt x="834916" y="242539"/>
                  </a:lnTo>
                  <a:lnTo>
                    <a:pt x="886123" y="227188"/>
                  </a:lnTo>
                  <a:lnTo>
                    <a:pt x="939644" y="213997"/>
                  </a:lnTo>
                  <a:lnTo>
                    <a:pt x="995333" y="203079"/>
                  </a:lnTo>
                  <a:lnTo>
                    <a:pt x="1053042" y="194544"/>
                  </a:lnTo>
                  <a:lnTo>
                    <a:pt x="1112625" y="188506"/>
                  </a:lnTo>
                  <a:lnTo>
                    <a:pt x="1164123" y="185473"/>
                  </a:lnTo>
                  <a:lnTo>
                    <a:pt x="1215635" y="184440"/>
                  </a:lnTo>
                  <a:lnTo>
                    <a:pt x="1266991" y="185384"/>
                  </a:lnTo>
                  <a:lnTo>
                    <a:pt x="1318023" y="188286"/>
                  </a:lnTo>
                  <a:lnTo>
                    <a:pt x="1368561" y="193125"/>
                  </a:lnTo>
                  <a:lnTo>
                    <a:pt x="1418437" y="199881"/>
                  </a:lnTo>
                  <a:lnTo>
                    <a:pt x="1467480" y="208532"/>
                  </a:lnTo>
                  <a:lnTo>
                    <a:pt x="1515521" y="219059"/>
                  </a:lnTo>
                  <a:lnTo>
                    <a:pt x="1562393" y="231440"/>
                  </a:lnTo>
                  <a:lnTo>
                    <a:pt x="1607925" y="245656"/>
                  </a:lnTo>
                  <a:lnTo>
                    <a:pt x="1636208" y="217971"/>
                  </a:lnTo>
                  <a:lnTo>
                    <a:pt x="1668115" y="192314"/>
                  </a:lnTo>
                  <a:lnTo>
                    <a:pt x="1703356" y="168736"/>
                  </a:lnTo>
                  <a:lnTo>
                    <a:pt x="1741638" y="147287"/>
                  </a:lnTo>
                  <a:lnTo>
                    <a:pt x="1782671" y="128021"/>
                  </a:lnTo>
                  <a:lnTo>
                    <a:pt x="1826162" y="110989"/>
                  </a:lnTo>
                  <a:lnTo>
                    <a:pt x="1871822" y="96241"/>
                  </a:lnTo>
                  <a:lnTo>
                    <a:pt x="1919357" y="83831"/>
                  </a:lnTo>
                  <a:lnTo>
                    <a:pt x="1968478" y="73809"/>
                  </a:lnTo>
                  <a:lnTo>
                    <a:pt x="2018892" y="66227"/>
                  </a:lnTo>
                  <a:lnTo>
                    <a:pt x="2070308" y="61137"/>
                  </a:lnTo>
                  <a:lnTo>
                    <a:pt x="2122435" y="58590"/>
                  </a:lnTo>
                  <a:lnTo>
                    <a:pt x="2174981" y="58637"/>
                  </a:lnTo>
                  <a:lnTo>
                    <a:pt x="2227655" y="61332"/>
                  </a:lnTo>
                  <a:lnTo>
                    <a:pt x="2280166" y="66724"/>
                  </a:lnTo>
                  <a:lnTo>
                    <a:pt x="2332222" y="74866"/>
                  </a:lnTo>
                  <a:lnTo>
                    <a:pt x="2383533" y="85809"/>
                  </a:lnTo>
                  <a:lnTo>
                    <a:pt x="2433806" y="99606"/>
                  </a:lnTo>
                  <a:lnTo>
                    <a:pt x="2472046" y="112385"/>
                  </a:lnTo>
                  <a:lnTo>
                    <a:pt x="2508561" y="126689"/>
                  </a:lnTo>
                  <a:lnTo>
                    <a:pt x="2575792" y="159677"/>
                  </a:lnTo>
                  <a:lnTo>
                    <a:pt x="2602722" y="132294"/>
                  </a:lnTo>
                  <a:lnTo>
                    <a:pt x="2633964" y="107245"/>
                  </a:lnTo>
                  <a:lnTo>
                    <a:pt x="2669109" y="84612"/>
                  </a:lnTo>
                  <a:lnTo>
                    <a:pt x="2707748" y="64472"/>
                  </a:lnTo>
                  <a:lnTo>
                    <a:pt x="2749471" y="46906"/>
                  </a:lnTo>
                  <a:lnTo>
                    <a:pt x="2793870" y="31992"/>
                  </a:lnTo>
                  <a:lnTo>
                    <a:pt x="2840535" y="19811"/>
                  </a:lnTo>
                  <a:lnTo>
                    <a:pt x="2889057" y="10442"/>
                  </a:lnTo>
                  <a:lnTo>
                    <a:pt x="2939028" y="3964"/>
                  </a:lnTo>
                  <a:lnTo>
                    <a:pt x="2990037" y="456"/>
                  </a:lnTo>
                  <a:lnTo>
                    <a:pt x="3041677" y="0"/>
                  </a:lnTo>
                  <a:lnTo>
                    <a:pt x="3093537" y="2672"/>
                  </a:lnTo>
                  <a:lnTo>
                    <a:pt x="3145209" y="8554"/>
                  </a:lnTo>
                  <a:lnTo>
                    <a:pt x="3196284" y="17725"/>
                  </a:lnTo>
                  <a:lnTo>
                    <a:pt x="3246352" y="30264"/>
                  </a:lnTo>
                  <a:lnTo>
                    <a:pt x="3295903" y="46639"/>
                  </a:lnTo>
                  <a:lnTo>
                    <a:pt x="3341776" y="66110"/>
                  </a:lnTo>
                  <a:lnTo>
                    <a:pt x="3383529" y="88485"/>
                  </a:lnTo>
                  <a:lnTo>
                    <a:pt x="3420723" y="113576"/>
                  </a:lnTo>
                  <a:lnTo>
                    <a:pt x="3457302" y="90983"/>
                  </a:lnTo>
                  <a:lnTo>
                    <a:pt x="3496717" y="70864"/>
                  </a:lnTo>
                  <a:lnTo>
                    <a:pt x="3538638" y="53233"/>
                  </a:lnTo>
                  <a:lnTo>
                    <a:pt x="3582739" y="38105"/>
                  </a:lnTo>
                  <a:lnTo>
                    <a:pt x="3628689" y="25498"/>
                  </a:lnTo>
                  <a:lnTo>
                    <a:pt x="3676161" y="15425"/>
                  </a:lnTo>
                  <a:lnTo>
                    <a:pt x="3724826" y="7902"/>
                  </a:lnTo>
                  <a:lnTo>
                    <a:pt x="3774355" y="2946"/>
                  </a:lnTo>
                  <a:lnTo>
                    <a:pt x="3824421" y="571"/>
                  </a:lnTo>
                  <a:lnTo>
                    <a:pt x="3874693" y="793"/>
                  </a:lnTo>
                  <a:lnTo>
                    <a:pt x="3924845" y="3627"/>
                  </a:lnTo>
                  <a:lnTo>
                    <a:pt x="3974548" y="9090"/>
                  </a:lnTo>
                  <a:lnTo>
                    <a:pt x="4023472" y="17196"/>
                  </a:lnTo>
                  <a:lnTo>
                    <a:pt x="4071290" y="27961"/>
                  </a:lnTo>
                  <a:lnTo>
                    <a:pt x="4117673" y="41400"/>
                  </a:lnTo>
                  <a:lnTo>
                    <a:pt x="4162293" y="57530"/>
                  </a:lnTo>
                  <a:lnTo>
                    <a:pt x="4204821" y="76365"/>
                  </a:lnTo>
                  <a:lnTo>
                    <a:pt x="4251313" y="101839"/>
                  </a:lnTo>
                  <a:lnTo>
                    <a:pt x="4292150" y="130043"/>
                  </a:lnTo>
                  <a:lnTo>
                    <a:pt x="4327010" y="160661"/>
                  </a:lnTo>
                  <a:lnTo>
                    <a:pt x="4355574" y="193374"/>
                  </a:lnTo>
                  <a:lnTo>
                    <a:pt x="4377520" y="227865"/>
                  </a:lnTo>
                  <a:lnTo>
                    <a:pt x="4392527" y="263817"/>
                  </a:lnTo>
                  <a:lnTo>
                    <a:pt x="4451958" y="275074"/>
                  </a:lnTo>
                  <a:lnTo>
                    <a:pt x="4508045" y="289459"/>
                  </a:lnTo>
                  <a:lnTo>
                    <a:pt x="4560573" y="306754"/>
                  </a:lnTo>
                  <a:lnTo>
                    <a:pt x="4609326" y="326743"/>
                  </a:lnTo>
                  <a:lnTo>
                    <a:pt x="4654087" y="349208"/>
                  </a:lnTo>
                  <a:lnTo>
                    <a:pt x="4694642" y="373931"/>
                  </a:lnTo>
                  <a:lnTo>
                    <a:pt x="4730776" y="400695"/>
                  </a:lnTo>
                  <a:lnTo>
                    <a:pt x="4762271" y="429282"/>
                  </a:lnTo>
                  <a:lnTo>
                    <a:pt x="4788913" y="459475"/>
                  </a:lnTo>
                  <a:lnTo>
                    <a:pt x="4810487" y="491056"/>
                  </a:lnTo>
                  <a:lnTo>
                    <a:pt x="4837564" y="557514"/>
                  </a:lnTo>
                  <a:lnTo>
                    <a:pt x="4842637" y="591956"/>
                  </a:lnTo>
                  <a:lnTo>
                    <a:pt x="4841779" y="626916"/>
                  </a:lnTo>
                  <a:lnTo>
                    <a:pt x="4821406" y="697522"/>
                  </a:lnTo>
                  <a:lnTo>
                    <a:pt x="4801510" y="732473"/>
                  </a:lnTo>
                  <a:lnTo>
                    <a:pt x="4793466" y="743877"/>
                  </a:lnTo>
                  <a:lnTo>
                    <a:pt x="4831981" y="775514"/>
                  </a:lnTo>
                  <a:lnTo>
                    <a:pt x="4865140" y="808376"/>
                  </a:lnTo>
                  <a:lnTo>
                    <a:pt x="4892985" y="842276"/>
                  </a:lnTo>
                  <a:lnTo>
                    <a:pt x="4915559" y="877024"/>
                  </a:lnTo>
                  <a:lnTo>
                    <a:pt x="4932905" y="912431"/>
                  </a:lnTo>
                  <a:lnTo>
                    <a:pt x="4952082" y="984471"/>
                  </a:lnTo>
                  <a:lnTo>
                    <a:pt x="4953999" y="1020725"/>
                  </a:lnTo>
                  <a:lnTo>
                    <a:pt x="4950859" y="1056885"/>
                  </a:lnTo>
                  <a:lnTo>
                    <a:pt x="4929578" y="1128166"/>
                  </a:lnTo>
                  <a:lnTo>
                    <a:pt x="4911522" y="1162909"/>
                  </a:lnTo>
                  <a:lnTo>
                    <a:pt x="4888581" y="1196803"/>
                  </a:lnTo>
                  <a:lnTo>
                    <a:pt x="4860796" y="1229659"/>
                  </a:lnTo>
                  <a:lnTo>
                    <a:pt x="4828211" y="1261288"/>
                  </a:lnTo>
                  <a:lnTo>
                    <a:pt x="4790867" y="1291502"/>
                  </a:lnTo>
                  <a:lnTo>
                    <a:pt x="4748809" y="1320112"/>
                  </a:lnTo>
                  <a:lnTo>
                    <a:pt x="4702078" y="1346929"/>
                  </a:lnTo>
                  <a:lnTo>
                    <a:pt x="4650718" y="1371765"/>
                  </a:lnTo>
                  <a:lnTo>
                    <a:pt x="4604240" y="1390830"/>
                  </a:lnTo>
                  <a:lnTo>
                    <a:pt x="4555625" y="1407822"/>
                  </a:lnTo>
                  <a:lnTo>
                    <a:pt x="4505083" y="1422690"/>
                  </a:lnTo>
                  <a:lnTo>
                    <a:pt x="4452827" y="1435383"/>
                  </a:lnTo>
                  <a:lnTo>
                    <a:pt x="4399067" y="1445851"/>
                  </a:lnTo>
                  <a:lnTo>
                    <a:pt x="4344014" y="1454041"/>
                  </a:lnTo>
                  <a:lnTo>
                    <a:pt x="4287879" y="1459903"/>
                  </a:lnTo>
                  <a:lnTo>
                    <a:pt x="4284690" y="1494656"/>
                  </a:lnTo>
                  <a:lnTo>
                    <a:pt x="4262808" y="1561335"/>
                  </a:lnTo>
                  <a:lnTo>
                    <a:pt x="4221825" y="1623350"/>
                  </a:lnTo>
                  <a:lnTo>
                    <a:pt x="4194759" y="1652275"/>
                  </a:lnTo>
                  <a:lnTo>
                    <a:pt x="4163625" y="1679632"/>
                  </a:lnTo>
                  <a:lnTo>
                    <a:pt x="4128657" y="1705289"/>
                  </a:lnTo>
                  <a:lnTo>
                    <a:pt x="4090092" y="1729111"/>
                  </a:lnTo>
                  <a:lnTo>
                    <a:pt x="4048165" y="1750965"/>
                  </a:lnTo>
                  <a:lnTo>
                    <a:pt x="4003111" y="1770716"/>
                  </a:lnTo>
                  <a:lnTo>
                    <a:pt x="3955167" y="1788231"/>
                  </a:lnTo>
                  <a:lnTo>
                    <a:pt x="3904567" y="1803376"/>
                  </a:lnTo>
                  <a:lnTo>
                    <a:pt x="3851548" y="1816017"/>
                  </a:lnTo>
                  <a:lnTo>
                    <a:pt x="3796344" y="1826021"/>
                  </a:lnTo>
                  <a:lnTo>
                    <a:pt x="3739193" y="1833254"/>
                  </a:lnTo>
                  <a:lnTo>
                    <a:pt x="3680328" y="1837582"/>
                  </a:lnTo>
                  <a:lnTo>
                    <a:pt x="3619986" y="1838871"/>
                  </a:lnTo>
                  <a:lnTo>
                    <a:pt x="3567820" y="1837462"/>
                  </a:lnTo>
                  <a:lnTo>
                    <a:pt x="3516198" y="1833699"/>
                  </a:lnTo>
                  <a:lnTo>
                    <a:pt x="3465354" y="1827621"/>
                  </a:lnTo>
                  <a:lnTo>
                    <a:pt x="3415521" y="1819268"/>
                  </a:lnTo>
                  <a:lnTo>
                    <a:pt x="3366932" y="1808680"/>
                  </a:lnTo>
                  <a:lnTo>
                    <a:pt x="3319820" y="1795897"/>
                  </a:lnTo>
                  <a:lnTo>
                    <a:pt x="3274419" y="1780959"/>
                  </a:lnTo>
                  <a:lnTo>
                    <a:pt x="3255672" y="1812559"/>
                  </a:lnTo>
                  <a:lnTo>
                    <a:pt x="3207467" y="1871708"/>
                  </a:lnTo>
                  <a:lnTo>
                    <a:pt x="3178382" y="1899141"/>
                  </a:lnTo>
                  <a:lnTo>
                    <a:pt x="3146224" y="1925069"/>
                  </a:lnTo>
                  <a:lnTo>
                    <a:pt x="3111180" y="1949434"/>
                  </a:lnTo>
                  <a:lnTo>
                    <a:pt x="3073436" y="1972179"/>
                  </a:lnTo>
                  <a:lnTo>
                    <a:pt x="3033179" y="1993245"/>
                  </a:lnTo>
                  <a:lnTo>
                    <a:pt x="2990596" y="2012575"/>
                  </a:lnTo>
                  <a:lnTo>
                    <a:pt x="2945873" y="2030111"/>
                  </a:lnTo>
                  <a:lnTo>
                    <a:pt x="2899197" y="2045795"/>
                  </a:lnTo>
                  <a:lnTo>
                    <a:pt x="2850755" y="2059569"/>
                  </a:lnTo>
                  <a:lnTo>
                    <a:pt x="2800732" y="2071375"/>
                  </a:lnTo>
                  <a:lnTo>
                    <a:pt x="2749317" y="2081156"/>
                  </a:lnTo>
                  <a:lnTo>
                    <a:pt x="2696695" y="2088853"/>
                  </a:lnTo>
                  <a:lnTo>
                    <a:pt x="2643053" y="2094409"/>
                  </a:lnTo>
                  <a:lnTo>
                    <a:pt x="2588578" y="2097766"/>
                  </a:lnTo>
                  <a:lnTo>
                    <a:pt x="2533456" y="2098865"/>
                  </a:lnTo>
                  <a:lnTo>
                    <a:pt x="2477874" y="2097650"/>
                  </a:lnTo>
                  <a:lnTo>
                    <a:pt x="2422019" y="2094062"/>
                  </a:lnTo>
                  <a:lnTo>
                    <a:pt x="2366077" y="2088043"/>
                  </a:lnTo>
                  <a:lnTo>
                    <a:pt x="2310235" y="2079536"/>
                  </a:lnTo>
                  <a:lnTo>
                    <a:pt x="2254023" y="2068318"/>
                  </a:lnTo>
                  <a:lnTo>
                    <a:pt x="2199741" y="2054707"/>
                  </a:lnTo>
                  <a:lnTo>
                    <a:pt x="2147599" y="2038792"/>
                  </a:lnTo>
                  <a:lnTo>
                    <a:pt x="2097806" y="2020664"/>
                  </a:lnTo>
                  <a:lnTo>
                    <a:pt x="2050571" y="2000411"/>
                  </a:lnTo>
                  <a:lnTo>
                    <a:pt x="2006103" y="1978124"/>
                  </a:lnTo>
                  <a:lnTo>
                    <a:pt x="1964610" y="1953893"/>
                  </a:lnTo>
                  <a:lnTo>
                    <a:pt x="1926302" y="1927808"/>
                  </a:lnTo>
                  <a:lnTo>
                    <a:pt x="1891389" y="1899958"/>
                  </a:lnTo>
                  <a:lnTo>
                    <a:pt x="1842560" y="1915775"/>
                  </a:lnTo>
                  <a:lnTo>
                    <a:pt x="1792768" y="1929624"/>
                  </a:lnTo>
                  <a:lnTo>
                    <a:pt x="1742155" y="1941526"/>
                  </a:lnTo>
                  <a:lnTo>
                    <a:pt x="1690861" y="1951501"/>
                  </a:lnTo>
                  <a:lnTo>
                    <a:pt x="1639031" y="1959570"/>
                  </a:lnTo>
                  <a:lnTo>
                    <a:pt x="1586804" y="1965752"/>
                  </a:lnTo>
                  <a:lnTo>
                    <a:pt x="1534325" y="1970070"/>
                  </a:lnTo>
                  <a:lnTo>
                    <a:pt x="1481734" y="1972542"/>
                  </a:lnTo>
                  <a:lnTo>
                    <a:pt x="1429174" y="1973190"/>
                  </a:lnTo>
                  <a:lnTo>
                    <a:pt x="1376787" y="1972034"/>
                  </a:lnTo>
                  <a:lnTo>
                    <a:pt x="1324714" y="1969095"/>
                  </a:lnTo>
                  <a:lnTo>
                    <a:pt x="1273099" y="1964393"/>
                  </a:lnTo>
                  <a:lnTo>
                    <a:pt x="1222083" y="1957949"/>
                  </a:lnTo>
                  <a:lnTo>
                    <a:pt x="1171808" y="1949783"/>
                  </a:lnTo>
                  <a:lnTo>
                    <a:pt x="1122416" y="1939916"/>
                  </a:lnTo>
                  <a:lnTo>
                    <a:pt x="1074049" y="1928367"/>
                  </a:lnTo>
                  <a:lnTo>
                    <a:pt x="1026850" y="1915159"/>
                  </a:lnTo>
                  <a:lnTo>
                    <a:pt x="980960" y="1900311"/>
                  </a:lnTo>
                  <a:lnTo>
                    <a:pt x="936522" y="1883843"/>
                  </a:lnTo>
                  <a:lnTo>
                    <a:pt x="893677" y="1865776"/>
                  </a:lnTo>
                  <a:lnTo>
                    <a:pt x="852568" y="1846132"/>
                  </a:lnTo>
                  <a:lnTo>
                    <a:pt x="813337" y="1824929"/>
                  </a:lnTo>
                  <a:lnTo>
                    <a:pt x="776125" y="1802190"/>
                  </a:lnTo>
                  <a:lnTo>
                    <a:pt x="741076" y="1777933"/>
                  </a:lnTo>
                  <a:lnTo>
                    <a:pt x="708330" y="1752180"/>
                  </a:lnTo>
                  <a:lnTo>
                    <a:pt x="678031" y="1724952"/>
                  </a:lnTo>
                  <a:lnTo>
                    <a:pt x="671681" y="1718729"/>
                  </a:lnTo>
                  <a:lnTo>
                    <a:pt x="668633" y="1715681"/>
                  </a:lnTo>
                  <a:lnTo>
                    <a:pt x="610397" y="1717674"/>
                  </a:lnTo>
                  <a:lnTo>
                    <a:pt x="553370" y="1715833"/>
                  </a:lnTo>
                  <a:lnTo>
                    <a:pt x="497967" y="1710347"/>
                  </a:lnTo>
                  <a:lnTo>
                    <a:pt x="444604" y="1701406"/>
                  </a:lnTo>
                  <a:lnTo>
                    <a:pt x="393695" y="1689201"/>
                  </a:lnTo>
                  <a:lnTo>
                    <a:pt x="345657" y="1673920"/>
                  </a:lnTo>
                  <a:lnTo>
                    <a:pt x="300904" y="1655753"/>
                  </a:lnTo>
                  <a:lnTo>
                    <a:pt x="259853" y="1634890"/>
                  </a:lnTo>
                  <a:lnTo>
                    <a:pt x="222918" y="1611520"/>
                  </a:lnTo>
                  <a:lnTo>
                    <a:pt x="190515" y="1585833"/>
                  </a:lnTo>
                  <a:lnTo>
                    <a:pt x="163059" y="1558020"/>
                  </a:lnTo>
                  <a:lnTo>
                    <a:pt x="124652" y="1496770"/>
                  </a:lnTo>
                  <a:lnTo>
                    <a:pt x="111330" y="1421779"/>
                  </a:lnTo>
                  <a:lnTo>
                    <a:pt x="118633" y="1380467"/>
                  </a:lnTo>
                  <a:lnTo>
                    <a:pt x="136090" y="1340396"/>
                  </a:lnTo>
                  <a:lnTo>
                    <a:pt x="163347" y="1302188"/>
                  </a:lnTo>
                  <a:lnTo>
                    <a:pt x="200051" y="1266463"/>
                  </a:lnTo>
                  <a:lnTo>
                    <a:pt x="245850" y="1233843"/>
                  </a:lnTo>
                  <a:lnTo>
                    <a:pt x="193953" y="1213587"/>
                  </a:lnTo>
                  <a:lnTo>
                    <a:pt x="147811" y="1190288"/>
                  </a:lnTo>
                  <a:lnTo>
                    <a:pt x="107590" y="1164314"/>
                  </a:lnTo>
                  <a:lnTo>
                    <a:pt x="73459" y="1136036"/>
                  </a:lnTo>
                  <a:lnTo>
                    <a:pt x="45584" y="1105821"/>
                  </a:lnTo>
                  <a:lnTo>
                    <a:pt x="24133" y="1074040"/>
                  </a:lnTo>
                  <a:lnTo>
                    <a:pt x="1173" y="1007257"/>
                  </a:lnTo>
                  <a:lnTo>
                    <a:pt x="0" y="972994"/>
                  </a:lnTo>
                  <a:lnTo>
                    <a:pt x="5920" y="938642"/>
                  </a:lnTo>
                  <a:lnTo>
                    <a:pt x="39714" y="871148"/>
                  </a:lnTo>
                  <a:lnTo>
                    <a:pt x="67923" y="838746"/>
                  </a:lnTo>
                  <a:lnTo>
                    <a:pt x="100718" y="810274"/>
                  </a:lnTo>
                  <a:lnTo>
                    <a:pt x="138664" y="784515"/>
                  </a:lnTo>
                  <a:lnTo>
                    <a:pt x="181256" y="761658"/>
                  </a:lnTo>
                  <a:lnTo>
                    <a:pt x="227990" y="741892"/>
                  </a:lnTo>
                  <a:lnTo>
                    <a:pt x="278362" y="725407"/>
                  </a:lnTo>
                  <a:lnTo>
                    <a:pt x="331866" y="712391"/>
                  </a:lnTo>
                  <a:lnTo>
                    <a:pt x="387999" y="703033"/>
                  </a:lnTo>
                  <a:lnTo>
                    <a:pt x="446256" y="697522"/>
                  </a:lnTo>
                  <a:lnTo>
                    <a:pt x="450447" y="690918"/>
                  </a:lnTo>
                  <a:close/>
                </a:path>
                <a:path w="4954270" h="2099310">
                  <a:moveTo>
                    <a:pt x="541252" y="1264323"/>
                  </a:moveTo>
                  <a:lnTo>
                    <a:pt x="490705" y="1265114"/>
                  </a:lnTo>
                  <a:lnTo>
                    <a:pt x="440536" y="1262945"/>
                  </a:lnTo>
                  <a:lnTo>
                    <a:pt x="391122" y="1257862"/>
                  </a:lnTo>
                  <a:lnTo>
                    <a:pt x="342840" y="1249911"/>
                  </a:lnTo>
                  <a:lnTo>
                    <a:pt x="296068" y="1239137"/>
                  </a:lnTo>
                  <a:lnTo>
                    <a:pt x="251184" y="1225588"/>
                  </a:lnTo>
                </a:path>
                <a:path w="4954270" h="2099310">
                  <a:moveTo>
                    <a:pt x="797284" y="1687995"/>
                  </a:moveTo>
                  <a:lnTo>
                    <a:pt x="766369" y="1694375"/>
                  </a:lnTo>
                  <a:lnTo>
                    <a:pt x="734847" y="1699599"/>
                  </a:lnTo>
                  <a:lnTo>
                    <a:pt x="702825" y="1703657"/>
                  </a:lnTo>
                  <a:lnTo>
                    <a:pt x="670411" y="1706537"/>
                  </a:lnTo>
                </a:path>
                <a:path w="4954270" h="2099310">
                  <a:moveTo>
                    <a:pt x="1891135" y="1891449"/>
                  </a:moveTo>
                  <a:lnTo>
                    <a:pt x="1869114" y="1871270"/>
                  </a:lnTo>
                  <a:lnTo>
                    <a:pt x="1848986" y="1850412"/>
                  </a:lnTo>
                  <a:lnTo>
                    <a:pt x="1830788" y="1828959"/>
                  </a:lnTo>
                  <a:lnTo>
                    <a:pt x="1814554" y="1806994"/>
                  </a:lnTo>
                </a:path>
                <a:path w="4954270" h="2099310">
                  <a:moveTo>
                    <a:pt x="3305534" y="1680756"/>
                  </a:moveTo>
                  <a:lnTo>
                    <a:pt x="3301055" y="1704279"/>
                  </a:lnTo>
                  <a:lnTo>
                    <a:pt x="3294469" y="1727587"/>
                  </a:lnTo>
                  <a:lnTo>
                    <a:pt x="3285763" y="1750657"/>
                  </a:lnTo>
                  <a:lnTo>
                    <a:pt x="3274927" y="1773466"/>
                  </a:lnTo>
                </a:path>
                <a:path w="4954270" h="2099310">
                  <a:moveTo>
                    <a:pt x="3912721" y="1107859"/>
                  </a:moveTo>
                  <a:lnTo>
                    <a:pt x="3973196" y="1127152"/>
                  </a:lnTo>
                  <a:lnTo>
                    <a:pt x="4029191" y="1149667"/>
                  </a:lnTo>
                  <a:lnTo>
                    <a:pt x="4080424" y="1175144"/>
                  </a:lnTo>
                  <a:lnTo>
                    <a:pt x="4126615" y="1203322"/>
                  </a:lnTo>
                  <a:lnTo>
                    <a:pt x="4167483" y="1233940"/>
                  </a:lnTo>
                  <a:lnTo>
                    <a:pt x="4202749" y="1266738"/>
                  </a:lnTo>
                  <a:lnTo>
                    <a:pt x="4232131" y="1301456"/>
                  </a:lnTo>
                  <a:lnTo>
                    <a:pt x="4255348" y="1337834"/>
                  </a:lnTo>
                  <a:lnTo>
                    <a:pt x="4272122" y="1375609"/>
                  </a:lnTo>
                  <a:lnTo>
                    <a:pt x="4282169" y="1414523"/>
                  </a:lnTo>
                  <a:lnTo>
                    <a:pt x="4285212" y="1454315"/>
                  </a:lnTo>
                </a:path>
                <a:path w="4954270" h="2099310">
                  <a:moveTo>
                    <a:pt x="4791180" y="738670"/>
                  </a:moveTo>
                  <a:lnTo>
                    <a:pt x="4759674" y="775188"/>
                  </a:lnTo>
                  <a:lnTo>
                    <a:pt x="4721250" y="809266"/>
                  </a:lnTo>
                  <a:lnTo>
                    <a:pt x="4676326" y="840558"/>
                  </a:lnTo>
                  <a:lnTo>
                    <a:pt x="4625318" y="868718"/>
                  </a:lnTo>
                </a:path>
                <a:path w="4954270" h="2099310">
                  <a:moveTo>
                    <a:pt x="4393289" y="256578"/>
                  </a:moveTo>
                  <a:lnTo>
                    <a:pt x="4397355" y="271788"/>
                  </a:lnTo>
                  <a:lnTo>
                    <a:pt x="4400194" y="287105"/>
                  </a:lnTo>
                  <a:lnTo>
                    <a:pt x="4401772" y="302494"/>
                  </a:lnTo>
                  <a:lnTo>
                    <a:pt x="4402052" y="317919"/>
                  </a:lnTo>
                </a:path>
                <a:path w="4954270" h="2099310">
                  <a:moveTo>
                    <a:pt x="3334236" y="184950"/>
                  </a:moveTo>
                  <a:lnTo>
                    <a:pt x="3351726" y="164100"/>
                  </a:lnTo>
                  <a:lnTo>
                    <a:pt x="3371764" y="144072"/>
                  </a:lnTo>
                  <a:lnTo>
                    <a:pt x="3394279" y="124924"/>
                  </a:lnTo>
                  <a:lnTo>
                    <a:pt x="3419199" y="106718"/>
                  </a:lnTo>
                </a:path>
                <a:path w="4954270" h="2099310">
                  <a:moveTo>
                    <a:pt x="2539724" y="222288"/>
                  </a:moveTo>
                  <a:lnTo>
                    <a:pt x="2547242" y="204891"/>
                  </a:lnTo>
                  <a:lnTo>
                    <a:pt x="2556630" y="187791"/>
                  </a:lnTo>
                  <a:lnTo>
                    <a:pt x="2567852" y="171049"/>
                  </a:lnTo>
                  <a:lnTo>
                    <a:pt x="2580872" y="154724"/>
                  </a:lnTo>
                </a:path>
                <a:path w="4954270" h="2099310">
                  <a:moveTo>
                    <a:pt x="1607290" y="245148"/>
                  </a:moveTo>
                  <a:lnTo>
                    <a:pt x="1647013" y="259548"/>
                  </a:lnTo>
                  <a:lnTo>
                    <a:pt x="1685141" y="275294"/>
                  </a:lnTo>
                  <a:lnTo>
                    <a:pt x="1721554" y="292350"/>
                  </a:lnTo>
                  <a:lnTo>
                    <a:pt x="1756134" y="310680"/>
                  </a:lnTo>
                </a:path>
                <a:path w="4954270" h="2099310">
                  <a:moveTo>
                    <a:pt x="476482" y="759879"/>
                  </a:moveTo>
                  <a:lnTo>
                    <a:pt x="468217" y="742853"/>
                  </a:lnTo>
                  <a:lnTo>
                    <a:pt x="461130" y="725684"/>
                  </a:lnTo>
                  <a:lnTo>
                    <a:pt x="455211" y="708372"/>
                  </a:lnTo>
                  <a:lnTo>
                    <a:pt x="450447" y="690918"/>
                  </a:lnTo>
                </a:path>
              </a:pathLst>
            </a:custGeom>
            <a:ln w="12700">
              <a:solidFill>
                <a:srgbClr val="0070A2"/>
              </a:solidFill>
            </a:ln>
          </p:spPr>
          <p:txBody>
            <a:bodyPr wrap="square" lIns="0" tIns="0" rIns="0" bIns="0" rtlCol="0"/>
            <a:lstStyle/>
            <a:p>
              <a:endParaRPr/>
            </a:p>
          </p:txBody>
        </p:sp>
      </p:grpSp>
      <p:sp>
        <p:nvSpPr>
          <p:cNvPr id="34" name="object 11">
            <a:extLst>
              <a:ext uri="{FF2B5EF4-FFF2-40B4-BE49-F238E27FC236}">
                <a16:creationId xmlns:a16="http://schemas.microsoft.com/office/drawing/2014/main" id="{931AABBC-8026-D292-E803-261E0A825CCA}"/>
              </a:ext>
            </a:extLst>
          </p:cNvPr>
          <p:cNvSpPr txBox="1"/>
          <p:nvPr/>
        </p:nvSpPr>
        <p:spPr>
          <a:xfrm>
            <a:off x="7092824" y="4564092"/>
            <a:ext cx="2945765" cy="1245235"/>
          </a:xfrm>
          <a:prstGeom prst="rect">
            <a:avLst/>
          </a:prstGeom>
        </p:spPr>
        <p:txBody>
          <a:bodyPr vert="horz" wrap="square" lIns="0" tIns="12700" rIns="0" bIns="0" rtlCol="0">
            <a:spAutoFit/>
          </a:bodyPr>
          <a:lstStyle/>
          <a:p>
            <a:pPr marL="12700" marR="5080" indent="-1905" algn="ctr">
              <a:lnSpc>
                <a:spcPct val="100000"/>
              </a:lnSpc>
              <a:spcBef>
                <a:spcPts val="100"/>
              </a:spcBef>
            </a:pPr>
            <a:r>
              <a:rPr sz="2000" dirty="0">
                <a:solidFill>
                  <a:srgbClr val="FFFFFF"/>
                </a:solidFill>
                <a:latin typeface="Georgia"/>
                <a:cs typeface="Georgia"/>
              </a:rPr>
              <a:t>PUT</a:t>
            </a:r>
            <a:r>
              <a:rPr sz="2000" spc="-10" dirty="0">
                <a:solidFill>
                  <a:srgbClr val="FFFFFF"/>
                </a:solidFill>
                <a:latin typeface="Georgia"/>
                <a:cs typeface="Georgia"/>
              </a:rPr>
              <a:t> </a:t>
            </a:r>
            <a:r>
              <a:rPr sz="2000" dirty="0">
                <a:solidFill>
                  <a:srgbClr val="FFFFFF"/>
                </a:solidFill>
                <a:latin typeface="Georgia"/>
                <a:cs typeface="Georgia"/>
              </a:rPr>
              <a:t>can</a:t>
            </a:r>
            <a:r>
              <a:rPr sz="2000" spc="15" dirty="0">
                <a:solidFill>
                  <a:srgbClr val="FFFFFF"/>
                </a:solidFill>
                <a:latin typeface="Georgia"/>
                <a:cs typeface="Georgia"/>
              </a:rPr>
              <a:t> </a:t>
            </a:r>
            <a:r>
              <a:rPr sz="2000" dirty="0">
                <a:solidFill>
                  <a:srgbClr val="FFFFFF"/>
                </a:solidFill>
                <a:latin typeface="Georgia"/>
                <a:cs typeface="Georgia"/>
              </a:rPr>
              <a:t>also be</a:t>
            </a:r>
            <a:r>
              <a:rPr sz="2000" spc="-5" dirty="0">
                <a:solidFill>
                  <a:srgbClr val="FFFFFF"/>
                </a:solidFill>
                <a:latin typeface="Georgia"/>
                <a:cs typeface="Georgia"/>
              </a:rPr>
              <a:t> </a:t>
            </a:r>
            <a:r>
              <a:rPr sz="2000" dirty="0">
                <a:solidFill>
                  <a:srgbClr val="FFFFFF"/>
                </a:solidFill>
                <a:latin typeface="Georgia"/>
                <a:cs typeface="Georgia"/>
              </a:rPr>
              <a:t>used</a:t>
            </a:r>
            <a:r>
              <a:rPr sz="2000" spc="-15" dirty="0">
                <a:solidFill>
                  <a:srgbClr val="FFFFFF"/>
                </a:solidFill>
                <a:latin typeface="Georgia"/>
                <a:cs typeface="Georgia"/>
              </a:rPr>
              <a:t> </a:t>
            </a:r>
            <a:r>
              <a:rPr sz="2000" spc="-25" dirty="0">
                <a:solidFill>
                  <a:srgbClr val="FFFFFF"/>
                </a:solidFill>
                <a:latin typeface="Georgia"/>
                <a:cs typeface="Georgia"/>
              </a:rPr>
              <a:t>to </a:t>
            </a:r>
            <a:r>
              <a:rPr sz="2000" dirty="0">
                <a:solidFill>
                  <a:srgbClr val="FFFFFF"/>
                </a:solidFill>
                <a:latin typeface="Georgia"/>
                <a:cs typeface="Georgia"/>
              </a:rPr>
              <a:t>create a</a:t>
            </a:r>
            <a:r>
              <a:rPr sz="2000" spc="-20" dirty="0">
                <a:solidFill>
                  <a:srgbClr val="FFFFFF"/>
                </a:solidFill>
                <a:latin typeface="Georgia"/>
                <a:cs typeface="Georgia"/>
              </a:rPr>
              <a:t> </a:t>
            </a:r>
            <a:r>
              <a:rPr sz="2000" dirty="0">
                <a:solidFill>
                  <a:srgbClr val="FFFFFF"/>
                </a:solidFill>
                <a:latin typeface="Georgia"/>
                <a:cs typeface="Georgia"/>
              </a:rPr>
              <a:t>resource</a:t>
            </a:r>
            <a:r>
              <a:rPr sz="2000" spc="-15" dirty="0">
                <a:solidFill>
                  <a:srgbClr val="FFFFFF"/>
                </a:solidFill>
                <a:latin typeface="Georgia"/>
                <a:cs typeface="Georgia"/>
              </a:rPr>
              <a:t> </a:t>
            </a:r>
            <a:r>
              <a:rPr sz="2000" dirty="0">
                <a:solidFill>
                  <a:srgbClr val="FFFFFF"/>
                </a:solidFill>
                <a:latin typeface="Georgia"/>
                <a:cs typeface="Georgia"/>
              </a:rPr>
              <a:t>if</a:t>
            </a:r>
            <a:r>
              <a:rPr sz="2000" spc="-15" dirty="0">
                <a:solidFill>
                  <a:srgbClr val="FFFFFF"/>
                </a:solidFill>
                <a:latin typeface="Georgia"/>
                <a:cs typeface="Georgia"/>
              </a:rPr>
              <a:t> </a:t>
            </a:r>
            <a:r>
              <a:rPr sz="2000" spc="-25" dirty="0">
                <a:solidFill>
                  <a:srgbClr val="FFFFFF"/>
                </a:solidFill>
                <a:latin typeface="Georgia"/>
                <a:cs typeface="Georgia"/>
              </a:rPr>
              <a:t>you </a:t>
            </a:r>
            <a:r>
              <a:rPr sz="2000" dirty="0">
                <a:solidFill>
                  <a:srgbClr val="FFFFFF"/>
                </a:solidFill>
                <a:latin typeface="Georgia"/>
                <a:cs typeface="Georgia"/>
              </a:rPr>
              <a:t>know</a:t>
            </a:r>
            <a:r>
              <a:rPr sz="2000" spc="-15" dirty="0">
                <a:solidFill>
                  <a:srgbClr val="FFFFFF"/>
                </a:solidFill>
                <a:latin typeface="Georgia"/>
                <a:cs typeface="Georgia"/>
              </a:rPr>
              <a:t> </a:t>
            </a:r>
            <a:r>
              <a:rPr sz="2000" dirty="0">
                <a:solidFill>
                  <a:srgbClr val="FFFFFF"/>
                </a:solidFill>
                <a:latin typeface="Georgia"/>
                <a:cs typeface="Georgia"/>
              </a:rPr>
              <a:t>which URI</a:t>
            </a:r>
            <a:r>
              <a:rPr sz="2000" spc="-10" dirty="0">
                <a:solidFill>
                  <a:srgbClr val="FFFFFF"/>
                </a:solidFill>
                <a:latin typeface="Georgia"/>
                <a:cs typeface="Georgia"/>
              </a:rPr>
              <a:t> </a:t>
            </a:r>
            <a:r>
              <a:rPr sz="2000" dirty="0">
                <a:solidFill>
                  <a:srgbClr val="FFFFFF"/>
                </a:solidFill>
                <a:latin typeface="Georgia"/>
                <a:cs typeface="Georgia"/>
              </a:rPr>
              <a:t>it</a:t>
            </a:r>
            <a:r>
              <a:rPr sz="2000" spc="-5" dirty="0">
                <a:solidFill>
                  <a:srgbClr val="FFFFFF"/>
                </a:solidFill>
                <a:latin typeface="Georgia"/>
                <a:cs typeface="Georgia"/>
              </a:rPr>
              <a:t> </a:t>
            </a:r>
            <a:r>
              <a:rPr sz="2000" spc="-10" dirty="0">
                <a:solidFill>
                  <a:srgbClr val="FFFFFF"/>
                </a:solidFill>
                <a:latin typeface="Georgia"/>
                <a:cs typeface="Georgia"/>
              </a:rPr>
              <a:t>should </a:t>
            </a:r>
            <a:r>
              <a:rPr sz="2000" dirty="0">
                <a:solidFill>
                  <a:srgbClr val="FFFFFF"/>
                </a:solidFill>
                <a:latin typeface="Georgia"/>
                <a:cs typeface="Georgia"/>
              </a:rPr>
              <a:t>have</a:t>
            </a:r>
            <a:r>
              <a:rPr sz="2000" spc="-5" dirty="0">
                <a:solidFill>
                  <a:srgbClr val="FFFFFF"/>
                </a:solidFill>
                <a:latin typeface="Georgia"/>
                <a:cs typeface="Georgia"/>
              </a:rPr>
              <a:t> </a:t>
            </a:r>
            <a:r>
              <a:rPr sz="2000" dirty="0">
                <a:solidFill>
                  <a:srgbClr val="FFFFFF"/>
                </a:solidFill>
                <a:latin typeface="Georgia"/>
                <a:cs typeface="Georgia"/>
              </a:rPr>
              <a:t>in </a:t>
            </a:r>
            <a:r>
              <a:rPr sz="2000" spc="-10" dirty="0">
                <a:solidFill>
                  <a:srgbClr val="FFFFFF"/>
                </a:solidFill>
                <a:latin typeface="Georgia"/>
                <a:cs typeface="Georgia"/>
              </a:rPr>
              <a:t>advance.</a:t>
            </a:r>
            <a:endParaRPr sz="2000" dirty="0">
              <a:latin typeface="Georgia"/>
              <a:cs typeface="Georgia"/>
            </a:endParaRPr>
          </a:p>
        </p:txBody>
      </p:sp>
    </p:spTree>
    <p:extLst>
      <p:ext uri="{BB962C8B-B14F-4D97-AF65-F5344CB8AC3E}">
        <p14:creationId xmlns:p14="http://schemas.microsoft.com/office/powerpoint/2010/main" val="14247524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DELETE method is used to delete a resource.</a:t>
            </a:r>
          </a:p>
          <a:p>
            <a:pPr marL="0" indent="0">
              <a:buNone/>
            </a:pPr>
            <a:endParaRPr lang="en-US" sz="2000" dirty="0"/>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795510" y="934231"/>
            <a:ext cx="1558289" cy="1793399"/>
          </a:xfrm>
          <a:prstGeom prst="rect">
            <a:avLst/>
          </a:prstGeom>
        </p:spPr>
      </p:pic>
      <p:sp>
        <p:nvSpPr>
          <p:cNvPr id="18" name="object 16">
            <a:extLst>
              <a:ext uri="{FF2B5EF4-FFF2-40B4-BE49-F238E27FC236}">
                <a16:creationId xmlns:a16="http://schemas.microsoft.com/office/drawing/2014/main" id="{FF1D01D3-1C5C-6138-DC75-9C32DC44ABFF}"/>
              </a:ext>
            </a:extLst>
          </p:cNvPr>
          <p:cNvSpPr txBox="1"/>
          <p:nvPr/>
        </p:nvSpPr>
        <p:spPr>
          <a:xfrm>
            <a:off x="2718054" y="5223210"/>
            <a:ext cx="1823761" cy="858633"/>
          </a:xfrm>
          <a:prstGeom prst="rect">
            <a:avLst/>
          </a:prstGeom>
        </p:spPr>
        <p:txBody>
          <a:bodyPr vert="horz" wrap="square" lIns="0" tIns="20320" rIns="0" bIns="0" rtlCol="0">
            <a:spAutoFit/>
          </a:bodyPr>
          <a:lstStyle/>
          <a:p>
            <a:pPr marL="12065" marR="5080" algn="ctr">
              <a:lnSpc>
                <a:spcPct val="102800"/>
              </a:lnSpc>
              <a:spcBef>
                <a:spcPts val="160"/>
              </a:spcBef>
            </a:pPr>
            <a:r>
              <a:rPr sz="1800" spc="-10" dirty="0">
                <a:solidFill>
                  <a:srgbClr val="FFFFFF"/>
                </a:solidFill>
                <a:latin typeface="Courier New"/>
                <a:cs typeface="Courier New"/>
              </a:rPr>
              <a:t>application/xml </a:t>
            </a:r>
            <a:r>
              <a:rPr sz="1800" dirty="0">
                <a:solidFill>
                  <a:srgbClr val="FFFFFF"/>
                </a:solidFill>
                <a:latin typeface="Georgia"/>
                <a:cs typeface="Georgia"/>
              </a:rPr>
              <a:t>was popular</a:t>
            </a:r>
            <a:r>
              <a:rPr sz="1800" spc="-15" dirty="0">
                <a:solidFill>
                  <a:srgbClr val="FFFFFF"/>
                </a:solidFill>
                <a:latin typeface="Georgia"/>
                <a:cs typeface="Georgia"/>
              </a:rPr>
              <a:t> </a:t>
            </a:r>
            <a:r>
              <a:rPr sz="1800" spc="-10" dirty="0">
                <a:solidFill>
                  <a:srgbClr val="FFFFFF"/>
                </a:solidFill>
                <a:latin typeface="Georgia"/>
                <a:cs typeface="Georgia"/>
              </a:rPr>
              <a:t>before JSON.</a:t>
            </a:r>
            <a:endParaRPr sz="1800" dirty="0">
              <a:latin typeface="Georgia"/>
              <a:cs typeface="Georgia"/>
            </a:endParaRPr>
          </a:p>
        </p:txBody>
      </p:sp>
      <p:pic>
        <p:nvPicPr>
          <p:cNvPr id="8" name="object 4">
            <a:extLst>
              <a:ext uri="{FF2B5EF4-FFF2-40B4-BE49-F238E27FC236}">
                <a16:creationId xmlns:a16="http://schemas.microsoft.com/office/drawing/2014/main" id="{FBB37F2A-5BFA-62DE-816F-937FF9310E26}"/>
              </a:ext>
            </a:extLst>
          </p:cNvPr>
          <p:cNvPicPr/>
          <p:nvPr/>
        </p:nvPicPr>
        <p:blipFill>
          <a:blip r:embed="rId4" cstate="print"/>
          <a:stretch>
            <a:fillRect/>
          </a:stretch>
        </p:blipFill>
        <p:spPr>
          <a:xfrm>
            <a:off x="1089153" y="3112497"/>
            <a:ext cx="4661408" cy="1003833"/>
          </a:xfrm>
          <a:prstGeom prst="rect">
            <a:avLst/>
          </a:prstGeom>
        </p:spPr>
      </p:pic>
      <p:sp>
        <p:nvSpPr>
          <p:cNvPr id="10" name="object 5">
            <a:extLst>
              <a:ext uri="{FF2B5EF4-FFF2-40B4-BE49-F238E27FC236}">
                <a16:creationId xmlns:a16="http://schemas.microsoft.com/office/drawing/2014/main" id="{D8BA3CA8-19C2-43F4-94ED-1E50AD1FF760}"/>
              </a:ext>
            </a:extLst>
          </p:cNvPr>
          <p:cNvSpPr txBox="1"/>
          <p:nvPr/>
        </p:nvSpPr>
        <p:spPr>
          <a:xfrm>
            <a:off x="1233932" y="3257302"/>
            <a:ext cx="4376420" cy="718820"/>
          </a:xfrm>
          <a:prstGeom prst="rect">
            <a:avLst/>
          </a:prstGeom>
          <a:solidFill>
            <a:srgbClr val="F1F1F1"/>
          </a:solidFill>
        </p:spPr>
        <p:txBody>
          <a:bodyPr vert="horz" wrap="square" lIns="0" tIns="0" rIns="0" bIns="0" rtlCol="0">
            <a:spAutoFit/>
          </a:bodyPr>
          <a:lstStyle/>
          <a:p>
            <a:pPr marL="90805">
              <a:lnSpc>
                <a:spcPts val="2150"/>
              </a:lnSpc>
            </a:pPr>
            <a:r>
              <a:rPr sz="1800" dirty="0">
                <a:latin typeface="Courier New"/>
                <a:cs typeface="Courier New"/>
              </a:rPr>
              <a:t>DELETE</a:t>
            </a:r>
            <a:r>
              <a:rPr sz="1800" spc="-70" dirty="0">
                <a:latin typeface="Courier New"/>
                <a:cs typeface="Courier New"/>
              </a:rPr>
              <a:t> </a:t>
            </a:r>
            <a:r>
              <a:rPr sz="1800" dirty="0">
                <a:latin typeface="Courier New"/>
                <a:cs typeface="Courier New"/>
              </a:rPr>
              <a:t>/users/2</a:t>
            </a:r>
            <a:r>
              <a:rPr sz="1800" spc="-50" dirty="0">
                <a:latin typeface="Courier New"/>
                <a:cs typeface="Courier New"/>
              </a:rPr>
              <a:t> </a:t>
            </a:r>
            <a:r>
              <a:rPr sz="1800" spc="-10" dirty="0">
                <a:latin typeface="Courier New"/>
                <a:cs typeface="Courier New"/>
              </a:rPr>
              <a:t>HTTP/1.1</a:t>
            </a:r>
            <a:endParaRPr sz="1800" dirty="0">
              <a:latin typeface="Courier New"/>
              <a:cs typeface="Courier New"/>
            </a:endParaRPr>
          </a:p>
          <a:p>
            <a:pPr marL="90805">
              <a:lnSpc>
                <a:spcPct val="100000"/>
              </a:lnSpc>
              <a:spcBef>
                <a:spcPts val="780"/>
              </a:spcBef>
            </a:pPr>
            <a:r>
              <a:rPr sz="1800" dirty="0">
                <a:latin typeface="Courier New"/>
                <a:cs typeface="Courier New"/>
              </a:rPr>
              <a:t>Host:</a:t>
            </a:r>
            <a:r>
              <a:rPr sz="1800" spc="-40" dirty="0">
                <a:latin typeface="Courier New"/>
                <a:cs typeface="Courier New"/>
              </a:rPr>
              <a:t> </a:t>
            </a:r>
            <a:r>
              <a:rPr sz="1800" spc="-10" dirty="0">
                <a:latin typeface="Courier New"/>
                <a:cs typeface="Courier New"/>
              </a:rPr>
              <a:t>the-website.com</a:t>
            </a:r>
            <a:endParaRPr sz="1800" dirty="0">
              <a:latin typeface="Courier New"/>
              <a:cs typeface="Courier New"/>
            </a:endParaRPr>
          </a:p>
        </p:txBody>
      </p:sp>
      <p:pic>
        <p:nvPicPr>
          <p:cNvPr id="11" name="object 6">
            <a:extLst>
              <a:ext uri="{FF2B5EF4-FFF2-40B4-BE49-F238E27FC236}">
                <a16:creationId xmlns:a16="http://schemas.microsoft.com/office/drawing/2014/main" id="{00D0301C-0D40-1DC5-36D1-702981FA218D}"/>
              </a:ext>
            </a:extLst>
          </p:cNvPr>
          <p:cNvPicPr/>
          <p:nvPr/>
        </p:nvPicPr>
        <p:blipFill>
          <a:blip r:embed="rId5" cstate="print"/>
          <a:stretch>
            <a:fillRect/>
          </a:stretch>
        </p:blipFill>
        <p:spPr>
          <a:xfrm>
            <a:off x="5864352" y="3112510"/>
            <a:ext cx="5489447" cy="632980"/>
          </a:xfrm>
          <a:prstGeom prst="rect">
            <a:avLst/>
          </a:prstGeom>
        </p:spPr>
      </p:pic>
      <p:sp>
        <p:nvSpPr>
          <p:cNvPr id="12" name="object 7">
            <a:extLst>
              <a:ext uri="{FF2B5EF4-FFF2-40B4-BE49-F238E27FC236}">
                <a16:creationId xmlns:a16="http://schemas.microsoft.com/office/drawing/2014/main" id="{8AA536C9-C573-C30E-9227-19D79FA9F9AC}"/>
              </a:ext>
            </a:extLst>
          </p:cNvPr>
          <p:cNvSpPr txBox="1"/>
          <p:nvPr/>
        </p:nvSpPr>
        <p:spPr>
          <a:xfrm>
            <a:off x="6009133" y="3257302"/>
            <a:ext cx="5204460" cy="347980"/>
          </a:xfrm>
          <a:prstGeom prst="rect">
            <a:avLst/>
          </a:prstGeom>
          <a:solidFill>
            <a:srgbClr val="F1F1F1"/>
          </a:solidFill>
        </p:spPr>
        <p:txBody>
          <a:bodyPr vert="horz" wrap="square" lIns="0" tIns="0" rIns="0" bIns="0" rtlCol="0">
            <a:spAutoFit/>
          </a:bodyPr>
          <a:lstStyle/>
          <a:p>
            <a:pPr marL="93345">
              <a:lnSpc>
                <a:spcPts val="2150"/>
              </a:lnSpc>
            </a:pPr>
            <a:r>
              <a:rPr sz="1800" dirty="0">
                <a:latin typeface="Courier New"/>
                <a:cs typeface="Courier New"/>
              </a:rPr>
              <a:t>HTTP/1.1</a:t>
            </a:r>
            <a:r>
              <a:rPr sz="1800" spc="-50" dirty="0">
                <a:latin typeface="Courier New"/>
                <a:cs typeface="Courier New"/>
              </a:rPr>
              <a:t> </a:t>
            </a:r>
            <a:r>
              <a:rPr sz="1800" dirty="0">
                <a:latin typeface="Courier New"/>
                <a:cs typeface="Courier New"/>
              </a:rPr>
              <a:t>204</a:t>
            </a:r>
            <a:r>
              <a:rPr sz="1800" spc="-35" dirty="0">
                <a:latin typeface="Courier New"/>
                <a:cs typeface="Courier New"/>
              </a:rPr>
              <a:t> </a:t>
            </a:r>
            <a:r>
              <a:rPr sz="1800" dirty="0">
                <a:latin typeface="Courier New"/>
                <a:cs typeface="Courier New"/>
              </a:rPr>
              <a:t>No</a:t>
            </a:r>
            <a:r>
              <a:rPr sz="1800" spc="-35" dirty="0">
                <a:latin typeface="Courier New"/>
                <a:cs typeface="Courier New"/>
              </a:rPr>
              <a:t> </a:t>
            </a:r>
            <a:r>
              <a:rPr sz="1800" spc="-10" dirty="0">
                <a:latin typeface="Courier New"/>
                <a:cs typeface="Courier New"/>
              </a:rPr>
              <a:t>Content</a:t>
            </a:r>
            <a:endParaRPr sz="1800">
              <a:latin typeface="Courier New"/>
              <a:cs typeface="Courier New"/>
            </a:endParaRPr>
          </a:p>
        </p:txBody>
      </p:sp>
    </p:spTree>
    <p:extLst>
      <p:ext uri="{BB962C8B-B14F-4D97-AF65-F5344CB8AC3E}">
        <p14:creationId xmlns:p14="http://schemas.microsoft.com/office/powerpoint/2010/main" val="21485836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The PATCH method is used to update parts of a resource.</a:t>
            </a:r>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384718" y="934231"/>
            <a:ext cx="1969081" cy="2266170"/>
          </a:xfrm>
          <a:prstGeom prst="rect">
            <a:avLst/>
          </a:prstGeom>
        </p:spPr>
      </p:pic>
      <p:sp>
        <p:nvSpPr>
          <p:cNvPr id="18" name="object 16">
            <a:extLst>
              <a:ext uri="{FF2B5EF4-FFF2-40B4-BE49-F238E27FC236}">
                <a16:creationId xmlns:a16="http://schemas.microsoft.com/office/drawing/2014/main" id="{FF1D01D3-1C5C-6138-DC75-9C32DC44ABFF}"/>
              </a:ext>
            </a:extLst>
          </p:cNvPr>
          <p:cNvSpPr txBox="1"/>
          <p:nvPr/>
        </p:nvSpPr>
        <p:spPr>
          <a:xfrm>
            <a:off x="2718054" y="5223210"/>
            <a:ext cx="1823761" cy="858633"/>
          </a:xfrm>
          <a:prstGeom prst="rect">
            <a:avLst/>
          </a:prstGeom>
        </p:spPr>
        <p:txBody>
          <a:bodyPr vert="horz" wrap="square" lIns="0" tIns="20320" rIns="0" bIns="0" rtlCol="0">
            <a:spAutoFit/>
          </a:bodyPr>
          <a:lstStyle/>
          <a:p>
            <a:pPr marL="12065" marR="5080" algn="ctr">
              <a:lnSpc>
                <a:spcPct val="102800"/>
              </a:lnSpc>
              <a:spcBef>
                <a:spcPts val="160"/>
              </a:spcBef>
            </a:pPr>
            <a:r>
              <a:rPr sz="1800" spc="-10" dirty="0">
                <a:solidFill>
                  <a:srgbClr val="FFFFFF"/>
                </a:solidFill>
                <a:latin typeface="Courier New"/>
                <a:cs typeface="Courier New"/>
              </a:rPr>
              <a:t>application/xml </a:t>
            </a:r>
            <a:r>
              <a:rPr sz="1800" dirty="0">
                <a:solidFill>
                  <a:srgbClr val="FFFFFF"/>
                </a:solidFill>
                <a:latin typeface="Georgia"/>
                <a:cs typeface="Georgia"/>
              </a:rPr>
              <a:t>was popular</a:t>
            </a:r>
            <a:r>
              <a:rPr sz="1800" spc="-15" dirty="0">
                <a:solidFill>
                  <a:srgbClr val="FFFFFF"/>
                </a:solidFill>
                <a:latin typeface="Georgia"/>
                <a:cs typeface="Georgia"/>
              </a:rPr>
              <a:t> </a:t>
            </a:r>
            <a:r>
              <a:rPr sz="1800" spc="-10" dirty="0">
                <a:solidFill>
                  <a:srgbClr val="FFFFFF"/>
                </a:solidFill>
                <a:latin typeface="Georgia"/>
                <a:cs typeface="Georgia"/>
              </a:rPr>
              <a:t>before JSON.</a:t>
            </a:r>
            <a:endParaRPr sz="1800" dirty="0">
              <a:latin typeface="Georgia"/>
              <a:cs typeface="Georgia"/>
            </a:endParaRPr>
          </a:p>
        </p:txBody>
      </p:sp>
      <p:pic>
        <p:nvPicPr>
          <p:cNvPr id="8" name="object 4">
            <a:extLst>
              <a:ext uri="{FF2B5EF4-FFF2-40B4-BE49-F238E27FC236}">
                <a16:creationId xmlns:a16="http://schemas.microsoft.com/office/drawing/2014/main" id="{0E25CCB5-35B5-9038-2C47-1262A8B0ACF3}"/>
              </a:ext>
            </a:extLst>
          </p:cNvPr>
          <p:cNvPicPr/>
          <p:nvPr/>
        </p:nvPicPr>
        <p:blipFill>
          <a:blip r:embed="rId4" cstate="print"/>
          <a:stretch>
            <a:fillRect/>
          </a:stretch>
        </p:blipFill>
        <p:spPr>
          <a:xfrm>
            <a:off x="1089153" y="3055622"/>
            <a:ext cx="4661408" cy="3269488"/>
          </a:xfrm>
          <a:prstGeom prst="rect">
            <a:avLst/>
          </a:prstGeom>
        </p:spPr>
      </p:pic>
      <p:sp>
        <p:nvSpPr>
          <p:cNvPr id="10" name="object 5">
            <a:extLst>
              <a:ext uri="{FF2B5EF4-FFF2-40B4-BE49-F238E27FC236}">
                <a16:creationId xmlns:a16="http://schemas.microsoft.com/office/drawing/2014/main" id="{AFB12312-BCAB-71C1-2A4D-7ED756F640DB}"/>
              </a:ext>
            </a:extLst>
          </p:cNvPr>
          <p:cNvSpPr txBox="1"/>
          <p:nvPr/>
        </p:nvSpPr>
        <p:spPr>
          <a:xfrm>
            <a:off x="1233932" y="3200401"/>
            <a:ext cx="4376420" cy="2984500"/>
          </a:xfrm>
          <a:prstGeom prst="rect">
            <a:avLst/>
          </a:prstGeom>
          <a:solidFill>
            <a:srgbClr val="F1F1F1"/>
          </a:solidFill>
        </p:spPr>
        <p:txBody>
          <a:bodyPr vert="horz" wrap="square" lIns="0" tIns="0" rIns="0" bIns="0" rtlCol="0">
            <a:spAutoFit/>
          </a:bodyPr>
          <a:lstStyle/>
          <a:p>
            <a:pPr marL="90805">
              <a:lnSpc>
                <a:spcPts val="2155"/>
              </a:lnSpc>
            </a:pPr>
            <a:r>
              <a:rPr sz="1800" dirty="0">
                <a:latin typeface="Courier New"/>
                <a:cs typeface="Courier New"/>
              </a:rPr>
              <a:t>PATCH</a:t>
            </a:r>
            <a:r>
              <a:rPr sz="1800" spc="-60" dirty="0">
                <a:latin typeface="Courier New"/>
                <a:cs typeface="Courier New"/>
              </a:rPr>
              <a:t> </a:t>
            </a:r>
            <a:r>
              <a:rPr sz="1800" dirty="0">
                <a:latin typeface="Courier New"/>
                <a:cs typeface="Courier New"/>
              </a:rPr>
              <a:t>/users/1</a:t>
            </a:r>
            <a:r>
              <a:rPr sz="1800" spc="-60" dirty="0">
                <a:latin typeface="Courier New"/>
                <a:cs typeface="Courier New"/>
              </a:rPr>
              <a:t> </a:t>
            </a:r>
            <a:r>
              <a:rPr sz="1800" spc="-10" dirty="0">
                <a:latin typeface="Courier New"/>
                <a:cs typeface="Courier New"/>
              </a:rPr>
              <a:t>HTTP/1.1</a:t>
            </a:r>
            <a:endParaRPr sz="1800" dirty="0">
              <a:latin typeface="Courier New"/>
              <a:cs typeface="Courier New"/>
            </a:endParaRPr>
          </a:p>
          <a:p>
            <a:pPr marL="90805">
              <a:lnSpc>
                <a:spcPct val="100000"/>
              </a:lnSpc>
              <a:spcBef>
                <a:spcPts val="780"/>
              </a:spcBef>
            </a:pPr>
            <a:r>
              <a:rPr sz="1800" dirty="0">
                <a:latin typeface="Courier New"/>
                <a:cs typeface="Courier New"/>
              </a:rPr>
              <a:t>Host:</a:t>
            </a:r>
            <a:r>
              <a:rPr sz="1800" spc="-40" dirty="0">
                <a:latin typeface="Courier New"/>
                <a:cs typeface="Courier New"/>
              </a:rPr>
              <a:t> </a:t>
            </a:r>
            <a:r>
              <a:rPr sz="1800" spc="-10" dirty="0">
                <a:latin typeface="Courier New"/>
                <a:cs typeface="Courier New"/>
              </a:rPr>
              <a:t>the-website.com</a:t>
            </a:r>
            <a:endParaRPr lang="fr-FR" sz="1800" dirty="0">
              <a:latin typeface="Courier New"/>
              <a:cs typeface="Courier New"/>
            </a:endParaRPr>
          </a:p>
          <a:p>
            <a:pPr marL="90805" marR="314325">
              <a:lnSpc>
                <a:spcPct val="136200"/>
              </a:lnSpc>
              <a:spcBef>
                <a:spcPts val="20"/>
              </a:spcBef>
            </a:pPr>
            <a:r>
              <a:rPr lang="fr-FR" sz="1800" spc="-10" dirty="0">
                <a:latin typeface="Courier New"/>
                <a:cs typeface="Courier New"/>
              </a:rPr>
              <a:t>Content-</a:t>
            </a:r>
            <a:r>
              <a:rPr lang="fr-FR" sz="1800" dirty="0">
                <a:latin typeface="Courier New"/>
                <a:cs typeface="Courier New"/>
              </a:rPr>
              <a:t>Type:</a:t>
            </a:r>
            <a:r>
              <a:rPr lang="fr-FR" sz="1800" spc="-30" dirty="0">
                <a:latin typeface="Courier New"/>
                <a:cs typeface="Courier New"/>
              </a:rPr>
              <a:t> </a:t>
            </a:r>
            <a:r>
              <a:rPr lang="fr-FR" sz="1800" spc="-10" dirty="0">
                <a:latin typeface="Courier New"/>
                <a:cs typeface="Courier New"/>
              </a:rPr>
              <a:t>application/xml Content-</a:t>
            </a:r>
            <a:r>
              <a:rPr lang="fr-FR" sz="1800" dirty="0" err="1">
                <a:latin typeface="Courier New"/>
                <a:cs typeface="Courier New"/>
              </a:rPr>
              <a:t>Length</a:t>
            </a:r>
            <a:r>
              <a:rPr lang="fr-FR" sz="1800" dirty="0">
                <a:latin typeface="Courier New"/>
                <a:cs typeface="Courier New"/>
              </a:rPr>
              <a:t>:</a:t>
            </a:r>
            <a:r>
              <a:rPr lang="fr-FR" sz="1800" spc="-45" dirty="0">
                <a:latin typeface="Courier New"/>
                <a:cs typeface="Courier New"/>
              </a:rPr>
              <a:t> </a:t>
            </a:r>
            <a:r>
              <a:rPr lang="fr-FR" sz="1800" spc="-25" dirty="0">
                <a:latin typeface="Courier New"/>
                <a:cs typeface="Courier New"/>
              </a:rPr>
              <a:t>37</a:t>
            </a:r>
            <a:endParaRPr lang="fr-FR" sz="1800" dirty="0">
              <a:latin typeface="Courier New"/>
              <a:cs typeface="Courier New"/>
            </a:endParaRPr>
          </a:p>
          <a:p>
            <a:pPr>
              <a:lnSpc>
                <a:spcPct val="100000"/>
              </a:lnSpc>
            </a:pPr>
            <a:endParaRPr sz="2000" dirty="0">
              <a:latin typeface="Courier New"/>
              <a:cs typeface="Courier New"/>
            </a:endParaRPr>
          </a:p>
          <a:p>
            <a:pPr marL="90805">
              <a:lnSpc>
                <a:spcPct val="100000"/>
              </a:lnSpc>
              <a:spcBef>
                <a:spcPts val="1455"/>
              </a:spcBef>
            </a:pPr>
            <a:r>
              <a:rPr sz="1800" spc="-10" dirty="0">
                <a:latin typeface="Courier New"/>
                <a:cs typeface="Courier New"/>
              </a:rPr>
              <a:t>&lt;user&gt;</a:t>
            </a:r>
            <a:endParaRPr sz="1800" dirty="0">
              <a:latin typeface="Courier New"/>
              <a:cs typeface="Courier New"/>
            </a:endParaRPr>
          </a:p>
          <a:p>
            <a:pPr marL="365125">
              <a:lnSpc>
                <a:spcPct val="100000"/>
              </a:lnSpc>
              <a:spcBef>
                <a:spcPts val="780"/>
              </a:spcBef>
            </a:pPr>
            <a:r>
              <a:rPr sz="1800" spc="-10" dirty="0">
                <a:latin typeface="Courier New"/>
                <a:cs typeface="Courier New"/>
              </a:rPr>
              <a:t>&lt;name&gt;Amanda&lt;/human&gt;</a:t>
            </a:r>
            <a:endParaRPr sz="1800" dirty="0">
              <a:latin typeface="Courier New"/>
              <a:cs typeface="Courier New"/>
            </a:endParaRPr>
          </a:p>
          <a:p>
            <a:pPr marL="90805">
              <a:lnSpc>
                <a:spcPct val="100000"/>
              </a:lnSpc>
              <a:spcBef>
                <a:spcPts val="800"/>
              </a:spcBef>
            </a:pPr>
            <a:r>
              <a:rPr sz="1800" spc="-10" dirty="0">
                <a:latin typeface="Courier New"/>
                <a:cs typeface="Courier New"/>
              </a:rPr>
              <a:t>&lt;/user&gt;</a:t>
            </a:r>
            <a:endParaRPr sz="1800" dirty="0">
              <a:latin typeface="Courier New"/>
              <a:cs typeface="Courier New"/>
            </a:endParaRPr>
          </a:p>
        </p:txBody>
      </p:sp>
      <p:pic>
        <p:nvPicPr>
          <p:cNvPr id="11" name="object 6">
            <a:extLst>
              <a:ext uri="{FF2B5EF4-FFF2-40B4-BE49-F238E27FC236}">
                <a16:creationId xmlns:a16="http://schemas.microsoft.com/office/drawing/2014/main" id="{5F7610BC-189F-C4D3-ED95-A247605ACE4F}"/>
              </a:ext>
            </a:extLst>
          </p:cNvPr>
          <p:cNvPicPr/>
          <p:nvPr/>
        </p:nvPicPr>
        <p:blipFill>
          <a:blip r:embed="rId5" cstate="print"/>
          <a:stretch>
            <a:fillRect/>
          </a:stretch>
        </p:blipFill>
        <p:spPr>
          <a:xfrm>
            <a:off x="5864352" y="3284222"/>
            <a:ext cx="5489447" cy="635508"/>
          </a:xfrm>
          <a:prstGeom prst="rect">
            <a:avLst/>
          </a:prstGeom>
        </p:spPr>
      </p:pic>
      <p:sp>
        <p:nvSpPr>
          <p:cNvPr id="12" name="object 7">
            <a:extLst>
              <a:ext uri="{FF2B5EF4-FFF2-40B4-BE49-F238E27FC236}">
                <a16:creationId xmlns:a16="http://schemas.microsoft.com/office/drawing/2014/main" id="{4743971B-84E3-E7E6-82E6-FA59228DFCDC}"/>
              </a:ext>
            </a:extLst>
          </p:cNvPr>
          <p:cNvSpPr txBox="1"/>
          <p:nvPr/>
        </p:nvSpPr>
        <p:spPr>
          <a:xfrm>
            <a:off x="6009133" y="3456390"/>
            <a:ext cx="5204460" cy="350520"/>
          </a:xfrm>
          <a:prstGeom prst="rect">
            <a:avLst/>
          </a:prstGeom>
          <a:solidFill>
            <a:srgbClr val="F1F1F1"/>
          </a:solidFill>
        </p:spPr>
        <p:txBody>
          <a:bodyPr vert="horz" wrap="square" lIns="0" tIns="0" rIns="0" bIns="0" rtlCol="0">
            <a:spAutoFit/>
          </a:bodyPr>
          <a:lstStyle/>
          <a:p>
            <a:pPr marL="93345">
              <a:lnSpc>
                <a:spcPts val="2155"/>
              </a:lnSpc>
            </a:pPr>
            <a:r>
              <a:rPr sz="1800" dirty="0">
                <a:latin typeface="Courier New"/>
                <a:cs typeface="Courier New"/>
              </a:rPr>
              <a:t>HTTP/1.1</a:t>
            </a:r>
            <a:r>
              <a:rPr sz="1800" spc="-50" dirty="0">
                <a:latin typeface="Courier New"/>
                <a:cs typeface="Courier New"/>
              </a:rPr>
              <a:t> </a:t>
            </a:r>
            <a:r>
              <a:rPr sz="1800" dirty="0">
                <a:latin typeface="Courier New"/>
                <a:cs typeface="Courier New"/>
              </a:rPr>
              <a:t>20</a:t>
            </a:r>
            <a:r>
              <a:rPr lang="en-PH" sz="1800" dirty="0">
                <a:latin typeface="Courier New"/>
                <a:cs typeface="Courier New"/>
              </a:rPr>
              <a:t>4</a:t>
            </a:r>
            <a:r>
              <a:rPr sz="1800" spc="-35" dirty="0">
                <a:latin typeface="Courier New"/>
                <a:cs typeface="Courier New"/>
              </a:rPr>
              <a:t> </a:t>
            </a:r>
            <a:r>
              <a:rPr sz="1800" dirty="0">
                <a:latin typeface="Courier New"/>
                <a:cs typeface="Courier New"/>
              </a:rPr>
              <a:t>No</a:t>
            </a:r>
            <a:r>
              <a:rPr sz="1800" spc="-35" dirty="0">
                <a:latin typeface="Courier New"/>
                <a:cs typeface="Courier New"/>
              </a:rPr>
              <a:t> </a:t>
            </a:r>
            <a:r>
              <a:rPr sz="1800" spc="-10" dirty="0">
                <a:latin typeface="Courier New"/>
                <a:cs typeface="Courier New"/>
              </a:rPr>
              <a:t>Content</a:t>
            </a:r>
            <a:endParaRPr sz="1800" dirty="0">
              <a:latin typeface="Courier New"/>
              <a:cs typeface="Courier New"/>
            </a:endParaRPr>
          </a:p>
        </p:txBody>
      </p:sp>
      <p:grpSp>
        <p:nvGrpSpPr>
          <p:cNvPr id="13" name="object 8">
            <a:extLst>
              <a:ext uri="{FF2B5EF4-FFF2-40B4-BE49-F238E27FC236}">
                <a16:creationId xmlns:a16="http://schemas.microsoft.com/office/drawing/2014/main" id="{64951DD3-5222-380A-910B-612AE5F0A9EE}"/>
              </a:ext>
            </a:extLst>
          </p:cNvPr>
          <p:cNvGrpSpPr/>
          <p:nvPr/>
        </p:nvGrpSpPr>
        <p:grpSpPr>
          <a:xfrm>
            <a:off x="6501761" y="4253649"/>
            <a:ext cx="3710304" cy="2111375"/>
            <a:chOff x="6641968" y="3644598"/>
            <a:chExt cx="3710304" cy="2111375"/>
          </a:xfrm>
        </p:grpSpPr>
        <p:sp>
          <p:nvSpPr>
            <p:cNvPr id="14" name="object 9">
              <a:extLst>
                <a:ext uri="{FF2B5EF4-FFF2-40B4-BE49-F238E27FC236}">
                  <a16:creationId xmlns:a16="http://schemas.microsoft.com/office/drawing/2014/main" id="{05AB141A-52E9-E204-7F76-33F7B636002E}"/>
                </a:ext>
              </a:extLst>
            </p:cNvPr>
            <p:cNvSpPr/>
            <p:nvPr/>
          </p:nvSpPr>
          <p:spPr>
            <a:xfrm>
              <a:off x="6648318" y="3650948"/>
              <a:ext cx="3697604" cy="2098675"/>
            </a:xfrm>
            <a:custGeom>
              <a:avLst/>
              <a:gdLst/>
              <a:ahLst/>
              <a:cxnLst/>
              <a:rect l="l" t="t" r="r" b="b"/>
              <a:pathLst>
                <a:path w="3697604" h="2098675">
                  <a:moveTo>
                    <a:pt x="2860226" y="64"/>
                  </a:moveTo>
                  <a:lnTo>
                    <a:pt x="2811371" y="3169"/>
                  </a:lnTo>
                  <a:lnTo>
                    <a:pt x="2763262" y="10685"/>
                  </a:lnTo>
                  <a:lnTo>
                    <a:pt x="2716446" y="22576"/>
                  </a:lnTo>
                  <a:lnTo>
                    <a:pt x="2671472" y="38808"/>
                  </a:lnTo>
                  <a:lnTo>
                    <a:pt x="2628888" y="59347"/>
                  </a:lnTo>
                  <a:lnTo>
                    <a:pt x="2589243" y="84157"/>
                  </a:lnTo>
                  <a:lnTo>
                    <a:pt x="2553086" y="113204"/>
                  </a:lnTo>
                  <a:lnTo>
                    <a:pt x="2525352" y="88114"/>
                  </a:lnTo>
                  <a:lnTo>
                    <a:pt x="2494189" y="65738"/>
                  </a:lnTo>
                  <a:lnTo>
                    <a:pt x="2459931" y="46267"/>
                  </a:lnTo>
                  <a:lnTo>
                    <a:pt x="2422911" y="29892"/>
                  </a:lnTo>
                  <a:lnTo>
                    <a:pt x="2376083" y="14748"/>
                  </a:lnTo>
                  <a:lnTo>
                    <a:pt x="2328201" y="4835"/>
                  </a:lnTo>
                  <a:lnTo>
                    <a:pt x="2279859" y="0"/>
                  </a:lnTo>
                  <a:lnTo>
                    <a:pt x="2231653" y="85"/>
                  </a:lnTo>
                  <a:lnTo>
                    <a:pt x="2184180" y="4936"/>
                  </a:lnTo>
                  <a:lnTo>
                    <a:pt x="2138034" y="14398"/>
                  </a:lnTo>
                  <a:lnTo>
                    <a:pt x="2093811" y="28316"/>
                  </a:lnTo>
                  <a:lnTo>
                    <a:pt x="2052108" y="46534"/>
                  </a:lnTo>
                  <a:lnTo>
                    <a:pt x="2013520" y="68897"/>
                  </a:lnTo>
                  <a:lnTo>
                    <a:pt x="1978643" y="95250"/>
                  </a:lnTo>
                  <a:lnTo>
                    <a:pt x="1948072" y="125438"/>
                  </a:lnTo>
                  <a:lnTo>
                    <a:pt x="1922404" y="159305"/>
                  </a:lnTo>
                  <a:lnTo>
                    <a:pt x="1898085" y="142097"/>
                  </a:lnTo>
                  <a:lnTo>
                    <a:pt x="1845019" y="112013"/>
                  </a:lnTo>
                  <a:lnTo>
                    <a:pt x="1768090" y="82022"/>
                  </a:lnTo>
                  <a:lnTo>
                    <a:pt x="1718516" y="69502"/>
                  </a:lnTo>
                  <a:lnTo>
                    <a:pt x="1668227" y="61564"/>
                  </a:lnTo>
                  <a:lnTo>
                    <a:pt x="1617684" y="58098"/>
                  </a:lnTo>
                  <a:lnTo>
                    <a:pt x="1567349" y="58995"/>
                  </a:lnTo>
                  <a:lnTo>
                    <a:pt x="1517686" y="64144"/>
                  </a:lnTo>
                  <a:lnTo>
                    <a:pt x="1469157" y="73437"/>
                  </a:lnTo>
                  <a:lnTo>
                    <a:pt x="1422223" y="86764"/>
                  </a:lnTo>
                  <a:lnTo>
                    <a:pt x="1377347" y="104014"/>
                  </a:lnTo>
                  <a:lnTo>
                    <a:pt x="1334993" y="125078"/>
                  </a:lnTo>
                  <a:lnTo>
                    <a:pt x="1295621" y="149847"/>
                  </a:lnTo>
                  <a:lnTo>
                    <a:pt x="1259695" y="178211"/>
                  </a:lnTo>
                  <a:lnTo>
                    <a:pt x="1227676" y="210060"/>
                  </a:lnTo>
                  <a:lnTo>
                    <a:pt x="1200028" y="245284"/>
                  </a:lnTo>
                  <a:lnTo>
                    <a:pt x="1157378" y="227801"/>
                  </a:lnTo>
                  <a:lnTo>
                    <a:pt x="1113223" y="213191"/>
                  </a:lnTo>
                  <a:lnTo>
                    <a:pt x="1067806" y="201495"/>
                  </a:lnTo>
                  <a:lnTo>
                    <a:pt x="1021370" y="192754"/>
                  </a:lnTo>
                  <a:lnTo>
                    <a:pt x="974161" y="187007"/>
                  </a:lnTo>
                  <a:lnTo>
                    <a:pt x="926422" y="184294"/>
                  </a:lnTo>
                  <a:lnTo>
                    <a:pt x="878397" y="184657"/>
                  </a:lnTo>
                  <a:lnTo>
                    <a:pt x="830331" y="188134"/>
                  </a:lnTo>
                  <a:lnTo>
                    <a:pt x="775588" y="195960"/>
                  </a:lnTo>
                  <a:lnTo>
                    <a:pt x="723020" y="207555"/>
                  </a:lnTo>
                  <a:lnTo>
                    <a:pt x="672832" y="222707"/>
                  </a:lnTo>
                  <a:lnTo>
                    <a:pt x="625231" y="241207"/>
                  </a:lnTo>
                  <a:lnTo>
                    <a:pt x="580426" y="262843"/>
                  </a:lnTo>
                  <a:lnTo>
                    <a:pt x="538622" y="287406"/>
                  </a:lnTo>
                  <a:lnTo>
                    <a:pt x="500026" y="314685"/>
                  </a:lnTo>
                  <a:lnTo>
                    <a:pt x="464845" y="344469"/>
                  </a:lnTo>
                  <a:lnTo>
                    <a:pt x="433287" y="376548"/>
                  </a:lnTo>
                  <a:lnTo>
                    <a:pt x="405558" y="410712"/>
                  </a:lnTo>
                  <a:lnTo>
                    <a:pt x="381864" y="446750"/>
                  </a:lnTo>
                  <a:lnTo>
                    <a:pt x="362414" y="484451"/>
                  </a:lnTo>
                  <a:lnTo>
                    <a:pt x="347413" y="523606"/>
                  </a:lnTo>
                  <a:lnTo>
                    <a:pt x="337069" y="564003"/>
                  </a:lnTo>
                  <a:lnTo>
                    <a:pt x="331589" y="605433"/>
                  </a:lnTo>
                  <a:lnTo>
                    <a:pt x="331179" y="647684"/>
                  </a:lnTo>
                  <a:lnTo>
                    <a:pt x="336047" y="690546"/>
                  </a:lnTo>
                  <a:lnTo>
                    <a:pt x="332999" y="697150"/>
                  </a:lnTo>
                  <a:lnTo>
                    <a:pt x="283423" y="703767"/>
                  </a:lnTo>
                  <a:lnTo>
                    <a:pt x="235982" y="715373"/>
                  </a:lnTo>
                  <a:lnTo>
                    <a:pt x="191240" y="731687"/>
                  </a:lnTo>
                  <a:lnTo>
                    <a:pt x="149762" y="752426"/>
                  </a:lnTo>
                  <a:lnTo>
                    <a:pt x="112111" y="777308"/>
                  </a:lnTo>
                  <a:lnTo>
                    <a:pt x="78853" y="806052"/>
                  </a:lnTo>
                  <a:lnTo>
                    <a:pt x="50551" y="838374"/>
                  </a:lnTo>
                  <a:lnTo>
                    <a:pt x="26296" y="876788"/>
                  </a:lnTo>
                  <a:lnTo>
                    <a:pt x="9923" y="916532"/>
                  </a:lnTo>
                  <a:lnTo>
                    <a:pt x="1226" y="956996"/>
                  </a:lnTo>
                  <a:lnTo>
                    <a:pt x="0" y="997571"/>
                  </a:lnTo>
                  <a:lnTo>
                    <a:pt x="6040" y="1037646"/>
                  </a:lnTo>
                  <a:lnTo>
                    <a:pt x="19141" y="1076613"/>
                  </a:lnTo>
                  <a:lnTo>
                    <a:pt x="39099" y="1113861"/>
                  </a:lnTo>
                  <a:lnTo>
                    <a:pt x="65707" y="1148780"/>
                  </a:lnTo>
                  <a:lnTo>
                    <a:pt x="98763" y="1180761"/>
                  </a:lnTo>
                  <a:lnTo>
                    <a:pt x="138059" y="1209195"/>
                  </a:lnTo>
                  <a:lnTo>
                    <a:pt x="183393" y="1233471"/>
                  </a:lnTo>
                  <a:lnTo>
                    <a:pt x="143143" y="1273008"/>
                  </a:lnTo>
                  <a:lnTo>
                    <a:pt x="112762" y="1316836"/>
                  </a:lnTo>
                  <a:lnTo>
                    <a:pt x="92702" y="1363883"/>
                  </a:lnTo>
                  <a:lnTo>
                    <a:pt x="83414" y="1413076"/>
                  </a:lnTo>
                  <a:lnTo>
                    <a:pt x="85349" y="1463341"/>
                  </a:lnTo>
                  <a:lnTo>
                    <a:pt x="95755" y="1505151"/>
                  </a:lnTo>
                  <a:lnTo>
                    <a:pt x="113525" y="1544354"/>
                  </a:lnTo>
                  <a:lnTo>
                    <a:pt x="138017" y="1580557"/>
                  </a:lnTo>
                  <a:lnTo>
                    <a:pt x="168589" y="1613371"/>
                  </a:lnTo>
                  <a:lnTo>
                    <a:pt x="204600" y="1642404"/>
                  </a:lnTo>
                  <a:lnTo>
                    <a:pt x="245410" y="1667266"/>
                  </a:lnTo>
                  <a:lnTo>
                    <a:pt x="290376" y="1687564"/>
                  </a:lnTo>
                  <a:lnTo>
                    <a:pt x="338859" y="1702909"/>
                  </a:lnTo>
                  <a:lnTo>
                    <a:pt x="390215" y="1712908"/>
                  </a:lnTo>
                  <a:lnTo>
                    <a:pt x="443805" y="1717172"/>
                  </a:lnTo>
                  <a:lnTo>
                    <a:pt x="498988" y="1715309"/>
                  </a:lnTo>
                  <a:lnTo>
                    <a:pt x="503560" y="1721532"/>
                  </a:lnTo>
                  <a:lnTo>
                    <a:pt x="534236" y="1758075"/>
                  </a:lnTo>
                  <a:lnTo>
                    <a:pt x="565261" y="1789300"/>
                  </a:lnTo>
                  <a:lnTo>
                    <a:pt x="598847" y="1818217"/>
                  </a:lnTo>
                  <a:lnTo>
                    <a:pt x="634791" y="1844787"/>
                  </a:lnTo>
                  <a:lnTo>
                    <a:pt x="672894" y="1868970"/>
                  </a:lnTo>
                  <a:lnTo>
                    <a:pt x="712952" y="1890728"/>
                  </a:lnTo>
                  <a:lnTo>
                    <a:pt x="754766" y="1910022"/>
                  </a:lnTo>
                  <a:lnTo>
                    <a:pt x="798132" y="1926812"/>
                  </a:lnTo>
                  <a:lnTo>
                    <a:pt x="842851" y="1941061"/>
                  </a:lnTo>
                  <a:lnTo>
                    <a:pt x="888720" y="1952729"/>
                  </a:lnTo>
                  <a:lnTo>
                    <a:pt x="935539" y="1961776"/>
                  </a:lnTo>
                  <a:lnTo>
                    <a:pt x="983105" y="1968165"/>
                  </a:lnTo>
                  <a:lnTo>
                    <a:pt x="1031217" y="1971856"/>
                  </a:lnTo>
                  <a:lnTo>
                    <a:pt x="1079674" y="1972810"/>
                  </a:lnTo>
                  <a:lnTo>
                    <a:pt x="1128275" y="1970988"/>
                  </a:lnTo>
                  <a:lnTo>
                    <a:pt x="1176817" y="1966351"/>
                  </a:lnTo>
                  <a:lnTo>
                    <a:pt x="1225100" y="1958861"/>
                  </a:lnTo>
                  <a:lnTo>
                    <a:pt x="1272922" y="1948479"/>
                  </a:lnTo>
                  <a:lnTo>
                    <a:pt x="1320082" y="1935165"/>
                  </a:lnTo>
                  <a:lnTo>
                    <a:pt x="1366379" y="1918880"/>
                  </a:lnTo>
                  <a:lnTo>
                    <a:pt x="1411610" y="1899586"/>
                  </a:lnTo>
                  <a:lnTo>
                    <a:pt x="1445565" y="1935072"/>
                  </a:lnTo>
                  <a:lnTo>
                    <a:pt x="1483636" y="1967597"/>
                  </a:lnTo>
                  <a:lnTo>
                    <a:pt x="1525493" y="1996972"/>
                  </a:lnTo>
                  <a:lnTo>
                    <a:pt x="1570805" y="2023008"/>
                  </a:lnTo>
                  <a:lnTo>
                    <a:pt x="1619240" y="2045516"/>
                  </a:lnTo>
                  <a:lnTo>
                    <a:pt x="1670467" y="2064306"/>
                  </a:lnTo>
                  <a:lnTo>
                    <a:pt x="1724157" y="2079190"/>
                  </a:lnTo>
                  <a:lnTo>
                    <a:pt x="1775135" y="2089244"/>
                  </a:lnTo>
                  <a:lnTo>
                    <a:pt x="1826175" y="2095601"/>
                  </a:lnTo>
                  <a:lnTo>
                    <a:pt x="1877022" y="2098367"/>
                  </a:lnTo>
                  <a:lnTo>
                    <a:pt x="1927423" y="2097647"/>
                  </a:lnTo>
                  <a:lnTo>
                    <a:pt x="1977122" y="2093546"/>
                  </a:lnTo>
                  <a:lnTo>
                    <a:pt x="2025866" y="2086170"/>
                  </a:lnTo>
                  <a:lnTo>
                    <a:pt x="2073402" y="2075624"/>
                  </a:lnTo>
                  <a:lnTo>
                    <a:pt x="2119475" y="2062014"/>
                  </a:lnTo>
                  <a:lnTo>
                    <a:pt x="2163831" y="2045446"/>
                  </a:lnTo>
                  <a:lnTo>
                    <a:pt x="2206216" y="2026024"/>
                  </a:lnTo>
                  <a:lnTo>
                    <a:pt x="2246376" y="2003854"/>
                  </a:lnTo>
                  <a:lnTo>
                    <a:pt x="2284057" y="1979042"/>
                  </a:lnTo>
                  <a:lnTo>
                    <a:pt x="2319006" y="1951693"/>
                  </a:lnTo>
                  <a:lnTo>
                    <a:pt x="2350968" y="1921913"/>
                  </a:lnTo>
                  <a:lnTo>
                    <a:pt x="2379688" y="1889807"/>
                  </a:lnTo>
                  <a:lnTo>
                    <a:pt x="2404914" y="1855480"/>
                  </a:lnTo>
                  <a:lnTo>
                    <a:pt x="2426391" y="1819038"/>
                  </a:lnTo>
                  <a:lnTo>
                    <a:pt x="2443866" y="1780587"/>
                  </a:lnTo>
                  <a:lnTo>
                    <a:pt x="2491686" y="1800899"/>
                  </a:lnTo>
                  <a:lnTo>
                    <a:pt x="2541865" y="1816956"/>
                  </a:lnTo>
                  <a:lnTo>
                    <a:pt x="2593928" y="1828648"/>
                  </a:lnTo>
                  <a:lnTo>
                    <a:pt x="2647399" y="1835866"/>
                  </a:lnTo>
                  <a:lnTo>
                    <a:pt x="2701803" y="1838499"/>
                  </a:lnTo>
                  <a:lnTo>
                    <a:pt x="2755720" y="1836584"/>
                  </a:lnTo>
                  <a:lnTo>
                    <a:pt x="2808000" y="1830331"/>
                  </a:lnTo>
                  <a:lnTo>
                    <a:pt x="2858338" y="1819971"/>
                  </a:lnTo>
                  <a:lnTo>
                    <a:pt x="2906430" y="1805737"/>
                  </a:lnTo>
                  <a:lnTo>
                    <a:pt x="2951974" y="1787859"/>
                  </a:lnTo>
                  <a:lnTo>
                    <a:pt x="2994665" y="1766568"/>
                  </a:lnTo>
                  <a:lnTo>
                    <a:pt x="3034199" y="1742096"/>
                  </a:lnTo>
                  <a:lnTo>
                    <a:pt x="3070273" y="1714674"/>
                  </a:lnTo>
                  <a:lnTo>
                    <a:pt x="3102584" y="1684532"/>
                  </a:lnTo>
                  <a:lnTo>
                    <a:pt x="3130827" y="1651903"/>
                  </a:lnTo>
                  <a:lnTo>
                    <a:pt x="3154700" y="1617017"/>
                  </a:lnTo>
                  <a:lnTo>
                    <a:pt x="3173897" y="1580106"/>
                  </a:lnTo>
                  <a:lnTo>
                    <a:pt x="3188116" y="1541400"/>
                  </a:lnTo>
                  <a:lnTo>
                    <a:pt x="3197053" y="1501132"/>
                  </a:lnTo>
                  <a:lnTo>
                    <a:pt x="3200405" y="1459531"/>
                  </a:lnTo>
                  <a:lnTo>
                    <a:pt x="3249195" y="1452464"/>
                  </a:lnTo>
                  <a:lnTo>
                    <a:pt x="3296849" y="1442240"/>
                  </a:lnTo>
                  <a:lnTo>
                    <a:pt x="3343121" y="1428940"/>
                  </a:lnTo>
                  <a:lnTo>
                    <a:pt x="3387763" y="1412645"/>
                  </a:lnTo>
                  <a:lnTo>
                    <a:pt x="3430527" y="1393435"/>
                  </a:lnTo>
                  <a:lnTo>
                    <a:pt x="3471169" y="1371393"/>
                  </a:lnTo>
                  <a:lnTo>
                    <a:pt x="3513800" y="1343501"/>
                  </a:lnTo>
                  <a:lnTo>
                    <a:pt x="3552108" y="1313163"/>
                  </a:lnTo>
                  <a:lnTo>
                    <a:pt x="3586048" y="1280640"/>
                  </a:lnTo>
                  <a:lnTo>
                    <a:pt x="3615576" y="1246197"/>
                  </a:lnTo>
                  <a:lnTo>
                    <a:pt x="3640646" y="1210097"/>
                  </a:lnTo>
                  <a:lnTo>
                    <a:pt x="3661216" y="1172603"/>
                  </a:lnTo>
                  <a:lnTo>
                    <a:pt x="3677240" y="1133979"/>
                  </a:lnTo>
                  <a:lnTo>
                    <a:pt x="3688675" y="1094487"/>
                  </a:lnTo>
                  <a:lnTo>
                    <a:pt x="3695475" y="1054392"/>
                  </a:lnTo>
                  <a:lnTo>
                    <a:pt x="3697596" y="1013957"/>
                  </a:lnTo>
                  <a:lnTo>
                    <a:pt x="3694995" y="973445"/>
                  </a:lnTo>
                  <a:lnTo>
                    <a:pt x="3687626" y="933120"/>
                  </a:lnTo>
                  <a:lnTo>
                    <a:pt x="3675446" y="893244"/>
                  </a:lnTo>
                  <a:lnTo>
                    <a:pt x="3658410" y="854081"/>
                  </a:lnTo>
                  <a:lnTo>
                    <a:pt x="3636473" y="815895"/>
                  </a:lnTo>
                  <a:lnTo>
                    <a:pt x="3609592" y="778948"/>
                  </a:lnTo>
                  <a:lnTo>
                    <a:pt x="3577722" y="743505"/>
                  </a:lnTo>
                  <a:lnTo>
                    <a:pt x="3583744" y="732101"/>
                  </a:lnTo>
                  <a:lnTo>
                    <a:pt x="3609563" y="656758"/>
                  </a:lnTo>
                  <a:lnTo>
                    <a:pt x="3614405" y="616515"/>
                  </a:lnTo>
                  <a:lnTo>
                    <a:pt x="3613316" y="576747"/>
                  </a:lnTo>
                  <a:lnTo>
                    <a:pt x="3606536" y="537778"/>
                  </a:lnTo>
                  <a:lnTo>
                    <a:pt x="3594305" y="499932"/>
                  </a:lnTo>
                  <a:lnTo>
                    <a:pt x="3576863" y="463535"/>
                  </a:lnTo>
                  <a:lnTo>
                    <a:pt x="3554449" y="428910"/>
                  </a:lnTo>
                  <a:lnTo>
                    <a:pt x="3527304" y="396383"/>
                  </a:lnTo>
                  <a:lnTo>
                    <a:pt x="3495667" y="366278"/>
                  </a:lnTo>
                  <a:lnTo>
                    <a:pt x="3459779" y="338919"/>
                  </a:lnTo>
                  <a:lnTo>
                    <a:pt x="3419879" y="314632"/>
                  </a:lnTo>
                  <a:lnTo>
                    <a:pt x="3376208" y="293741"/>
                  </a:lnTo>
                  <a:lnTo>
                    <a:pt x="3329005" y="276571"/>
                  </a:lnTo>
                  <a:lnTo>
                    <a:pt x="3278510" y="263445"/>
                  </a:lnTo>
                  <a:lnTo>
                    <a:pt x="3264404" y="220468"/>
                  </a:lnTo>
                  <a:lnTo>
                    <a:pt x="3242927" y="179686"/>
                  </a:lnTo>
                  <a:lnTo>
                    <a:pt x="3214483" y="141647"/>
                  </a:lnTo>
                  <a:lnTo>
                    <a:pt x="3179474" y="106900"/>
                  </a:lnTo>
                  <a:lnTo>
                    <a:pt x="3138302" y="75993"/>
                  </a:lnTo>
                  <a:lnTo>
                    <a:pt x="3096490" y="51908"/>
                  </a:lnTo>
                  <a:lnTo>
                    <a:pt x="3052133" y="32441"/>
                  </a:lnTo>
                  <a:lnTo>
                    <a:pt x="3005780" y="17558"/>
                  </a:lnTo>
                  <a:lnTo>
                    <a:pt x="2957979" y="7224"/>
                  </a:lnTo>
                  <a:lnTo>
                    <a:pt x="2909279" y="1404"/>
                  </a:lnTo>
                  <a:lnTo>
                    <a:pt x="2860226" y="64"/>
                  </a:lnTo>
                  <a:close/>
                </a:path>
              </a:pathLst>
            </a:custGeom>
            <a:solidFill>
              <a:srgbClr val="009CDE"/>
            </a:solidFill>
          </p:spPr>
          <p:txBody>
            <a:bodyPr wrap="square" lIns="0" tIns="0" rIns="0" bIns="0" rtlCol="0"/>
            <a:lstStyle/>
            <a:p>
              <a:endParaRPr/>
            </a:p>
          </p:txBody>
        </p:sp>
        <p:sp>
          <p:nvSpPr>
            <p:cNvPr id="15" name="object 10">
              <a:extLst>
                <a:ext uri="{FF2B5EF4-FFF2-40B4-BE49-F238E27FC236}">
                  <a16:creationId xmlns:a16="http://schemas.microsoft.com/office/drawing/2014/main" id="{062BC270-30C2-B4F0-B8D9-49B732056022}"/>
                </a:ext>
              </a:extLst>
            </p:cNvPr>
            <p:cNvSpPr/>
            <p:nvPr/>
          </p:nvSpPr>
          <p:spPr>
            <a:xfrm>
              <a:off x="6648318" y="3650948"/>
              <a:ext cx="3697604" cy="2098675"/>
            </a:xfrm>
            <a:custGeom>
              <a:avLst/>
              <a:gdLst/>
              <a:ahLst/>
              <a:cxnLst/>
              <a:rect l="l" t="t" r="r" b="b"/>
              <a:pathLst>
                <a:path w="3697604" h="2098675">
                  <a:moveTo>
                    <a:pt x="336047" y="690546"/>
                  </a:moveTo>
                  <a:lnTo>
                    <a:pt x="331179" y="647684"/>
                  </a:lnTo>
                  <a:lnTo>
                    <a:pt x="331589" y="605433"/>
                  </a:lnTo>
                  <a:lnTo>
                    <a:pt x="337069" y="564003"/>
                  </a:lnTo>
                  <a:lnTo>
                    <a:pt x="347413" y="523606"/>
                  </a:lnTo>
                  <a:lnTo>
                    <a:pt x="362414" y="484451"/>
                  </a:lnTo>
                  <a:lnTo>
                    <a:pt x="381864" y="446750"/>
                  </a:lnTo>
                  <a:lnTo>
                    <a:pt x="405558" y="410712"/>
                  </a:lnTo>
                  <a:lnTo>
                    <a:pt x="433287" y="376548"/>
                  </a:lnTo>
                  <a:lnTo>
                    <a:pt x="464845" y="344469"/>
                  </a:lnTo>
                  <a:lnTo>
                    <a:pt x="500026" y="314685"/>
                  </a:lnTo>
                  <a:lnTo>
                    <a:pt x="538622" y="287406"/>
                  </a:lnTo>
                  <a:lnTo>
                    <a:pt x="580426" y="262843"/>
                  </a:lnTo>
                  <a:lnTo>
                    <a:pt x="625231" y="241207"/>
                  </a:lnTo>
                  <a:lnTo>
                    <a:pt x="672832" y="222707"/>
                  </a:lnTo>
                  <a:lnTo>
                    <a:pt x="723020" y="207555"/>
                  </a:lnTo>
                  <a:lnTo>
                    <a:pt x="775588" y="195960"/>
                  </a:lnTo>
                  <a:lnTo>
                    <a:pt x="830331" y="188134"/>
                  </a:lnTo>
                  <a:lnTo>
                    <a:pt x="878397" y="184657"/>
                  </a:lnTo>
                  <a:lnTo>
                    <a:pt x="926422" y="184294"/>
                  </a:lnTo>
                  <a:lnTo>
                    <a:pt x="974161" y="187007"/>
                  </a:lnTo>
                  <a:lnTo>
                    <a:pt x="1021370" y="192754"/>
                  </a:lnTo>
                  <a:lnTo>
                    <a:pt x="1067806" y="201495"/>
                  </a:lnTo>
                  <a:lnTo>
                    <a:pt x="1113223" y="213191"/>
                  </a:lnTo>
                  <a:lnTo>
                    <a:pt x="1157378" y="227801"/>
                  </a:lnTo>
                  <a:lnTo>
                    <a:pt x="1200028" y="245284"/>
                  </a:lnTo>
                  <a:lnTo>
                    <a:pt x="1227676" y="210060"/>
                  </a:lnTo>
                  <a:lnTo>
                    <a:pt x="1259695" y="178211"/>
                  </a:lnTo>
                  <a:lnTo>
                    <a:pt x="1295621" y="149847"/>
                  </a:lnTo>
                  <a:lnTo>
                    <a:pt x="1334993" y="125078"/>
                  </a:lnTo>
                  <a:lnTo>
                    <a:pt x="1377347" y="104014"/>
                  </a:lnTo>
                  <a:lnTo>
                    <a:pt x="1422223" y="86764"/>
                  </a:lnTo>
                  <a:lnTo>
                    <a:pt x="1469157" y="73437"/>
                  </a:lnTo>
                  <a:lnTo>
                    <a:pt x="1517686" y="64144"/>
                  </a:lnTo>
                  <a:lnTo>
                    <a:pt x="1567349" y="58995"/>
                  </a:lnTo>
                  <a:lnTo>
                    <a:pt x="1617684" y="58098"/>
                  </a:lnTo>
                  <a:lnTo>
                    <a:pt x="1668227" y="61564"/>
                  </a:lnTo>
                  <a:lnTo>
                    <a:pt x="1718516" y="69502"/>
                  </a:lnTo>
                  <a:lnTo>
                    <a:pt x="1768090" y="82022"/>
                  </a:lnTo>
                  <a:lnTo>
                    <a:pt x="1816486" y="99234"/>
                  </a:lnTo>
                  <a:lnTo>
                    <a:pt x="1872255" y="126317"/>
                  </a:lnTo>
                  <a:lnTo>
                    <a:pt x="1922404" y="159305"/>
                  </a:lnTo>
                  <a:lnTo>
                    <a:pt x="1948072" y="125438"/>
                  </a:lnTo>
                  <a:lnTo>
                    <a:pt x="1978643" y="95250"/>
                  </a:lnTo>
                  <a:lnTo>
                    <a:pt x="2013520" y="68897"/>
                  </a:lnTo>
                  <a:lnTo>
                    <a:pt x="2052108" y="46534"/>
                  </a:lnTo>
                  <a:lnTo>
                    <a:pt x="2093811" y="28316"/>
                  </a:lnTo>
                  <a:lnTo>
                    <a:pt x="2138034" y="14398"/>
                  </a:lnTo>
                  <a:lnTo>
                    <a:pt x="2184180" y="4936"/>
                  </a:lnTo>
                  <a:lnTo>
                    <a:pt x="2231653" y="85"/>
                  </a:lnTo>
                  <a:lnTo>
                    <a:pt x="2279859" y="0"/>
                  </a:lnTo>
                  <a:lnTo>
                    <a:pt x="2328201" y="4835"/>
                  </a:lnTo>
                  <a:lnTo>
                    <a:pt x="2376083" y="14748"/>
                  </a:lnTo>
                  <a:lnTo>
                    <a:pt x="2422911" y="29892"/>
                  </a:lnTo>
                  <a:lnTo>
                    <a:pt x="2459931" y="46267"/>
                  </a:lnTo>
                  <a:lnTo>
                    <a:pt x="2494189" y="65738"/>
                  </a:lnTo>
                  <a:lnTo>
                    <a:pt x="2525352" y="88114"/>
                  </a:lnTo>
                  <a:lnTo>
                    <a:pt x="2553086" y="113204"/>
                  </a:lnTo>
                  <a:lnTo>
                    <a:pt x="2589243" y="84157"/>
                  </a:lnTo>
                  <a:lnTo>
                    <a:pt x="2628888" y="59347"/>
                  </a:lnTo>
                  <a:lnTo>
                    <a:pt x="2671472" y="38808"/>
                  </a:lnTo>
                  <a:lnTo>
                    <a:pt x="2716446" y="22576"/>
                  </a:lnTo>
                  <a:lnTo>
                    <a:pt x="2763262" y="10685"/>
                  </a:lnTo>
                  <a:lnTo>
                    <a:pt x="2811371" y="3169"/>
                  </a:lnTo>
                  <a:lnTo>
                    <a:pt x="2860226" y="64"/>
                  </a:lnTo>
                  <a:lnTo>
                    <a:pt x="2909279" y="1404"/>
                  </a:lnTo>
                  <a:lnTo>
                    <a:pt x="2957979" y="7224"/>
                  </a:lnTo>
                  <a:lnTo>
                    <a:pt x="3005780" y="17558"/>
                  </a:lnTo>
                  <a:lnTo>
                    <a:pt x="3052133" y="32441"/>
                  </a:lnTo>
                  <a:lnTo>
                    <a:pt x="3096490" y="51908"/>
                  </a:lnTo>
                  <a:lnTo>
                    <a:pt x="3138302" y="75993"/>
                  </a:lnTo>
                  <a:lnTo>
                    <a:pt x="3179474" y="106900"/>
                  </a:lnTo>
                  <a:lnTo>
                    <a:pt x="3214483" y="141647"/>
                  </a:lnTo>
                  <a:lnTo>
                    <a:pt x="3242927" y="179686"/>
                  </a:lnTo>
                  <a:lnTo>
                    <a:pt x="3264404" y="220468"/>
                  </a:lnTo>
                  <a:lnTo>
                    <a:pt x="3278510" y="263445"/>
                  </a:lnTo>
                  <a:lnTo>
                    <a:pt x="3329005" y="276571"/>
                  </a:lnTo>
                  <a:lnTo>
                    <a:pt x="3376208" y="293741"/>
                  </a:lnTo>
                  <a:lnTo>
                    <a:pt x="3419879" y="314632"/>
                  </a:lnTo>
                  <a:lnTo>
                    <a:pt x="3459779" y="338919"/>
                  </a:lnTo>
                  <a:lnTo>
                    <a:pt x="3495667" y="366278"/>
                  </a:lnTo>
                  <a:lnTo>
                    <a:pt x="3527304" y="396383"/>
                  </a:lnTo>
                  <a:lnTo>
                    <a:pt x="3554449" y="428910"/>
                  </a:lnTo>
                  <a:lnTo>
                    <a:pt x="3576863" y="463535"/>
                  </a:lnTo>
                  <a:lnTo>
                    <a:pt x="3594305" y="499932"/>
                  </a:lnTo>
                  <a:lnTo>
                    <a:pt x="3606536" y="537778"/>
                  </a:lnTo>
                  <a:lnTo>
                    <a:pt x="3613316" y="576747"/>
                  </a:lnTo>
                  <a:lnTo>
                    <a:pt x="3614405" y="616515"/>
                  </a:lnTo>
                  <a:lnTo>
                    <a:pt x="3609563" y="656758"/>
                  </a:lnTo>
                  <a:lnTo>
                    <a:pt x="3598550" y="697150"/>
                  </a:lnTo>
                  <a:lnTo>
                    <a:pt x="3577722" y="743505"/>
                  </a:lnTo>
                  <a:lnTo>
                    <a:pt x="3609592" y="778948"/>
                  </a:lnTo>
                  <a:lnTo>
                    <a:pt x="3636473" y="815895"/>
                  </a:lnTo>
                  <a:lnTo>
                    <a:pt x="3658410" y="854081"/>
                  </a:lnTo>
                  <a:lnTo>
                    <a:pt x="3675446" y="893244"/>
                  </a:lnTo>
                  <a:lnTo>
                    <a:pt x="3687626" y="933120"/>
                  </a:lnTo>
                  <a:lnTo>
                    <a:pt x="3694995" y="973445"/>
                  </a:lnTo>
                  <a:lnTo>
                    <a:pt x="3697596" y="1013957"/>
                  </a:lnTo>
                  <a:lnTo>
                    <a:pt x="3695475" y="1054392"/>
                  </a:lnTo>
                  <a:lnTo>
                    <a:pt x="3688675" y="1094487"/>
                  </a:lnTo>
                  <a:lnTo>
                    <a:pt x="3677240" y="1133979"/>
                  </a:lnTo>
                  <a:lnTo>
                    <a:pt x="3661216" y="1172603"/>
                  </a:lnTo>
                  <a:lnTo>
                    <a:pt x="3640646" y="1210097"/>
                  </a:lnTo>
                  <a:lnTo>
                    <a:pt x="3615576" y="1246197"/>
                  </a:lnTo>
                  <a:lnTo>
                    <a:pt x="3586048" y="1280640"/>
                  </a:lnTo>
                  <a:lnTo>
                    <a:pt x="3552108" y="1313163"/>
                  </a:lnTo>
                  <a:lnTo>
                    <a:pt x="3513800" y="1343501"/>
                  </a:lnTo>
                  <a:lnTo>
                    <a:pt x="3471169" y="1371393"/>
                  </a:lnTo>
                  <a:lnTo>
                    <a:pt x="3430527" y="1393435"/>
                  </a:lnTo>
                  <a:lnTo>
                    <a:pt x="3387763" y="1412645"/>
                  </a:lnTo>
                  <a:lnTo>
                    <a:pt x="3343121" y="1428940"/>
                  </a:lnTo>
                  <a:lnTo>
                    <a:pt x="3296849" y="1442240"/>
                  </a:lnTo>
                  <a:lnTo>
                    <a:pt x="3249195" y="1452464"/>
                  </a:lnTo>
                  <a:lnTo>
                    <a:pt x="3200405" y="1459531"/>
                  </a:lnTo>
                  <a:lnTo>
                    <a:pt x="3197053" y="1501132"/>
                  </a:lnTo>
                  <a:lnTo>
                    <a:pt x="3188116" y="1541400"/>
                  </a:lnTo>
                  <a:lnTo>
                    <a:pt x="3173897" y="1580106"/>
                  </a:lnTo>
                  <a:lnTo>
                    <a:pt x="3154700" y="1617017"/>
                  </a:lnTo>
                  <a:lnTo>
                    <a:pt x="3130827" y="1651903"/>
                  </a:lnTo>
                  <a:lnTo>
                    <a:pt x="3102584" y="1684532"/>
                  </a:lnTo>
                  <a:lnTo>
                    <a:pt x="3070273" y="1714674"/>
                  </a:lnTo>
                  <a:lnTo>
                    <a:pt x="3034199" y="1742096"/>
                  </a:lnTo>
                  <a:lnTo>
                    <a:pt x="2994665" y="1766568"/>
                  </a:lnTo>
                  <a:lnTo>
                    <a:pt x="2951974" y="1787859"/>
                  </a:lnTo>
                  <a:lnTo>
                    <a:pt x="2906430" y="1805737"/>
                  </a:lnTo>
                  <a:lnTo>
                    <a:pt x="2858338" y="1819971"/>
                  </a:lnTo>
                  <a:lnTo>
                    <a:pt x="2808000" y="1830331"/>
                  </a:lnTo>
                  <a:lnTo>
                    <a:pt x="2755720" y="1836584"/>
                  </a:lnTo>
                  <a:lnTo>
                    <a:pt x="2701803" y="1838499"/>
                  </a:lnTo>
                  <a:lnTo>
                    <a:pt x="2647399" y="1835866"/>
                  </a:lnTo>
                  <a:lnTo>
                    <a:pt x="2593928" y="1828648"/>
                  </a:lnTo>
                  <a:lnTo>
                    <a:pt x="2541865" y="1816956"/>
                  </a:lnTo>
                  <a:lnTo>
                    <a:pt x="2491686" y="1800899"/>
                  </a:lnTo>
                  <a:lnTo>
                    <a:pt x="2443866" y="1780587"/>
                  </a:lnTo>
                  <a:lnTo>
                    <a:pt x="2426391" y="1819038"/>
                  </a:lnTo>
                  <a:lnTo>
                    <a:pt x="2404914" y="1855480"/>
                  </a:lnTo>
                  <a:lnTo>
                    <a:pt x="2379688" y="1889807"/>
                  </a:lnTo>
                  <a:lnTo>
                    <a:pt x="2350968" y="1921913"/>
                  </a:lnTo>
                  <a:lnTo>
                    <a:pt x="2319006" y="1951693"/>
                  </a:lnTo>
                  <a:lnTo>
                    <a:pt x="2284057" y="1979042"/>
                  </a:lnTo>
                  <a:lnTo>
                    <a:pt x="2246376" y="2003854"/>
                  </a:lnTo>
                  <a:lnTo>
                    <a:pt x="2206216" y="2026024"/>
                  </a:lnTo>
                  <a:lnTo>
                    <a:pt x="2163831" y="2045446"/>
                  </a:lnTo>
                  <a:lnTo>
                    <a:pt x="2119475" y="2062014"/>
                  </a:lnTo>
                  <a:lnTo>
                    <a:pt x="2073402" y="2075624"/>
                  </a:lnTo>
                  <a:lnTo>
                    <a:pt x="2025866" y="2086170"/>
                  </a:lnTo>
                  <a:lnTo>
                    <a:pt x="1977122" y="2093546"/>
                  </a:lnTo>
                  <a:lnTo>
                    <a:pt x="1927423" y="2097647"/>
                  </a:lnTo>
                  <a:lnTo>
                    <a:pt x="1877022" y="2098367"/>
                  </a:lnTo>
                  <a:lnTo>
                    <a:pt x="1826175" y="2095601"/>
                  </a:lnTo>
                  <a:lnTo>
                    <a:pt x="1775135" y="2089244"/>
                  </a:lnTo>
                  <a:lnTo>
                    <a:pt x="1724157" y="2079190"/>
                  </a:lnTo>
                  <a:lnTo>
                    <a:pt x="1670467" y="2064306"/>
                  </a:lnTo>
                  <a:lnTo>
                    <a:pt x="1619240" y="2045516"/>
                  </a:lnTo>
                  <a:lnTo>
                    <a:pt x="1570805" y="2023008"/>
                  </a:lnTo>
                  <a:lnTo>
                    <a:pt x="1525493" y="1996972"/>
                  </a:lnTo>
                  <a:lnTo>
                    <a:pt x="1483636" y="1967597"/>
                  </a:lnTo>
                  <a:lnTo>
                    <a:pt x="1445565" y="1935072"/>
                  </a:lnTo>
                  <a:lnTo>
                    <a:pt x="1411610" y="1899586"/>
                  </a:lnTo>
                  <a:lnTo>
                    <a:pt x="1366379" y="1918880"/>
                  </a:lnTo>
                  <a:lnTo>
                    <a:pt x="1320082" y="1935165"/>
                  </a:lnTo>
                  <a:lnTo>
                    <a:pt x="1272922" y="1948479"/>
                  </a:lnTo>
                  <a:lnTo>
                    <a:pt x="1225100" y="1958861"/>
                  </a:lnTo>
                  <a:lnTo>
                    <a:pt x="1176817" y="1966351"/>
                  </a:lnTo>
                  <a:lnTo>
                    <a:pt x="1128275" y="1970988"/>
                  </a:lnTo>
                  <a:lnTo>
                    <a:pt x="1079674" y="1972810"/>
                  </a:lnTo>
                  <a:lnTo>
                    <a:pt x="1031217" y="1971856"/>
                  </a:lnTo>
                  <a:lnTo>
                    <a:pt x="983105" y="1968165"/>
                  </a:lnTo>
                  <a:lnTo>
                    <a:pt x="935539" y="1961776"/>
                  </a:lnTo>
                  <a:lnTo>
                    <a:pt x="888720" y="1952729"/>
                  </a:lnTo>
                  <a:lnTo>
                    <a:pt x="842851" y="1941061"/>
                  </a:lnTo>
                  <a:lnTo>
                    <a:pt x="798132" y="1926812"/>
                  </a:lnTo>
                  <a:lnTo>
                    <a:pt x="754766" y="1910022"/>
                  </a:lnTo>
                  <a:lnTo>
                    <a:pt x="712952" y="1890728"/>
                  </a:lnTo>
                  <a:lnTo>
                    <a:pt x="672894" y="1868970"/>
                  </a:lnTo>
                  <a:lnTo>
                    <a:pt x="634791" y="1844787"/>
                  </a:lnTo>
                  <a:lnTo>
                    <a:pt x="598847" y="1818217"/>
                  </a:lnTo>
                  <a:lnTo>
                    <a:pt x="565261" y="1789300"/>
                  </a:lnTo>
                  <a:lnTo>
                    <a:pt x="534236" y="1758075"/>
                  </a:lnTo>
                  <a:lnTo>
                    <a:pt x="505973" y="1724580"/>
                  </a:lnTo>
                  <a:lnTo>
                    <a:pt x="501274" y="1718357"/>
                  </a:lnTo>
                  <a:lnTo>
                    <a:pt x="498988" y="1715309"/>
                  </a:lnTo>
                  <a:lnTo>
                    <a:pt x="443805" y="1717172"/>
                  </a:lnTo>
                  <a:lnTo>
                    <a:pt x="390215" y="1712908"/>
                  </a:lnTo>
                  <a:lnTo>
                    <a:pt x="338859" y="1702909"/>
                  </a:lnTo>
                  <a:lnTo>
                    <a:pt x="290376" y="1687564"/>
                  </a:lnTo>
                  <a:lnTo>
                    <a:pt x="245410" y="1667266"/>
                  </a:lnTo>
                  <a:lnTo>
                    <a:pt x="204600" y="1642404"/>
                  </a:lnTo>
                  <a:lnTo>
                    <a:pt x="168589" y="1613371"/>
                  </a:lnTo>
                  <a:lnTo>
                    <a:pt x="138017" y="1580557"/>
                  </a:lnTo>
                  <a:lnTo>
                    <a:pt x="113525" y="1544354"/>
                  </a:lnTo>
                  <a:lnTo>
                    <a:pt x="95755" y="1505151"/>
                  </a:lnTo>
                  <a:lnTo>
                    <a:pt x="85349" y="1463341"/>
                  </a:lnTo>
                  <a:lnTo>
                    <a:pt x="83414" y="1413076"/>
                  </a:lnTo>
                  <a:lnTo>
                    <a:pt x="92702" y="1363883"/>
                  </a:lnTo>
                  <a:lnTo>
                    <a:pt x="112762" y="1316836"/>
                  </a:lnTo>
                  <a:lnTo>
                    <a:pt x="143143" y="1273008"/>
                  </a:lnTo>
                  <a:lnTo>
                    <a:pt x="183393" y="1233471"/>
                  </a:lnTo>
                  <a:lnTo>
                    <a:pt x="138059" y="1209195"/>
                  </a:lnTo>
                  <a:lnTo>
                    <a:pt x="98763" y="1180761"/>
                  </a:lnTo>
                  <a:lnTo>
                    <a:pt x="65707" y="1148780"/>
                  </a:lnTo>
                  <a:lnTo>
                    <a:pt x="39099" y="1113861"/>
                  </a:lnTo>
                  <a:lnTo>
                    <a:pt x="19141" y="1076613"/>
                  </a:lnTo>
                  <a:lnTo>
                    <a:pt x="6040" y="1037646"/>
                  </a:lnTo>
                  <a:lnTo>
                    <a:pt x="0" y="997571"/>
                  </a:lnTo>
                  <a:lnTo>
                    <a:pt x="1226" y="956996"/>
                  </a:lnTo>
                  <a:lnTo>
                    <a:pt x="9923" y="916532"/>
                  </a:lnTo>
                  <a:lnTo>
                    <a:pt x="26296" y="876788"/>
                  </a:lnTo>
                  <a:lnTo>
                    <a:pt x="50551" y="838374"/>
                  </a:lnTo>
                  <a:lnTo>
                    <a:pt x="78853" y="806052"/>
                  </a:lnTo>
                  <a:lnTo>
                    <a:pt x="112111" y="777308"/>
                  </a:lnTo>
                  <a:lnTo>
                    <a:pt x="149762" y="752426"/>
                  </a:lnTo>
                  <a:lnTo>
                    <a:pt x="191240" y="731687"/>
                  </a:lnTo>
                  <a:lnTo>
                    <a:pt x="235982" y="715373"/>
                  </a:lnTo>
                  <a:lnTo>
                    <a:pt x="283423" y="703767"/>
                  </a:lnTo>
                  <a:lnTo>
                    <a:pt x="332999" y="697150"/>
                  </a:lnTo>
                  <a:lnTo>
                    <a:pt x="336047" y="690546"/>
                  </a:lnTo>
                  <a:close/>
                </a:path>
                <a:path w="3697604" h="2098675">
                  <a:moveTo>
                    <a:pt x="403865" y="1263951"/>
                  </a:moveTo>
                  <a:lnTo>
                    <a:pt x="347350" y="1264025"/>
                  </a:lnTo>
                  <a:lnTo>
                    <a:pt x="291787" y="1257490"/>
                  </a:lnTo>
                  <a:lnTo>
                    <a:pt x="238130" y="1244502"/>
                  </a:lnTo>
                  <a:lnTo>
                    <a:pt x="187330" y="1225216"/>
                  </a:lnTo>
                </a:path>
                <a:path w="3697604" h="2098675">
                  <a:moveTo>
                    <a:pt x="595000" y="1687623"/>
                  </a:moveTo>
                  <a:lnTo>
                    <a:pt x="571892" y="1694003"/>
                  </a:lnTo>
                  <a:lnTo>
                    <a:pt x="548343" y="1699228"/>
                  </a:lnTo>
                  <a:lnTo>
                    <a:pt x="524437" y="1703286"/>
                  </a:lnTo>
                  <a:lnTo>
                    <a:pt x="500258" y="1706165"/>
                  </a:lnTo>
                </a:path>
                <a:path w="3697604" h="2098675">
                  <a:moveTo>
                    <a:pt x="1411356" y="1891077"/>
                  </a:moveTo>
                  <a:lnTo>
                    <a:pt x="1394909" y="1870898"/>
                  </a:lnTo>
                  <a:lnTo>
                    <a:pt x="1379891" y="1850040"/>
                  </a:lnTo>
                  <a:lnTo>
                    <a:pt x="1366350" y="1828587"/>
                  </a:lnTo>
                  <a:lnTo>
                    <a:pt x="1354333" y="1806622"/>
                  </a:lnTo>
                </a:path>
                <a:path w="3697604" h="2098675">
                  <a:moveTo>
                    <a:pt x="2467107" y="1680384"/>
                  </a:moveTo>
                  <a:lnTo>
                    <a:pt x="2463749" y="1703907"/>
                  </a:lnTo>
                  <a:lnTo>
                    <a:pt x="2458820" y="1727215"/>
                  </a:lnTo>
                  <a:lnTo>
                    <a:pt x="2452319" y="1750286"/>
                  </a:lnTo>
                  <a:lnTo>
                    <a:pt x="2444247" y="1773094"/>
                  </a:lnTo>
                </a:path>
                <a:path w="3697604" h="2098675">
                  <a:moveTo>
                    <a:pt x="2920370" y="1107487"/>
                  </a:moveTo>
                  <a:lnTo>
                    <a:pt x="2969826" y="1128891"/>
                  </a:lnTo>
                  <a:lnTo>
                    <a:pt x="3015216" y="1154162"/>
                  </a:lnTo>
                  <a:lnTo>
                    <a:pt x="3056260" y="1182954"/>
                  </a:lnTo>
                  <a:lnTo>
                    <a:pt x="3092677" y="1214919"/>
                  </a:lnTo>
                  <a:lnTo>
                    <a:pt x="3124189" y="1249711"/>
                  </a:lnTo>
                  <a:lnTo>
                    <a:pt x="3150515" y="1286984"/>
                  </a:lnTo>
                  <a:lnTo>
                    <a:pt x="3171376" y="1326390"/>
                  </a:lnTo>
                  <a:lnTo>
                    <a:pt x="3186493" y="1367583"/>
                  </a:lnTo>
                  <a:lnTo>
                    <a:pt x="3195585" y="1410216"/>
                  </a:lnTo>
                  <a:lnTo>
                    <a:pt x="3198373" y="1453943"/>
                  </a:lnTo>
                </a:path>
                <a:path w="3697604" h="2098675">
                  <a:moveTo>
                    <a:pt x="3575944" y="738298"/>
                  </a:moveTo>
                  <a:lnTo>
                    <a:pt x="3552472" y="774817"/>
                  </a:lnTo>
                  <a:lnTo>
                    <a:pt x="3523810" y="808894"/>
                  </a:lnTo>
                  <a:lnTo>
                    <a:pt x="3490290" y="840186"/>
                  </a:lnTo>
                  <a:lnTo>
                    <a:pt x="3452246" y="868346"/>
                  </a:lnTo>
                </a:path>
                <a:path w="3697604" h="2098675">
                  <a:moveTo>
                    <a:pt x="3279018" y="256206"/>
                  </a:moveTo>
                  <a:lnTo>
                    <a:pt x="3282066" y="271416"/>
                  </a:lnTo>
                  <a:lnTo>
                    <a:pt x="3284161" y="286734"/>
                  </a:lnTo>
                  <a:lnTo>
                    <a:pt x="3285304" y="302123"/>
                  </a:lnTo>
                  <a:lnTo>
                    <a:pt x="3285495" y="317547"/>
                  </a:lnTo>
                </a:path>
                <a:path w="3697604" h="2098675">
                  <a:moveTo>
                    <a:pt x="2488570" y="184578"/>
                  </a:moveTo>
                  <a:lnTo>
                    <a:pt x="2501633" y="163728"/>
                  </a:lnTo>
                  <a:lnTo>
                    <a:pt x="2516589" y="143700"/>
                  </a:lnTo>
                  <a:lnTo>
                    <a:pt x="2533379" y="124553"/>
                  </a:lnTo>
                  <a:lnTo>
                    <a:pt x="2551943" y="106346"/>
                  </a:lnTo>
                </a:path>
                <a:path w="3697604" h="2098675">
                  <a:moveTo>
                    <a:pt x="1895480" y="221916"/>
                  </a:moveTo>
                  <a:lnTo>
                    <a:pt x="1901121" y="204519"/>
                  </a:lnTo>
                  <a:lnTo>
                    <a:pt x="1908132" y="187420"/>
                  </a:lnTo>
                  <a:lnTo>
                    <a:pt x="1916500" y="170678"/>
                  </a:lnTo>
                  <a:lnTo>
                    <a:pt x="1926214" y="154352"/>
                  </a:lnTo>
                </a:path>
                <a:path w="3697604" h="2098675">
                  <a:moveTo>
                    <a:pt x="1199520" y="244776"/>
                  </a:moveTo>
                  <a:lnTo>
                    <a:pt x="1229206" y="259177"/>
                  </a:lnTo>
                  <a:lnTo>
                    <a:pt x="1257654" y="274923"/>
                  </a:lnTo>
                  <a:lnTo>
                    <a:pt x="1284816" y="291978"/>
                  </a:lnTo>
                  <a:lnTo>
                    <a:pt x="1310645" y="310308"/>
                  </a:lnTo>
                </a:path>
                <a:path w="3697604" h="2098675">
                  <a:moveTo>
                    <a:pt x="355478" y="759507"/>
                  </a:moveTo>
                  <a:lnTo>
                    <a:pt x="349334" y="742481"/>
                  </a:lnTo>
                  <a:lnTo>
                    <a:pt x="344048" y="725312"/>
                  </a:lnTo>
                  <a:lnTo>
                    <a:pt x="339619" y="708001"/>
                  </a:lnTo>
                  <a:lnTo>
                    <a:pt x="336047" y="690546"/>
                  </a:lnTo>
                </a:path>
              </a:pathLst>
            </a:custGeom>
            <a:ln w="12700">
              <a:solidFill>
                <a:srgbClr val="0070A2"/>
              </a:solidFill>
            </a:ln>
          </p:spPr>
          <p:txBody>
            <a:bodyPr wrap="square" lIns="0" tIns="0" rIns="0" bIns="0" rtlCol="0"/>
            <a:lstStyle/>
            <a:p>
              <a:endParaRPr/>
            </a:p>
          </p:txBody>
        </p:sp>
      </p:grpSp>
      <p:sp>
        <p:nvSpPr>
          <p:cNvPr id="16" name="object 11">
            <a:extLst>
              <a:ext uri="{FF2B5EF4-FFF2-40B4-BE49-F238E27FC236}">
                <a16:creationId xmlns:a16="http://schemas.microsoft.com/office/drawing/2014/main" id="{907828E1-9F05-D562-2F24-1F86E009BF00}"/>
              </a:ext>
            </a:extLst>
          </p:cNvPr>
          <p:cNvSpPr txBox="1"/>
          <p:nvPr/>
        </p:nvSpPr>
        <p:spPr>
          <a:xfrm>
            <a:off x="7126986" y="4775540"/>
            <a:ext cx="2196465" cy="940435"/>
          </a:xfrm>
          <a:prstGeom prst="rect">
            <a:avLst/>
          </a:prstGeom>
        </p:spPr>
        <p:txBody>
          <a:bodyPr vert="horz" wrap="square" lIns="0" tIns="12700" rIns="0" bIns="0" rtlCol="0">
            <a:spAutoFit/>
          </a:bodyPr>
          <a:lstStyle/>
          <a:p>
            <a:pPr marL="4445" algn="ctr">
              <a:lnSpc>
                <a:spcPct val="100000"/>
              </a:lnSpc>
              <a:spcBef>
                <a:spcPts val="100"/>
              </a:spcBef>
            </a:pPr>
            <a:r>
              <a:rPr sz="2000" dirty="0">
                <a:solidFill>
                  <a:srgbClr val="FFFFFF"/>
                </a:solidFill>
                <a:latin typeface="Georgia"/>
                <a:cs typeface="Georgia"/>
              </a:rPr>
              <a:t>The</a:t>
            </a:r>
            <a:r>
              <a:rPr lang="en-PH" sz="2000" spc="-15" dirty="0">
                <a:solidFill>
                  <a:srgbClr val="FFFFFF"/>
                </a:solidFill>
                <a:latin typeface="Georgia"/>
                <a:cs typeface="Georgia"/>
              </a:rPr>
              <a:t> </a:t>
            </a:r>
            <a:r>
              <a:rPr sz="2000" spc="-10" dirty="0">
                <a:solidFill>
                  <a:srgbClr val="FFFFFF"/>
                </a:solidFill>
                <a:latin typeface="Georgia"/>
                <a:cs typeface="Georgia"/>
              </a:rPr>
              <a:t>PATCH</a:t>
            </a:r>
            <a:endParaRPr sz="2000" dirty="0">
              <a:latin typeface="Georgia"/>
              <a:cs typeface="Georgia"/>
            </a:endParaRPr>
          </a:p>
          <a:p>
            <a:pPr marL="635" algn="ctr">
              <a:lnSpc>
                <a:spcPct val="100000"/>
              </a:lnSpc>
            </a:pPr>
            <a:r>
              <a:rPr sz="2000" dirty="0">
                <a:solidFill>
                  <a:srgbClr val="FFFFFF"/>
                </a:solidFill>
                <a:latin typeface="Georgia"/>
                <a:cs typeface="Georgia"/>
              </a:rPr>
              <a:t>method</a:t>
            </a:r>
            <a:r>
              <a:rPr sz="2000" spc="-40" dirty="0">
                <a:solidFill>
                  <a:srgbClr val="FFFFFF"/>
                </a:solidFill>
                <a:latin typeface="Georgia"/>
                <a:cs typeface="Georgia"/>
              </a:rPr>
              <a:t> </a:t>
            </a:r>
            <a:r>
              <a:rPr sz="2000" dirty="0">
                <a:solidFill>
                  <a:srgbClr val="FFFFFF"/>
                </a:solidFill>
                <a:latin typeface="Georgia"/>
                <a:cs typeface="Georgia"/>
              </a:rPr>
              <a:t>is only </a:t>
            </a:r>
            <a:r>
              <a:rPr sz="2000" spc="-50" dirty="0">
                <a:solidFill>
                  <a:srgbClr val="FFFFFF"/>
                </a:solidFill>
                <a:latin typeface="Georgia"/>
                <a:cs typeface="Georgia"/>
              </a:rPr>
              <a:t>a</a:t>
            </a:r>
            <a:endParaRPr sz="2000" dirty="0">
              <a:latin typeface="Georgia"/>
              <a:cs typeface="Georgia"/>
            </a:endParaRPr>
          </a:p>
          <a:p>
            <a:pPr algn="ctr">
              <a:lnSpc>
                <a:spcPct val="100000"/>
              </a:lnSpc>
            </a:pPr>
            <a:r>
              <a:rPr sz="2000" dirty="0">
                <a:solidFill>
                  <a:srgbClr val="FFFFFF"/>
                </a:solidFill>
                <a:latin typeface="Georgia"/>
                <a:cs typeface="Georgia"/>
              </a:rPr>
              <a:t>proposed</a:t>
            </a:r>
            <a:r>
              <a:rPr sz="2000" spc="-45" dirty="0">
                <a:solidFill>
                  <a:srgbClr val="FFFFFF"/>
                </a:solidFill>
                <a:latin typeface="Georgia"/>
                <a:cs typeface="Georgia"/>
              </a:rPr>
              <a:t> </a:t>
            </a:r>
            <a:r>
              <a:rPr sz="2000" spc="-10" dirty="0">
                <a:solidFill>
                  <a:srgbClr val="FFFFFF"/>
                </a:solidFill>
                <a:latin typeface="Georgia"/>
                <a:cs typeface="Georgia"/>
              </a:rPr>
              <a:t>standard.</a:t>
            </a:r>
            <a:endParaRPr sz="2000" dirty="0">
              <a:latin typeface="Georgia"/>
              <a:cs typeface="Georgia"/>
            </a:endParaRPr>
          </a:p>
        </p:txBody>
      </p:sp>
    </p:spTree>
    <p:extLst>
      <p:ext uri="{BB962C8B-B14F-4D97-AF65-F5344CB8AC3E}">
        <p14:creationId xmlns:p14="http://schemas.microsoft.com/office/powerpoint/2010/main" val="30477229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REST EXAMPLE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server with information about users.</a:t>
            </a:r>
          </a:p>
          <a:p>
            <a:r>
              <a:rPr lang="en-US" sz="2000" dirty="0"/>
              <a:t>What if something goes wrong?</a:t>
            </a:r>
          </a:p>
          <a:p>
            <a:r>
              <a:rPr lang="en-US" sz="2000" dirty="0"/>
              <a:t>Use the HTTP status codes to indicate success/failure.</a:t>
            </a:r>
          </a:p>
          <a:p>
            <a:endParaRPr lang="en-US" sz="2000" dirty="0"/>
          </a:p>
          <a:p>
            <a:endParaRPr lang="en-US" sz="2000" dirty="0"/>
          </a:p>
          <a:p>
            <a:endParaRPr lang="en-US" sz="2000" dirty="0"/>
          </a:p>
          <a:p>
            <a:endParaRPr lang="en-US" sz="2000" dirty="0"/>
          </a:p>
          <a:p>
            <a:r>
              <a:rPr lang="en-US" sz="2000" dirty="0"/>
              <a:t>Read more about the different status codes at:</a:t>
            </a:r>
          </a:p>
          <a:p>
            <a:pPr lvl="1"/>
            <a:r>
              <a:rPr lang="en-US" sz="1600" dirty="0"/>
              <a:t>http://www.restapitutorial.com/httpstatuscodes.html</a:t>
            </a:r>
          </a:p>
          <a:p>
            <a:r>
              <a:rPr lang="en-US" sz="2000" dirty="0"/>
              <a:t>Optionally include error messages in the response body.</a:t>
            </a:r>
          </a:p>
        </p:txBody>
      </p:sp>
      <p:pic>
        <p:nvPicPr>
          <p:cNvPr id="9" name="Picture 8">
            <a:extLst>
              <a:ext uri="{FF2B5EF4-FFF2-40B4-BE49-F238E27FC236}">
                <a16:creationId xmlns:a16="http://schemas.microsoft.com/office/drawing/2014/main" id="{B14B53BF-0FCF-0117-6F2B-2BCF6B8FD67A}"/>
              </a:ext>
            </a:extLst>
          </p:cNvPr>
          <p:cNvPicPr>
            <a:picLocks noChangeAspect="1"/>
          </p:cNvPicPr>
          <p:nvPr/>
        </p:nvPicPr>
        <p:blipFill>
          <a:blip r:embed="rId3"/>
          <a:stretch>
            <a:fillRect/>
          </a:stretch>
        </p:blipFill>
        <p:spPr>
          <a:xfrm>
            <a:off x="9384718" y="934231"/>
            <a:ext cx="1969081" cy="2266170"/>
          </a:xfrm>
          <a:prstGeom prst="rect">
            <a:avLst/>
          </a:prstGeom>
        </p:spPr>
      </p:pic>
      <p:pic>
        <p:nvPicPr>
          <p:cNvPr id="17" name="object 4">
            <a:extLst>
              <a:ext uri="{FF2B5EF4-FFF2-40B4-BE49-F238E27FC236}">
                <a16:creationId xmlns:a16="http://schemas.microsoft.com/office/drawing/2014/main" id="{2A2D72A8-A8AF-2D74-1546-3EBC0F42D340}"/>
              </a:ext>
            </a:extLst>
          </p:cNvPr>
          <p:cNvPicPr/>
          <p:nvPr/>
        </p:nvPicPr>
        <p:blipFill>
          <a:blip r:embed="rId4" cstate="print"/>
          <a:stretch>
            <a:fillRect/>
          </a:stretch>
        </p:blipFill>
        <p:spPr>
          <a:xfrm>
            <a:off x="1183640" y="3539570"/>
            <a:ext cx="4661408" cy="1379728"/>
          </a:xfrm>
          <a:prstGeom prst="rect">
            <a:avLst/>
          </a:prstGeom>
        </p:spPr>
      </p:pic>
      <p:sp>
        <p:nvSpPr>
          <p:cNvPr id="19" name="object 5">
            <a:extLst>
              <a:ext uri="{FF2B5EF4-FFF2-40B4-BE49-F238E27FC236}">
                <a16:creationId xmlns:a16="http://schemas.microsoft.com/office/drawing/2014/main" id="{EB599FE8-10BD-B3B3-DDAC-67DFA36485B0}"/>
              </a:ext>
            </a:extLst>
          </p:cNvPr>
          <p:cNvSpPr txBox="1"/>
          <p:nvPr/>
        </p:nvSpPr>
        <p:spPr>
          <a:xfrm>
            <a:off x="1328419" y="3684351"/>
            <a:ext cx="4376420" cy="1094740"/>
          </a:xfrm>
          <a:prstGeom prst="rect">
            <a:avLst/>
          </a:prstGeom>
          <a:solidFill>
            <a:srgbClr val="F1F1F1"/>
          </a:solidFill>
        </p:spPr>
        <p:txBody>
          <a:bodyPr vert="horz" wrap="square" lIns="0" tIns="0" rIns="0" bIns="0" rtlCol="0">
            <a:spAutoFit/>
          </a:bodyPr>
          <a:lstStyle/>
          <a:p>
            <a:pPr marL="90805">
              <a:lnSpc>
                <a:spcPts val="2140"/>
              </a:lnSpc>
            </a:pPr>
            <a:r>
              <a:rPr sz="1800" dirty="0">
                <a:latin typeface="Courier New"/>
                <a:cs typeface="Courier New"/>
              </a:rPr>
              <a:t>GET</a:t>
            </a:r>
            <a:r>
              <a:rPr sz="1800" spc="-60" dirty="0">
                <a:latin typeface="Courier New"/>
                <a:cs typeface="Courier New"/>
              </a:rPr>
              <a:t> </a:t>
            </a:r>
            <a:r>
              <a:rPr sz="1800" dirty="0">
                <a:latin typeface="Courier New"/>
                <a:cs typeface="Courier New"/>
              </a:rPr>
              <a:t>/users/999</a:t>
            </a:r>
            <a:r>
              <a:rPr sz="1800" spc="-65" dirty="0">
                <a:latin typeface="Courier New"/>
                <a:cs typeface="Courier New"/>
              </a:rPr>
              <a:t> </a:t>
            </a:r>
            <a:r>
              <a:rPr sz="1800" spc="-10" dirty="0">
                <a:latin typeface="Courier New"/>
                <a:cs typeface="Courier New"/>
              </a:rPr>
              <a:t>HTTP/1.1</a:t>
            </a:r>
            <a:endParaRPr sz="1800" dirty="0">
              <a:latin typeface="Courier New"/>
              <a:cs typeface="Courier New"/>
            </a:endParaRPr>
          </a:p>
          <a:p>
            <a:pPr marL="90805">
              <a:lnSpc>
                <a:spcPct val="100000"/>
              </a:lnSpc>
              <a:spcBef>
                <a:spcPts val="780"/>
              </a:spcBef>
            </a:pPr>
            <a:r>
              <a:rPr sz="1800" dirty="0">
                <a:latin typeface="Courier New"/>
                <a:cs typeface="Courier New"/>
              </a:rPr>
              <a:t>Host:</a:t>
            </a:r>
            <a:r>
              <a:rPr sz="1800" spc="-40" dirty="0">
                <a:latin typeface="Courier New"/>
                <a:cs typeface="Courier New"/>
              </a:rPr>
              <a:t> </a:t>
            </a:r>
            <a:r>
              <a:rPr sz="1800" spc="-10" dirty="0">
                <a:latin typeface="Courier New"/>
                <a:cs typeface="Courier New"/>
              </a:rPr>
              <a:t>the-website.com</a:t>
            </a:r>
            <a:endParaRPr sz="1800" dirty="0">
              <a:latin typeface="Courier New"/>
              <a:cs typeface="Courier New"/>
            </a:endParaRPr>
          </a:p>
          <a:p>
            <a:pPr marL="90805">
              <a:lnSpc>
                <a:spcPct val="100000"/>
              </a:lnSpc>
              <a:spcBef>
                <a:spcPts val="800"/>
              </a:spcBef>
            </a:pPr>
            <a:r>
              <a:rPr sz="1800" dirty="0">
                <a:latin typeface="Courier New"/>
                <a:cs typeface="Courier New"/>
              </a:rPr>
              <a:t>Accept:</a:t>
            </a:r>
            <a:r>
              <a:rPr sz="1800" spc="-55" dirty="0">
                <a:latin typeface="Courier New"/>
                <a:cs typeface="Courier New"/>
              </a:rPr>
              <a:t> </a:t>
            </a:r>
            <a:r>
              <a:rPr sz="1800" spc="-10" dirty="0">
                <a:latin typeface="Courier New"/>
                <a:cs typeface="Courier New"/>
              </a:rPr>
              <a:t>application/json</a:t>
            </a:r>
            <a:endParaRPr sz="1800" dirty="0">
              <a:latin typeface="Courier New"/>
              <a:cs typeface="Courier New"/>
            </a:endParaRPr>
          </a:p>
        </p:txBody>
      </p:sp>
      <p:pic>
        <p:nvPicPr>
          <p:cNvPr id="20" name="object 6">
            <a:extLst>
              <a:ext uri="{FF2B5EF4-FFF2-40B4-BE49-F238E27FC236}">
                <a16:creationId xmlns:a16="http://schemas.microsoft.com/office/drawing/2014/main" id="{ABF10CEE-E8E2-38D4-4E82-4DE3069CC17F}"/>
              </a:ext>
            </a:extLst>
          </p:cNvPr>
          <p:cNvPicPr/>
          <p:nvPr/>
        </p:nvPicPr>
        <p:blipFill>
          <a:blip r:embed="rId5" cstate="print"/>
          <a:stretch>
            <a:fillRect/>
          </a:stretch>
        </p:blipFill>
        <p:spPr>
          <a:xfrm>
            <a:off x="5958839" y="3539558"/>
            <a:ext cx="5489447" cy="632980"/>
          </a:xfrm>
          <a:prstGeom prst="rect">
            <a:avLst/>
          </a:prstGeom>
        </p:spPr>
      </p:pic>
      <p:sp>
        <p:nvSpPr>
          <p:cNvPr id="21" name="object 7">
            <a:extLst>
              <a:ext uri="{FF2B5EF4-FFF2-40B4-BE49-F238E27FC236}">
                <a16:creationId xmlns:a16="http://schemas.microsoft.com/office/drawing/2014/main" id="{0107C708-97BA-8219-2B07-DD84E53C78A2}"/>
              </a:ext>
            </a:extLst>
          </p:cNvPr>
          <p:cNvSpPr txBox="1"/>
          <p:nvPr/>
        </p:nvSpPr>
        <p:spPr>
          <a:xfrm>
            <a:off x="6103620" y="3684351"/>
            <a:ext cx="5204460" cy="347980"/>
          </a:xfrm>
          <a:prstGeom prst="rect">
            <a:avLst/>
          </a:prstGeom>
          <a:solidFill>
            <a:srgbClr val="F1F1F1"/>
          </a:solidFill>
        </p:spPr>
        <p:txBody>
          <a:bodyPr vert="horz" wrap="square" lIns="0" tIns="0" rIns="0" bIns="0" rtlCol="0">
            <a:spAutoFit/>
          </a:bodyPr>
          <a:lstStyle/>
          <a:p>
            <a:pPr marL="93345">
              <a:lnSpc>
                <a:spcPts val="2140"/>
              </a:lnSpc>
            </a:pPr>
            <a:r>
              <a:rPr sz="1800" dirty="0">
                <a:latin typeface="Courier New"/>
                <a:cs typeface="Courier New"/>
              </a:rPr>
              <a:t>HTTP/1.1</a:t>
            </a:r>
            <a:r>
              <a:rPr sz="1800" spc="-50" dirty="0">
                <a:latin typeface="Courier New"/>
                <a:cs typeface="Courier New"/>
              </a:rPr>
              <a:t> </a:t>
            </a:r>
            <a:r>
              <a:rPr sz="1800" dirty="0">
                <a:latin typeface="Courier New"/>
                <a:cs typeface="Courier New"/>
              </a:rPr>
              <a:t>404</a:t>
            </a:r>
            <a:r>
              <a:rPr sz="1800" spc="-40" dirty="0">
                <a:latin typeface="Courier New"/>
                <a:cs typeface="Courier New"/>
              </a:rPr>
              <a:t> </a:t>
            </a:r>
            <a:r>
              <a:rPr sz="1800" dirty="0">
                <a:latin typeface="Courier New"/>
                <a:cs typeface="Courier New"/>
              </a:rPr>
              <a:t>Not</a:t>
            </a:r>
            <a:r>
              <a:rPr sz="1800" spc="-35" dirty="0">
                <a:latin typeface="Courier New"/>
                <a:cs typeface="Courier New"/>
              </a:rPr>
              <a:t> </a:t>
            </a:r>
            <a:r>
              <a:rPr sz="1800" spc="-10" dirty="0">
                <a:latin typeface="Courier New"/>
                <a:cs typeface="Courier New"/>
              </a:rPr>
              <a:t>Found</a:t>
            </a:r>
            <a:endParaRPr sz="1800">
              <a:latin typeface="Courier New"/>
              <a:cs typeface="Courier New"/>
            </a:endParaRPr>
          </a:p>
        </p:txBody>
      </p:sp>
    </p:spTree>
    <p:extLst>
      <p:ext uri="{BB962C8B-B14F-4D97-AF65-F5344CB8AC3E}">
        <p14:creationId xmlns:p14="http://schemas.microsoft.com/office/powerpoint/2010/main" val="35160457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DESIGNING A REST API</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How should you think?</a:t>
            </a:r>
          </a:p>
          <a:p>
            <a:r>
              <a:rPr lang="en-US" sz="2000" dirty="0"/>
              <a:t>Make it as easy as possible to use by other programmers.</a:t>
            </a:r>
          </a:p>
          <a:p>
            <a:pPr marL="0" indent="0">
              <a:buNone/>
            </a:pPr>
            <a:endParaRPr lang="en-US" sz="2000" dirty="0"/>
          </a:p>
          <a:p>
            <a:pPr marL="0" indent="0">
              <a:buNone/>
            </a:pPr>
            <a:r>
              <a:rPr lang="en-US" sz="2000" dirty="0"/>
              <a:t>Facebook:</a:t>
            </a:r>
          </a:p>
          <a:p>
            <a:r>
              <a:rPr lang="en-US" sz="2000" dirty="0"/>
              <a:t>Always return </a:t>
            </a:r>
            <a:r>
              <a:rPr lang="en-US" sz="2000" b="1" dirty="0"/>
              <a:t>200 OK.</a:t>
            </a:r>
          </a:p>
          <a:p>
            <a:r>
              <a:rPr lang="en-US" sz="2000" dirty="0"/>
              <a:t>GET /v2.7/{user-id}</a:t>
            </a:r>
          </a:p>
          <a:p>
            <a:r>
              <a:rPr lang="en-US" sz="2000" dirty="0"/>
              <a:t>GET /v2.7/{post-id}</a:t>
            </a:r>
          </a:p>
          <a:p>
            <a:r>
              <a:rPr lang="en-US" sz="2000" dirty="0"/>
              <a:t>GET /v2.7/{user-id}/friends</a:t>
            </a:r>
          </a:p>
          <a:p>
            <a:r>
              <a:rPr lang="en-US" sz="2000" dirty="0"/>
              <a:t>GET /v2.7/{object-id}/likes</a:t>
            </a:r>
          </a:p>
        </p:txBody>
      </p:sp>
    </p:spTree>
    <p:extLst>
      <p:ext uri="{BB962C8B-B14F-4D97-AF65-F5344CB8AC3E}">
        <p14:creationId xmlns:p14="http://schemas.microsoft.com/office/powerpoint/2010/main" val="27355320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DESIGNING A REST API</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2868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How should you think?</a:t>
            </a:r>
          </a:p>
          <a:p>
            <a:r>
              <a:rPr lang="en-US" sz="2000" dirty="0"/>
              <a:t>Make it as easy as possible to use by other programmers.</a:t>
            </a:r>
          </a:p>
          <a:p>
            <a:pPr marL="0" indent="0">
              <a:buNone/>
            </a:pPr>
            <a:endParaRPr lang="en-US" sz="2000" dirty="0"/>
          </a:p>
          <a:p>
            <a:pPr marL="0" indent="0">
              <a:buNone/>
            </a:pPr>
            <a:r>
              <a:rPr lang="en-US" sz="2000" dirty="0"/>
              <a:t>Twitter:</a:t>
            </a:r>
          </a:p>
          <a:p>
            <a:r>
              <a:rPr lang="en-US" sz="2000" dirty="0"/>
              <a:t>Only use </a:t>
            </a:r>
            <a:r>
              <a:rPr lang="en-US" sz="2000" b="1" dirty="0"/>
              <a:t>GET</a:t>
            </a:r>
            <a:r>
              <a:rPr lang="en-US" sz="2000" dirty="0"/>
              <a:t> and </a:t>
            </a:r>
            <a:r>
              <a:rPr lang="en-US" sz="2000" b="1" dirty="0"/>
              <a:t>POST</a:t>
            </a:r>
            <a:r>
              <a:rPr lang="en-US" sz="2000" dirty="0"/>
              <a:t>.</a:t>
            </a:r>
          </a:p>
          <a:p>
            <a:r>
              <a:rPr lang="en-US" sz="2000" dirty="0"/>
              <a:t>GET/1.1/users/</a:t>
            </a:r>
            <a:r>
              <a:rPr lang="en-US" sz="2000" dirty="0" err="1"/>
              <a:t>show.json?user_id</a:t>
            </a:r>
            <a:r>
              <a:rPr lang="en-US" sz="2000" dirty="0"/>
              <a:t>=2244994945</a:t>
            </a:r>
          </a:p>
          <a:p>
            <a:r>
              <a:rPr lang="en-US" sz="2000" dirty="0"/>
              <a:t>POST/1.1/favorites/</a:t>
            </a:r>
            <a:r>
              <a:rPr lang="en-US" sz="2000" dirty="0" err="1"/>
              <a:t>destroy.json?id</a:t>
            </a:r>
            <a:r>
              <a:rPr lang="en-US" sz="2000" dirty="0"/>
              <a:t>=243138128959913986</a:t>
            </a:r>
          </a:p>
        </p:txBody>
      </p:sp>
    </p:spTree>
    <p:extLst>
      <p:ext uri="{BB962C8B-B14F-4D97-AF65-F5344CB8AC3E}">
        <p14:creationId xmlns:p14="http://schemas.microsoft.com/office/powerpoint/2010/main" val="34544021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fontScale="90000"/>
          </a:bodyPr>
          <a:lstStyle/>
          <a:p>
            <a:r>
              <a:rPr lang="en-US" sz="7000" i="0" u="none" strike="noStrike" dirty="0">
                <a:solidFill>
                  <a:srgbClr val="32418C"/>
                </a:solidFill>
                <a:effectLst/>
                <a:latin typeface="Aptos" panose="020B0004020202020204" pitchFamily="34" charset="0"/>
              </a:rPr>
              <a:t>Networking with HTTP Package</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Building Connected Apps</a:t>
            </a:r>
          </a:p>
        </p:txBody>
      </p:sp>
    </p:spTree>
    <p:extLst>
      <p:ext uri="{BB962C8B-B14F-4D97-AF65-F5344CB8AC3E}">
        <p14:creationId xmlns:p14="http://schemas.microsoft.com/office/powerpoint/2010/main" val="6767286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HTTP Package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5463540"/>
            <a:ext cx="10515600" cy="11746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This how a client sends an HTTP request to a web server, which then processes the request, retrieves data from a database if necessary, and sends an HTTP response back to the client.</a:t>
            </a:r>
          </a:p>
        </p:txBody>
      </p:sp>
      <p:pic>
        <p:nvPicPr>
          <p:cNvPr id="1028" name="Picture 4">
            <a:extLst>
              <a:ext uri="{FF2B5EF4-FFF2-40B4-BE49-F238E27FC236}">
                <a16:creationId xmlns:a16="http://schemas.microsoft.com/office/drawing/2014/main" id="{0F195DC6-E40B-1065-6B81-A6881C9B20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8625" y="1992630"/>
            <a:ext cx="5754749" cy="3253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3312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HTTP Package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 HTTP package is a powerful tool in Flutter for making HTTP requests to web servers.</a:t>
            </a:r>
          </a:p>
          <a:p>
            <a:pPr marL="0" indent="0">
              <a:buNone/>
            </a:pPr>
            <a:endParaRPr lang="en-US" sz="2000" dirty="0"/>
          </a:p>
          <a:p>
            <a:pPr marL="0" indent="0">
              <a:buNone/>
            </a:pPr>
            <a:r>
              <a:rPr lang="en-US" sz="2000" b="1" dirty="0"/>
              <a:t>Key Features:</a:t>
            </a:r>
          </a:p>
          <a:p>
            <a:r>
              <a:rPr lang="en-US" sz="2000" dirty="0"/>
              <a:t>Easy-to-use API for various HTTP methods (GET, POST, PUT, DELETE)</a:t>
            </a:r>
          </a:p>
          <a:p>
            <a:r>
              <a:rPr lang="en-US" sz="2000" dirty="0"/>
              <a:t>Support for different content types (JSON, XML, plain text)</a:t>
            </a:r>
          </a:p>
          <a:p>
            <a:r>
              <a:rPr lang="en-US" sz="2000" dirty="0"/>
              <a:t>Handling response codes and errors</a:t>
            </a:r>
          </a:p>
          <a:p>
            <a:r>
              <a:rPr lang="en-US" sz="2000" dirty="0"/>
              <a:t>Customizable headers and body</a:t>
            </a:r>
          </a:p>
          <a:p>
            <a:pPr marL="0" indent="0">
              <a:buNone/>
            </a:pPr>
            <a:r>
              <a:rPr lang="en-US" sz="2000" b="1" dirty="0"/>
              <a:t>Benefits:</a:t>
            </a:r>
          </a:p>
          <a:p>
            <a:r>
              <a:rPr lang="en-US" sz="2000" dirty="0"/>
              <a:t>Simplifies networking tasks</a:t>
            </a:r>
          </a:p>
          <a:p>
            <a:r>
              <a:rPr lang="en-US" sz="2000" dirty="0"/>
              <a:t>Efficient and reliable communication</a:t>
            </a:r>
          </a:p>
          <a:p>
            <a:r>
              <a:rPr lang="en-US" sz="2000" dirty="0"/>
              <a:t>Integrates seamlessly with Flutter's asynchronous programming model</a:t>
            </a:r>
          </a:p>
        </p:txBody>
      </p:sp>
    </p:spTree>
    <p:extLst>
      <p:ext uri="{BB962C8B-B14F-4D97-AF65-F5344CB8AC3E}">
        <p14:creationId xmlns:p14="http://schemas.microsoft.com/office/powerpoint/2010/main" val="26718728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HTTP Request (GET)</a:t>
            </a:r>
          </a:p>
        </p:txBody>
      </p:sp>
      <p:pic>
        <p:nvPicPr>
          <p:cNvPr id="5" name="Picture 4">
            <a:extLst>
              <a:ext uri="{FF2B5EF4-FFF2-40B4-BE49-F238E27FC236}">
                <a16:creationId xmlns:a16="http://schemas.microsoft.com/office/drawing/2014/main" id="{4A4AEF18-FAB4-FDC1-948B-D02DD19DC624}"/>
              </a:ext>
            </a:extLst>
          </p:cNvPr>
          <p:cNvPicPr>
            <a:picLocks noChangeAspect="1"/>
          </p:cNvPicPr>
          <p:nvPr/>
        </p:nvPicPr>
        <p:blipFill>
          <a:blip r:embed="rId3"/>
          <a:stretch>
            <a:fillRect/>
          </a:stretch>
        </p:blipFill>
        <p:spPr>
          <a:xfrm>
            <a:off x="890470" y="3262360"/>
            <a:ext cx="10411059" cy="2769271"/>
          </a:xfrm>
          <a:prstGeom prst="rect">
            <a:avLst/>
          </a:prstGeom>
        </p:spPr>
      </p:pic>
      <p:pic>
        <p:nvPicPr>
          <p:cNvPr id="7" name="Picture 6">
            <a:extLst>
              <a:ext uri="{FF2B5EF4-FFF2-40B4-BE49-F238E27FC236}">
                <a16:creationId xmlns:a16="http://schemas.microsoft.com/office/drawing/2014/main" id="{4EF6F2DE-4B1E-ED9D-ECD3-DAA024E2FD6E}"/>
              </a:ext>
            </a:extLst>
          </p:cNvPr>
          <p:cNvPicPr>
            <a:picLocks noChangeAspect="1"/>
          </p:cNvPicPr>
          <p:nvPr/>
        </p:nvPicPr>
        <p:blipFill>
          <a:blip r:embed="rId4"/>
          <a:stretch>
            <a:fillRect/>
          </a:stretch>
        </p:blipFill>
        <p:spPr>
          <a:xfrm>
            <a:off x="890470" y="2151932"/>
            <a:ext cx="9485937" cy="919179"/>
          </a:xfrm>
          <a:prstGeom prst="rect">
            <a:avLst/>
          </a:prstGeom>
        </p:spPr>
      </p:pic>
    </p:spTree>
    <p:extLst>
      <p:ext uri="{BB962C8B-B14F-4D97-AF65-F5344CB8AC3E}">
        <p14:creationId xmlns:p14="http://schemas.microsoft.com/office/powerpoint/2010/main" val="27876280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HTTP Request (Post)</a:t>
            </a:r>
          </a:p>
        </p:txBody>
      </p:sp>
      <p:pic>
        <p:nvPicPr>
          <p:cNvPr id="7" name="Picture 6">
            <a:extLst>
              <a:ext uri="{FF2B5EF4-FFF2-40B4-BE49-F238E27FC236}">
                <a16:creationId xmlns:a16="http://schemas.microsoft.com/office/drawing/2014/main" id="{4EF6F2DE-4B1E-ED9D-ECD3-DAA024E2FD6E}"/>
              </a:ext>
            </a:extLst>
          </p:cNvPr>
          <p:cNvPicPr>
            <a:picLocks noChangeAspect="1"/>
          </p:cNvPicPr>
          <p:nvPr/>
        </p:nvPicPr>
        <p:blipFill>
          <a:blip r:embed="rId3"/>
          <a:stretch>
            <a:fillRect/>
          </a:stretch>
        </p:blipFill>
        <p:spPr>
          <a:xfrm>
            <a:off x="890470" y="2151932"/>
            <a:ext cx="9485937" cy="919179"/>
          </a:xfrm>
          <a:prstGeom prst="rect">
            <a:avLst/>
          </a:prstGeom>
        </p:spPr>
      </p:pic>
      <p:pic>
        <p:nvPicPr>
          <p:cNvPr id="4" name="Picture 3">
            <a:extLst>
              <a:ext uri="{FF2B5EF4-FFF2-40B4-BE49-F238E27FC236}">
                <a16:creationId xmlns:a16="http://schemas.microsoft.com/office/drawing/2014/main" id="{A7995085-E0F1-727A-C10B-95E448FD9590}"/>
              </a:ext>
            </a:extLst>
          </p:cNvPr>
          <p:cNvPicPr>
            <a:picLocks noChangeAspect="1"/>
          </p:cNvPicPr>
          <p:nvPr/>
        </p:nvPicPr>
        <p:blipFill>
          <a:blip r:embed="rId4"/>
          <a:stretch>
            <a:fillRect/>
          </a:stretch>
        </p:blipFill>
        <p:spPr>
          <a:xfrm>
            <a:off x="890470" y="3429000"/>
            <a:ext cx="10136984" cy="1885950"/>
          </a:xfrm>
          <a:prstGeom prst="rect">
            <a:avLst/>
          </a:prstGeom>
        </p:spPr>
      </p:pic>
    </p:spTree>
    <p:extLst>
      <p:ext uri="{BB962C8B-B14F-4D97-AF65-F5344CB8AC3E}">
        <p14:creationId xmlns:p14="http://schemas.microsoft.com/office/powerpoint/2010/main" val="3185009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HTTP Request (Error Handling)</a:t>
            </a:r>
          </a:p>
        </p:txBody>
      </p:sp>
      <p:pic>
        <p:nvPicPr>
          <p:cNvPr id="7" name="Picture 6">
            <a:extLst>
              <a:ext uri="{FF2B5EF4-FFF2-40B4-BE49-F238E27FC236}">
                <a16:creationId xmlns:a16="http://schemas.microsoft.com/office/drawing/2014/main" id="{4EF6F2DE-4B1E-ED9D-ECD3-DAA024E2FD6E}"/>
              </a:ext>
            </a:extLst>
          </p:cNvPr>
          <p:cNvPicPr>
            <a:picLocks noChangeAspect="1"/>
          </p:cNvPicPr>
          <p:nvPr/>
        </p:nvPicPr>
        <p:blipFill>
          <a:blip r:embed="rId3"/>
          <a:stretch>
            <a:fillRect/>
          </a:stretch>
        </p:blipFill>
        <p:spPr>
          <a:xfrm>
            <a:off x="890470" y="2151932"/>
            <a:ext cx="9485937" cy="919179"/>
          </a:xfrm>
          <a:prstGeom prst="rect">
            <a:avLst/>
          </a:prstGeom>
        </p:spPr>
      </p:pic>
      <p:pic>
        <p:nvPicPr>
          <p:cNvPr id="8" name="Picture 7">
            <a:extLst>
              <a:ext uri="{FF2B5EF4-FFF2-40B4-BE49-F238E27FC236}">
                <a16:creationId xmlns:a16="http://schemas.microsoft.com/office/drawing/2014/main" id="{EA7A7075-2E08-ED58-4493-D6D4ABE43BF6}"/>
              </a:ext>
            </a:extLst>
          </p:cNvPr>
          <p:cNvPicPr>
            <a:picLocks noChangeAspect="1"/>
          </p:cNvPicPr>
          <p:nvPr/>
        </p:nvPicPr>
        <p:blipFill>
          <a:blip r:embed="rId4"/>
          <a:stretch>
            <a:fillRect/>
          </a:stretch>
        </p:blipFill>
        <p:spPr>
          <a:xfrm>
            <a:off x="890470" y="3383280"/>
            <a:ext cx="10048352" cy="2045970"/>
          </a:xfrm>
          <a:prstGeom prst="rect">
            <a:avLst/>
          </a:prstGeom>
        </p:spPr>
      </p:pic>
    </p:spTree>
    <p:extLst>
      <p:ext uri="{BB962C8B-B14F-4D97-AF65-F5344CB8AC3E}">
        <p14:creationId xmlns:p14="http://schemas.microsoft.com/office/powerpoint/2010/main" val="17550546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a:bodyPr>
          <a:lstStyle/>
          <a:p>
            <a:r>
              <a:rPr lang="en-US" sz="7000" i="0" u="none" strike="noStrike" dirty="0">
                <a:solidFill>
                  <a:srgbClr val="32418C"/>
                </a:solidFill>
                <a:effectLst/>
                <a:latin typeface="Aptos" panose="020B0004020202020204" pitchFamily="34" charset="0"/>
              </a:rPr>
              <a:t>JSON</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Derulo?</a:t>
            </a:r>
          </a:p>
        </p:txBody>
      </p:sp>
    </p:spTree>
    <p:extLst>
      <p:ext uri="{BB962C8B-B14F-4D97-AF65-F5344CB8AC3E}">
        <p14:creationId xmlns:p14="http://schemas.microsoft.com/office/powerpoint/2010/main" val="12256093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JSON</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JSON stands for JavaScript Object Notation. It is a format for structuring data. This format is used by different web applications to communicate with each other. JSON is the replacement of the XML data exchange format in JSON. It is easy to struct the data compare to XML. It supports data structures like arrays and objects and the JSON documents that are rapidly executed on the server. It is also a Language-Independent format that is derived from JavaScript. The official media type for the JSON is application/</a:t>
            </a:r>
            <a:r>
              <a:rPr lang="en-US" sz="2000" dirty="0" err="1"/>
              <a:t>json</a:t>
            </a:r>
            <a:r>
              <a:rPr lang="en-US" sz="2000" dirty="0"/>
              <a:t> and to save those file .</a:t>
            </a:r>
            <a:r>
              <a:rPr lang="en-US" sz="2000" dirty="0" err="1"/>
              <a:t>json</a:t>
            </a:r>
            <a:r>
              <a:rPr lang="en-US" sz="2000" dirty="0"/>
              <a:t> extension.</a:t>
            </a:r>
          </a:p>
          <a:p>
            <a:pPr marL="0" indent="0">
              <a:buNone/>
            </a:pPr>
            <a:r>
              <a:rPr lang="en-US" sz="2000" dirty="0"/>
              <a:t>The official media type for the JSON is application/</a:t>
            </a:r>
            <a:r>
              <a:rPr lang="en-US" sz="2000" dirty="0" err="1"/>
              <a:t>json</a:t>
            </a:r>
            <a:r>
              <a:rPr lang="en-US" sz="2000" dirty="0"/>
              <a:t> and to save those file .</a:t>
            </a:r>
            <a:r>
              <a:rPr lang="en-US" sz="2000" dirty="0" err="1"/>
              <a:t>json</a:t>
            </a:r>
            <a:r>
              <a:rPr lang="en-US" sz="2000" dirty="0"/>
              <a:t> extension. JSON was initially created by Douglas Crockford in the early 2000s, and first standardized in 2013 after that in 2007 JSON’s latest standard was published.</a:t>
            </a:r>
          </a:p>
          <a:p>
            <a:pPr marL="0" indent="0">
              <a:buNone/>
            </a:pPr>
            <a:endParaRPr lang="en-US" sz="2000" dirty="0"/>
          </a:p>
          <a:p>
            <a:pPr marL="0" indent="0">
              <a:buNone/>
            </a:pPr>
            <a:r>
              <a:rPr lang="en-US" sz="2000" b="1" dirty="0"/>
              <a:t>Features of JSON</a:t>
            </a:r>
            <a:r>
              <a:rPr lang="en-US" sz="2000" dirty="0"/>
              <a:t>:</a:t>
            </a:r>
          </a:p>
          <a:p>
            <a:r>
              <a:rPr lang="en-US" sz="2000" b="1" dirty="0"/>
              <a:t>Easy to understand</a:t>
            </a:r>
            <a:r>
              <a:rPr lang="en-US" sz="2000" dirty="0"/>
              <a:t>: JSON is easy to read and write.</a:t>
            </a:r>
          </a:p>
          <a:p>
            <a:r>
              <a:rPr lang="en-US" sz="2000" b="1" dirty="0"/>
              <a:t>Format</a:t>
            </a:r>
            <a:r>
              <a:rPr lang="en-US" sz="2000" dirty="0"/>
              <a:t>: It is a text-based interchange format. It can store any kind of data in an array of video, audio, and image anything that you required.</a:t>
            </a:r>
          </a:p>
          <a:p>
            <a:r>
              <a:rPr lang="en-US" sz="2000" b="1" dirty="0"/>
              <a:t>Support</a:t>
            </a:r>
            <a:r>
              <a:rPr lang="en-US" sz="2000" dirty="0"/>
              <a:t>: It is light-weighted and supported by almost every language and OS. It has a wide range of support for the browsers </a:t>
            </a:r>
            <a:r>
              <a:rPr lang="en-US" sz="2000" dirty="0" err="1"/>
              <a:t>approx</a:t>
            </a:r>
            <a:r>
              <a:rPr lang="en-US" sz="2000" dirty="0"/>
              <a:t> each browser supported by JSON.</a:t>
            </a:r>
          </a:p>
          <a:p>
            <a:r>
              <a:rPr lang="en-US" sz="2000" b="1" dirty="0"/>
              <a:t>Dependency</a:t>
            </a:r>
            <a:r>
              <a:rPr lang="en-US" sz="2000" dirty="0"/>
              <a:t>: It is an Independent language that is text-based. It is much faster compared to other text-based structured data.</a:t>
            </a:r>
          </a:p>
        </p:txBody>
      </p:sp>
    </p:spTree>
    <p:extLst>
      <p:ext uri="{BB962C8B-B14F-4D97-AF65-F5344CB8AC3E}">
        <p14:creationId xmlns:p14="http://schemas.microsoft.com/office/powerpoint/2010/main" val="6947797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JSON (Syntax Example)</a:t>
            </a:r>
          </a:p>
        </p:txBody>
      </p:sp>
      <p:pic>
        <p:nvPicPr>
          <p:cNvPr id="5" name="Picture 4">
            <a:extLst>
              <a:ext uri="{FF2B5EF4-FFF2-40B4-BE49-F238E27FC236}">
                <a16:creationId xmlns:a16="http://schemas.microsoft.com/office/drawing/2014/main" id="{E2CF200B-701C-23D3-299C-A9EE5ADBD9A3}"/>
              </a:ext>
            </a:extLst>
          </p:cNvPr>
          <p:cNvPicPr>
            <a:picLocks noChangeAspect="1"/>
          </p:cNvPicPr>
          <p:nvPr/>
        </p:nvPicPr>
        <p:blipFill>
          <a:blip r:embed="rId3"/>
          <a:stretch>
            <a:fillRect/>
          </a:stretch>
        </p:blipFill>
        <p:spPr>
          <a:xfrm>
            <a:off x="2239627" y="2151932"/>
            <a:ext cx="7712745" cy="3598133"/>
          </a:xfrm>
          <a:prstGeom prst="rect">
            <a:avLst/>
          </a:prstGeom>
        </p:spPr>
      </p:pic>
    </p:spTree>
    <p:extLst>
      <p:ext uri="{BB962C8B-B14F-4D97-AF65-F5344CB8AC3E}">
        <p14:creationId xmlns:p14="http://schemas.microsoft.com/office/powerpoint/2010/main" val="24064883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879364"/>
            <a:ext cx="9144000" cy="1099272"/>
          </a:xfrm>
        </p:spPr>
        <p:txBody>
          <a:bodyPr>
            <a:normAutofit/>
          </a:bodyPr>
          <a:lstStyle/>
          <a:p>
            <a:r>
              <a:rPr lang="en-US" sz="7000" i="0" u="none" strike="noStrike" dirty="0">
                <a:solidFill>
                  <a:srgbClr val="32418C"/>
                </a:solidFill>
                <a:effectLst/>
                <a:latin typeface="Aptos" panose="020B0004020202020204" pitchFamily="34" charset="0"/>
              </a:rPr>
              <a:t>JSON</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r>
              <a:rPr lang="en-US" dirty="0"/>
              <a:t>Types</a:t>
            </a:r>
          </a:p>
        </p:txBody>
      </p:sp>
    </p:spTree>
    <p:extLst>
      <p:ext uri="{BB962C8B-B14F-4D97-AF65-F5344CB8AC3E}">
        <p14:creationId xmlns:p14="http://schemas.microsoft.com/office/powerpoint/2010/main" val="40823108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Strings</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Enclosed in double quotes.</a:t>
            </a:r>
          </a:p>
          <a:p>
            <a:pPr marL="0" indent="0">
              <a:buNone/>
            </a:pPr>
            <a:r>
              <a:rPr lang="en-US" sz="2000" dirty="0"/>
              <a:t>Can contain any character except control characters.</a:t>
            </a:r>
          </a:p>
        </p:txBody>
      </p:sp>
      <p:pic>
        <p:nvPicPr>
          <p:cNvPr id="6" name="Picture 5">
            <a:extLst>
              <a:ext uri="{FF2B5EF4-FFF2-40B4-BE49-F238E27FC236}">
                <a16:creationId xmlns:a16="http://schemas.microsoft.com/office/drawing/2014/main" id="{8875A4A1-C3C9-4A3C-4007-F3FCF20CA0C0}"/>
              </a:ext>
            </a:extLst>
          </p:cNvPr>
          <p:cNvPicPr>
            <a:picLocks noChangeAspect="1"/>
          </p:cNvPicPr>
          <p:nvPr/>
        </p:nvPicPr>
        <p:blipFill>
          <a:blip r:embed="rId3"/>
          <a:stretch>
            <a:fillRect/>
          </a:stretch>
        </p:blipFill>
        <p:spPr>
          <a:xfrm>
            <a:off x="1843532" y="3429000"/>
            <a:ext cx="8504936" cy="1782963"/>
          </a:xfrm>
          <a:prstGeom prst="rect">
            <a:avLst/>
          </a:prstGeom>
        </p:spPr>
      </p:pic>
    </p:spTree>
    <p:extLst>
      <p:ext uri="{BB962C8B-B14F-4D97-AF65-F5344CB8AC3E}">
        <p14:creationId xmlns:p14="http://schemas.microsoft.com/office/powerpoint/2010/main" val="10117974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Numerical Value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Can be integers or floating-point numbers.</a:t>
            </a:r>
          </a:p>
          <a:p>
            <a:pPr marL="0" indent="0">
              <a:buNone/>
            </a:pPr>
            <a:r>
              <a:rPr lang="en-US" sz="2000" dirty="0"/>
              <a:t>Must adhere to JavaScript number syntax.</a:t>
            </a:r>
          </a:p>
        </p:txBody>
      </p:sp>
      <p:pic>
        <p:nvPicPr>
          <p:cNvPr id="7" name="Picture 6">
            <a:extLst>
              <a:ext uri="{FF2B5EF4-FFF2-40B4-BE49-F238E27FC236}">
                <a16:creationId xmlns:a16="http://schemas.microsoft.com/office/drawing/2014/main" id="{994C7EFD-AF90-EF48-2389-9CD9ED1CB2FB}"/>
              </a:ext>
            </a:extLst>
          </p:cNvPr>
          <p:cNvPicPr>
            <a:picLocks noChangeAspect="1"/>
          </p:cNvPicPr>
          <p:nvPr/>
        </p:nvPicPr>
        <p:blipFill rotWithShape="1">
          <a:blip r:embed="rId3"/>
          <a:srcRect r="27990"/>
          <a:stretch/>
        </p:blipFill>
        <p:spPr>
          <a:xfrm>
            <a:off x="1815630" y="3558863"/>
            <a:ext cx="8560740" cy="1672412"/>
          </a:xfrm>
          <a:prstGeom prst="rect">
            <a:avLst/>
          </a:prstGeom>
        </p:spPr>
      </p:pic>
    </p:spTree>
    <p:extLst>
      <p:ext uri="{BB962C8B-B14F-4D97-AF65-F5344CB8AC3E}">
        <p14:creationId xmlns:p14="http://schemas.microsoft.com/office/powerpoint/2010/main" val="418068359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Numerical Value</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Can be integers or floating-point numbers.</a:t>
            </a:r>
          </a:p>
          <a:p>
            <a:pPr marL="0" indent="0">
              <a:buNone/>
            </a:pPr>
            <a:r>
              <a:rPr lang="en-US" sz="2000" dirty="0"/>
              <a:t>Must adhere to JavaScript number syntax.</a:t>
            </a:r>
          </a:p>
        </p:txBody>
      </p:sp>
      <p:pic>
        <p:nvPicPr>
          <p:cNvPr id="7" name="Picture 6">
            <a:extLst>
              <a:ext uri="{FF2B5EF4-FFF2-40B4-BE49-F238E27FC236}">
                <a16:creationId xmlns:a16="http://schemas.microsoft.com/office/drawing/2014/main" id="{994C7EFD-AF90-EF48-2389-9CD9ED1CB2FB}"/>
              </a:ext>
            </a:extLst>
          </p:cNvPr>
          <p:cNvPicPr>
            <a:picLocks noChangeAspect="1"/>
          </p:cNvPicPr>
          <p:nvPr/>
        </p:nvPicPr>
        <p:blipFill rotWithShape="1">
          <a:blip r:embed="rId3"/>
          <a:srcRect r="27990"/>
          <a:stretch/>
        </p:blipFill>
        <p:spPr>
          <a:xfrm>
            <a:off x="1815630" y="3558863"/>
            <a:ext cx="8560740" cy="1672412"/>
          </a:xfrm>
          <a:prstGeom prst="rect">
            <a:avLst/>
          </a:prstGeom>
        </p:spPr>
      </p:pic>
    </p:spTree>
    <p:extLst>
      <p:ext uri="{BB962C8B-B14F-4D97-AF65-F5344CB8AC3E}">
        <p14:creationId xmlns:p14="http://schemas.microsoft.com/office/powerpoint/2010/main" val="10714099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Booleans</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Only two values: true or false.</a:t>
            </a:r>
          </a:p>
        </p:txBody>
      </p:sp>
      <p:pic>
        <p:nvPicPr>
          <p:cNvPr id="6" name="Picture 5">
            <a:extLst>
              <a:ext uri="{FF2B5EF4-FFF2-40B4-BE49-F238E27FC236}">
                <a16:creationId xmlns:a16="http://schemas.microsoft.com/office/drawing/2014/main" id="{243DBD7E-D54F-71B7-F1BD-D7A90367ADE4}"/>
              </a:ext>
            </a:extLst>
          </p:cNvPr>
          <p:cNvPicPr>
            <a:picLocks noChangeAspect="1"/>
          </p:cNvPicPr>
          <p:nvPr/>
        </p:nvPicPr>
        <p:blipFill>
          <a:blip r:embed="rId3"/>
          <a:stretch>
            <a:fillRect/>
          </a:stretch>
        </p:blipFill>
        <p:spPr>
          <a:xfrm>
            <a:off x="2035070" y="3580365"/>
            <a:ext cx="8121859" cy="1087177"/>
          </a:xfrm>
          <a:prstGeom prst="rect">
            <a:avLst/>
          </a:prstGeom>
        </p:spPr>
      </p:pic>
    </p:spTree>
    <p:extLst>
      <p:ext uri="{BB962C8B-B14F-4D97-AF65-F5344CB8AC3E}">
        <p14:creationId xmlns:p14="http://schemas.microsoft.com/office/powerpoint/2010/main" val="8166434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Arrays</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Ordered collections of values enclosed in square brackets.</a:t>
            </a:r>
          </a:p>
          <a:p>
            <a:pPr marL="0" indent="0">
              <a:buNone/>
            </a:pPr>
            <a:r>
              <a:rPr lang="en-US" sz="2000" dirty="0"/>
              <a:t>Can contain any data type</a:t>
            </a:r>
          </a:p>
        </p:txBody>
      </p:sp>
      <p:pic>
        <p:nvPicPr>
          <p:cNvPr id="7" name="Picture 6">
            <a:extLst>
              <a:ext uri="{FF2B5EF4-FFF2-40B4-BE49-F238E27FC236}">
                <a16:creationId xmlns:a16="http://schemas.microsoft.com/office/drawing/2014/main" id="{46CDF76E-DEE9-4AB9-9EE8-AD526971ECDA}"/>
              </a:ext>
            </a:extLst>
          </p:cNvPr>
          <p:cNvPicPr>
            <a:picLocks noChangeAspect="1"/>
          </p:cNvPicPr>
          <p:nvPr/>
        </p:nvPicPr>
        <p:blipFill>
          <a:blip r:embed="rId3"/>
          <a:stretch>
            <a:fillRect/>
          </a:stretch>
        </p:blipFill>
        <p:spPr>
          <a:xfrm>
            <a:off x="2733959" y="3429000"/>
            <a:ext cx="6724081" cy="1734557"/>
          </a:xfrm>
          <a:prstGeom prst="rect">
            <a:avLst/>
          </a:prstGeom>
        </p:spPr>
      </p:pic>
    </p:spTree>
    <p:extLst>
      <p:ext uri="{BB962C8B-B14F-4D97-AF65-F5344CB8AC3E}">
        <p14:creationId xmlns:p14="http://schemas.microsoft.com/office/powerpoint/2010/main" val="34486353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Objects</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Unordered collections of key-value pairs enclosed in curly braces.</a:t>
            </a:r>
          </a:p>
          <a:p>
            <a:pPr marL="0" indent="0">
              <a:buNone/>
            </a:pPr>
            <a:r>
              <a:rPr lang="en-US" sz="2000" dirty="0"/>
              <a:t>Keys must be strings.</a:t>
            </a:r>
          </a:p>
          <a:p>
            <a:pPr marL="0" indent="0">
              <a:buNone/>
            </a:pPr>
            <a:r>
              <a:rPr lang="en-US" sz="2000" dirty="0"/>
              <a:t>Values can be any data type.</a:t>
            </a:r>
          </a:p>
        </p:txBody>
      </p:sp>
      <p:pic>
        <p:nvPicPr>
          <p:cNvPr id="5" name="Picture 4">
            <a:extLst>
              <a:ext uri="{FF2B5EF4-FFF2-40B4-BE49-F238E27FC236}">
                <a16:creationId xmlns:a16="http://schemas.microsoft.com/office/drawing/2014/main" id="{198BBF14-315A-70AD-DDA5-A93BAF9E3EF8}"/>
              </a:ext>
            </a:extLst>
          </p:cNvPr>
          <p:cNvPicPr>
            <a:picLocks noChangeAspect="1"/>
          </p:cNvPicPr>
          <p:nvPr/>
        </p:nvPicPr>
        <p:blipFill>
          <a:blip r:embed="rId3"/>
          <a:stretch>
            <a:fillRect/>
          </a:stretch>
        </p:blipFill>
        <p:spPr>
          <a:xfrm>
            <a:off x="2585762" y="3650861"/>
            <a:ext cx="7020475" cy="2041279"/>
          </a:xfrm>
          <a:prstGeom prst="rect">
            <a:avLst/>
          </a:prstGeom>
        </p:spPr>
      </p:pic>
    </p:spTree>
    <p:extLst>
      <p:ext uri="{BB962C8B-B14F-4D97-AF65-F5344CB8AC3E}">
        <p14:creationId xmlns:p14="http://schemas.microsoft.com/office/powerpoint/2010/main" val="17357130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7645-D8E6-23DE-A822-448BF1054783}"/>
              </a:ext>
            </a:extLst>
          </p:cNvPr>
          <p:cNvSpPr>
            <a:spLocks noGrp="1"/>
          </p:cNvSpPr>
          <p:nvPr>
            <p:ph type="title"/>
          </p:nvPr>
        </p:nvSpPr>
        <p:spPr/>
        <p:txBody>
          <a:bodyPr/>
          <a:lstStyle/>
          <a:p>
            <a:r>
              <a:rPr lang="en-US" dirty="0">
                <a:solidFill>
                  <a:srgbClr val="32418C"/>
                </a:solidFill>
              </a:rPr>
              <a:t>Nested Structures</a:t>
            </a:r>
          </a:p>
        </p:txBody>
      </p:sp>
      <p:sp>
        <p:nvSpPr>
          <p:cNvPr id="3" name="Content Placeholder 2">
            <a:extLst>
              <a:ext uri="{FF2B5EF4-FFF2-40B4-BE49-F238E27FC236}">
                <a16:creationId xmlns:a16="http://schemas.microsoft.com/office/drawing/2014/main" id="{D356E7A0-1D75-D358-E161-41E077E16745}"/>
              </a:ext>
            </a:extLst>
          </p:cNvPr>
          <p:cNvSpPr txBox="1">
            <a:spLocks/>
          </p:cNvSpPr>
          <p:nvPr/>
        </p:nvSpPr>
        <p:spPr>
          <a:xfrm>
            <a:off x="838200" y="2151932"/>
            <a:ext cx="10515600" cy="44862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JSON allows for nested structures, meaning objects can contain other objects or arrays, and arrays can contain objects or other arrays.</a:t>
            </a:r>
          </a:p>
        </p:txBody>
      </p:sp>
      <p:pic>
        <p:nvPicPr>
          <p:cNvPr id="6" name="Picture 5">
            <a:extLst>
              <a:ext uri="{FF2B5EF4-FFF2-40B4-BE49-F238E27FC236}">
                <a16:creationId xmlns:a16="http://schemas.microsoft.com/office/drawing/2014/main" id="{5207F822-BB9E-8DAB-D62E-9EC5F7EDDD6D}"/>
              </a:ext>
            </a:extLst>
          </p:cNvPr>
          <p:cNvPicPr>
            <a:picLocks noChangeAspect="1"/>
          </p:cNvPicPr>
          <p:nvPr/>
        </p:nvPicPr>
        <p:blipFill>
          <a:blip r:embed="rId3"/>
          <a:stretch>
            <a:fillRect/>
          </a:stretch>
        </p:blipFill>
        <p:spPr>
          <a:xfrm>
            <a:off x="3324004" y="2927840"/>
            <a:ext cx="5543991" cy="3472960"/>
          </a:xfrm>
          <a:prstGeom prst="rect">
            <a:avLst/>
          </a:prstGeom>
        </p:spPr>
      </p:pic>
    </p:spTree>
    <p:extLst>
      <p:ext uri="{BB962C8B-B14F-4D97-AF65-F5344CB8AC3E}">
        <p14:creationId xmlns:p14="http://schemas.microsoft.com/office/powerpoint/2010/main" val="1289266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4da98b77-e5c5-4b36-b9de-c114a2c2c848" xsi:nil="true"/>
    <lcf76f155ced4ddcb4097134ff3c332f xmlns="e7da3552-a5ce-4fbc-b6a0-d009838d080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8B4420C09CBAD4E9AAED7B3F3179048" ma:contentTypeVersion="21" ma:contentTypeDescription="Create a new document." ma:contentTypeScope="" ma:versionID="665057f2bfd457ea36737b51daa22cb1">
  <xsd:schema xmlns:xsd="http://www.w3.org/2001/XMLSchema" xmlns:xs="http://www.w3.org/2001/XMLSchema" xmlns:p="http://schemas.microsoft.com/office/2006/metadata/properties" xmlns:ns1="http://schemas.microsoft.com/sharepoint/v3" xmlns:ns2="e7da3552-a5ce-4fbc-b6a0-d009838d080c" xmlns:ns3="4da98b77-e5c5-4b36-b9de-c114a2c2c848" targetNamespace="http://schemas.microsoft.com/office/2006/metadata/properties" ma:root="true" ma:fieldsID="b94e6fcc8b99a1c711d9262064d5f515" ns1:_="" ns2:_="" ns3:_="">
    <xsd:import namespace="http://schemas.microsoft.com/sharepoint/v3"/>
    <xsd:import namespace="e7da3552-a5ce-4fbc-b6a0-d009838d080c"/>
    <xsd:import namespace="4da98b77-e5c5-4b36-b9de-c114a2c2c84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7da3552-a5ce-4fbc-b6a0-d009838d08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a98b77-e5c5-4b36-b9de-c114a2c2c84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b0f3596b-be04-4534-b618-201062b1a5d1}" ma:internalName="TaxCatchAll" ma:showField="CatchAllData" ma:web="4da98b77-e5c5-4b36-b9de-c114a2c2c8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F17401-7E23-45DF-9A08-E386BC811FC8}">
  <ds:schemaRefs>
    <ds:schemaRef ds:uri="http://schemas.microsoft.com/sharepoint/v3/contenttype/forms"/>
  </ds:schemaRefs>
</ds:datastoreItem>
</file>

<file path=customXml/itemProps2.xml><?xml version="1.0" encoding="utf-8"?>
<ds:datastoreItem xmlns:ds="http://schemas.openxmlformats.org/officeDocument/2006/customXml" ds:itemID="{ED39F0FF-A358-4D9F-8976-BEE96A36A487}">
  <ds:schemaRefs>
    <ds:schemaRef ds:uri="http://schemas.openxmlformats.org/package/2006/metadata/core-properties"/>
    <ds:schemaRef ds:uri="http://schemas.microsoft.com/office/2006/metadata/properties"/>
    <ds:schemaRef ds:uri="http://purl.org/dc/elements/1.1/"/>
    <ds:schemaRef ds:uri="4da98b77-e5c5-4b36-b9de-c114a2c2c848"/>
    <ds:schemaRef ds:uri="http://schemas.microsoft.com/office/2006/documentManagement/types"/>
    <ds:schemaRef ds:uri="http://schemas.microsoft.com/office/infopath/2007/PartnerControls"/>
    <ds:schemaRef ds:uri="e7da3552-a5ce-4fbc-b6a0-d009838d080c"/>
    <ds:schemaRef ds:uri="http://purl.org/dc/terms/"/>
    <ds:schemaRef ds:uri="http://purl.org/dc/dcmitype/"/>
    <ds:schemaRef ds:uri="http://schemas.microsoft.com/sharepoint/v3"/>
    <ds:schemaRef ds:uri="http://www.w3.org/XML/1998/namespace"/>
  </ds:schemaRefs>
</ds:datastoreItem>
</file>

<file path=customXml/itemProps3.xml><?xml version="1.0" encoding="utf-8"?>
<ds:datastoreItem xmlns:ds="http://schemas.openxmlformats.org/officeDocument/2006/customXml" ds:itemID="{6A08333C-E021-45D7-BE6B-2608246BFE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7da3552-a5ce-4fbc-b6a0-d009838d080c"/>
    <ds:schemaRef ds:uri="4da98b77-e5c5-4b36-b9de-c114a2c2c8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3395</TotalTime>
  <Words>8538</Words>
  <Application>Microsoft Office PowerPoint</Application>
  <PresentationFormat>Widescreen</PresentationFormat>
  <Paragraphs>892</Paragraphs>
  <Slides>106</Slides>
  <Notes>102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106</vt:i4>
      </vt:variant>
    </vt:vector>
  </HeadingPairs>
  <TitlesOfParts>
    <vt:vector size="120" baseType="lpstr">
      <vt:lpstr>Aptos</vt:lpstr>
      <vt:lpstr>Arial</vt:lpstr>
      <vt:lpstr>Arial MT</vt:lpstr>
      <vt:lpstr>Calibri</vt:lpstr>
      <vt:lpstr>Calibri Light</vt:lpstr>
      <vt:lpstr>Clan-Book</vt:lpstr>
      <vt:lpstr>Clan-Medium</vt:lpstr>
      <vt:lpstr>Courier New</vt:lpstr>
      <vt:lpstr>Eras Bold ITC</vt:lpstr>
      <vt:lpstr>Eras Demi ITC</vt:lpstr>
      <vt:lpstr>Georgia</vt:lpstr>
      <vt:lpstr>Google Sans Text</vt:lpstr>
      <vt:lpstr>YAFdJkvp3-k 0</vt:lpstr>
      <vt:lpstr>Office Theme</vt:lpstr>
      <vt:lpstr>Flutter Recap</vt:lpstr>
      <vt:lpstr>What is Design Pattern?</vt:lpstr>
      <vt:lpstr>What is MVC?</vt:lpstr>
      <vt:lpstr>What is Cross Platform</vt:lpstr>
      <vt:lpstr>What is a Framework?</vt:lpstr>
      <vt:lpstr>SAMPLE MVC DIAGRAM</vt:lpstr>
      <vt:lpstr>Dart</vt:lpstr>
      <vt:lpstr>Flutter</vt:lpstr>
      <vt:lpstr>Flutter</vt:lpstr>
      <vt:lpstr>https://docs.flutter.dev/release/archive</vt:lpstr>
      <vt:lpstr>Flutter</vt:lpstr>
      <vt:lpstr>Widgets</vt:lpstr>
      <vt:lpstr>Widgets</vt:lpstr>
      <vt:lpstr>Widgets</vt:lpstr>
      <vt:lpstr>Flutter</vt:lpstr>
      <vt:lpstr>Navigation</vt:lpstr>
      <vt:lpstr>Navigation</vt:lpstr>
      <vt:lpstr>Navigation</vt:lpstr>
      <vt:lpstr>Navigation</vt:lpstr>
      <vt:lpstr>Dialogs</vt:lpstr>
      <vt:lpstr>Flutter State Management</vt:lpstr>
      <vt:lpstr>Stateful Widget Life Cycle</vt:lpstr>
      <vt:lpstr>Stateless Widget</vt:lpstr>
      <vt:lpstr>Example</vt:lpstr>
      <vt:lpstr>Stateful Widget</vt:lpstr>
      <vt:lpstr>Restore state</vt:lpstr>
      <vt:lpstr>Instance state vs long-lived state</vt:lpstr>
      <vt:lpstr>Flutter State Management</vt:lpstr>
      <vt:lpstr>PowerPoint Presentation</vt:lpstr>
      <vt:lpstr>Ephemeral State</vt:lpstr>
      <vt:lpstr>Ephemeral State</vt:lpstr>
      <vt:lpstr>PowerPoint Presentation</vt:lpstr>
      <vt:lpstr>Simple app state management</vt:lpstr>
      <vt:lpstr>Simple app state management</vt:lpstr>
      <vt:lpstr>Lifting state up</vt:lpstr>
      <vt:lpstr>Lifting state up (cont.)</vt:lpstr>
      <vt:lpstr>Lifting state up (cont.)</vt:lpstr>
      <vt:lpstr>Lifting state up (cont.)</vt:lpstr>
      <vt:lpstr>Simple app state management</vt:lpstr>
      <vt:lpstr>Accessing the state</vt:lpstr>
      <vt:lpstr>Accessing the state</vt:lpstr>
      <vt:lpstr>Provider</vt:lpstr>
      <vt:lpstr>ChangeNotifier</vt:lpstr>
      <vt:lpstr>ChangeNotifier</vt:lpstr>
      <vt:lpstr>ChangeNotifierProvider</vt:lpstr>
      <vt:lpstr>ChangeNotifierProvider</vt:lpstr>
      <vt:lpstr>Consumer</vt:lpstr>
      <vt:lpstr>Consumer</vt:lpstr>
      <vt:lpstr>Consumer</vt:lpstr>
      <vt:lpstr>Provider.of</vt:lpstr>
      <vt:lpstr>Flutter App with Back End Data</vt:lpstr>
      <vt:lpstr>Back-end</vt:lpstr>
      <vt:lpstr>Async and Await</vt:lpstr>
      <vt:lpstr>Asynchronous Programming</vt:lpstr>
      <vt:lpstr>Future</vt:lpstr>
      <vt:lpstr>async</vt:lpstr>
      <vt:lpstr>await</vt:lpstr>
      <vt:lpstr>Code samples</vt:lpstr>
      <vt:lpstr>Chaining Futures</vt:lpstr>
      <vt:lpstr>Future Builder</vt:lpstr>
      <vt:lpstr>Future Builder</vt:lpstr>
      <vt:lpstr>Async/Await in State Management</vt:lpstr>
      <vt:lpstr>Common Pitfalls</vt:lpstr>
      <vt:lpstr>Best Practices</vt:lpstr>
      <vt:lpstr>Best Practices</vt:lpstr>
      <vt:lpstr>Best Practices</vt:lpstr>
      <vt:lpstr>Best Practices</vt:lpstr>
      <vt:lpstr>Best Practices</vt:lpstr>
      <vt:lpstr>API</vt:lpstr>
      <vt:lpstr>Traditional Web Applications</vt:lpstr>
      <vt:lpstr>Traditional Web Applications</vt:lpstr>
      <vt:lpstr>Traditional Web Applications</vt:lpstr>
      <vt:lpstr>API</vt:lpstr>
      <vt:lpstr>API</vt:lpstr>
      <vt:lpstr>DIFFERENT TYPES OF WEB APIs</vt:lpstr>
      <vt:lpstr>WHAT IS REST?</vt:lpstr>
      <vt:lpstr>WHAT DOES REST MEAN?</vt:lpstr>
      <vt:lpstr>WHAT DOES REST MEAN?</vt:lpstr>
      <vt:lpstr>USING HTTP AS THE UNIFORM INTERFACE</vt:lpstr>
      <vt:lpstr>USING HTTP AS THE UNIFORM INTERFACE</vt:lpstr>
      <vt:lpstr>REST EXAMPLE</vt:lpstr>
      <vt:lpstr>REST EXAMPLE</vt:lpstr>
      <vt:lpstr>REST EXAMPLE</vt:lpstr>
      <vt:lpstr>REST EXAMPLE</vt:lpstr>
      <vt:lpstr>REST EXAMPLE</vt:lpstr>
      <vt:lpstr>REST EXAMPLE</vt:lpstr>
      <vt:lpstr>REST EXAMPLE</vt:lpstr>
      <vt:lpstr>DESIGNING A REST API</vt:lpstr>
      <vt:lpstr>DESIGNING A REST API</vt:lpstr>
      <vt:lpstr>Networking with HTTP Package</vt:lpstr>
      <vt:lpstr>HTTP Package</vt:lpstr>
      <vt:lpstr>HTTP Package</vt:lpstr>
      <vt:lpstr>HTTP Request (GET)</vt:lpstr>
      <vt:lpstr>HTTP Request (Post)</vt:lpstr>
      <vt:lpstr>HTTP Request (Error Handling)</vt:lpstr>
      <vt:lpstr>JSON</vt:lpstr>
      <vt:lpstr>JSON</vt:lpstr>
      <vt:lpstr>JSON (Syntax Example)</vt:lpstr>
      <vt:lpstr>JSON</vt:lpstr>
      <vt:lpstr>Strings</vt:lpstr>
      <vt:lpstr>Numerical Value</vt:lpstr>
      <vt:lpstr>Numerical Value</vt:lpstr>
      <vt:lpstr>Booleans</vt:lpstr>
      <vt:lpstr>Arrays</vt:lpstr>
      <vt:lpstr>Objects</vt:lpstr>
      <vt:lpstr>Nested Structures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Richard H. Guadana</dc:creator>
  <cp:lastModifiedBy>Jamaine Grace Tuazon</cp:lastModifiedBy>
  <cp:revision>62</cp:revision>
  <dcterms:created xsi:type="dcterms:W3CDTF">2020-08-03T03:06:31Z</dcterms:created>
  <dcterms:modified xsi:type="dcterms:W3CDTF">2026-08-27T11:46:19Z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0x01010018B4420C09CBAD4E9AAED7B3F3179048</vt:lpwstr>
  </property>
</Properties>
</file>